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</c:v>
                </c:pt>
              </c:strCache>
            </c:strRef>
          </c:tx>
          <c:spPr>
            <a:solidFill>
              <a:srgbClr val="F2A93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41210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Lacérations</c:v>
                  </c:pt>
                  <c:pt idx="1">
                    <c:v>Fractures</c:v>
                  </c:pt>
                  <c:pt idx="2">
                    <c:v>Autres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26</c:v>
                </c:pt>
                <c:pt idx="2">
                  <c:v>21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41210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E7D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Ouverture. Ton : sérieux mais bienveillant. Objectif : nos mains sont notre outil no 1 et elles sont exposées chaque jour. Vidéo d'ouverture Higgsfield (tunnel) — voir MEDIA.md pour le lien. Insérer le clip sur cette diapo (glisser-déposer le MP4).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Cadrer la rencontre. 4 objectifs. Insister : la sécurité des mains n'est pas une contrainte, c'est un réflexe qui protège toute une carrière.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émotionnelle. Faire lever la main : « qui utilise ses mains toute la journée ? ». 27 os par main. Aucune pièce de rechange. Source : anatomie humaine; OSHA/BLS pour le 1 M+.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Marteler les chiffres. Le 70 % (aucun gant) et le 71 % (évitable) sont le cœur du message : la très grande majorité de ces blessures sont évitables. Sources indiquées sur chaque carte : NSC, OSHA, CNESST, NIOSH.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lacérations (53 %) et fractures (26 %) dominent. Le coût médian (13 700–16 200 $) parle aux gestionnaires ET rappelle l'impact humain. Vibrations : enjeu réel avec la foreuse et les outils — gants anti-vibration + rotation des tâches. Sources : MSHA/NIOSH, IRSST.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central de la présentation. La « ligne de feu » (line of fire) = trajectoire d'une énergie qui peut atteindre la main. Faire nommer aux participants des exemples concrets à Éléonore. Réflexe : « si ça bouge, où va ma main 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familles de causes. La plupart se recoupent avec la ligne de feu. Souligner cadenassage (énergie) et le choix du gant, qui reviennent plus loin.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vidéo. Une main dans la ligne de feu : ça va vite. Insérer le clip Higgsfield (danger / ligne de feu) dans le cadre : Insertion &gt; Vidéo &gt; à partir d'un fichier, puis ajuster au cadre. Lien direct du MP4 dans MEDIA.md.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 clé de culture SST : le gant est en BAS de la hiérarchie. On élimine et on protège la source AVANT de compter sur l'ÉPI. Le gant reste essentiel comme dernière barrière.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des réflexes. Insister sur le cadenassage et le fait de ne jamais retirer un gant près d'une rotation (risque d'entraînement). La règle d'or : le droit et le devoir d'arrêter le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sélection. Rappeler qu'un gant anti-coupure NE protège PAS contre les pièces en rotation (risque d'entraînement). Adapter le gant à la tâche. Source : ASP Mines, normes EN 388 / EN 374 / EN ISO 10819 / EN 511.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vidéo. Mains protégées, contrôlées, dégagées. Insérer le clip Higgsfield (bonne méthode / gants) dans le cadre : Insertion &gt; Vidéo &gt; à partir d'un fichier, puis ajuster au cadre. Lien direct du MP4 dans MEDIA.md.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Processus en 4 étapes. Message anti-sous-déclaration : déclarer une égratignure ou un « presqu'accident » permet de corriger avant l'accident grave. Rappeler les numéros/infirmerie du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Clôture. Rappeler l'engagement collectif et le droit d'arrêt de travail. Vidéo de clôture Higgsfield (équipe, lever de soleil) — voir MEDIA.md. Ouvrir la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B1712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1463040"/>
            <a:ext cx="3931920" cy="3931920"/>
          </a:xfrm>
          <a:prstGeom prst="oval">
            <a:avLst/>
          </a:prstGeom>
          <a:ln w="12700">
            <a:solidFill>
              <a:srgbClr val="3C3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15400" y="2011680"/>
            <a:ext cx="2834640" cy="2834640"/>
          </a:xfrm>
          <a:prstGeom prst="oval">
            <a:avLst/>
          </a:prstGeom>
          <a:solidFill>
            <a:srgbClr val="231E17"/>
          </a:solidFill>
          <a:ln w="15875">
            <a:solidFill>
              <a:srgbClr val="C985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251460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50749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C261D"/>
          </a:solidFill>
          <a:ln w="9525">
            <a:solidFill>
              <a:srgbClr val="C985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3252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algn="ctr"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d'ouverture Higgsfield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"/>
            <a:ext cx="357530" cy="357530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9" name="Shape 6"/>
          <p:cNvSpPr/>
          <p:nvPr/>
        </p:nvSpPr>
        <p:spPr>
          <a:xfrm rot="5400000">
            <a:off x="655899" y="550158"/>
            <a:ext cx="157313" cy="171615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10" name="Text 7"/>
          <p:cNvSpPr/>
          <p:nvPr/>
        </p:nvSpPr>
        <p:spPr>
          <a:xfrm>
            <a:off x="1015898" y="404622"/>
            <a:ext cx="2523744" cy="44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955" dirty="0"/>
          </a:p>
        </p:txBody>
      </p:sp>
      <p:sp>
        <p:nvSpPr>
          <p:cNvPr id="11" name="Text 8"/>
          <p:cNvSpPr/>
          <p:nvPr/>
        </p:nvSpPr>
        <p:spPr>
          <a:xfrm>
            <a:off x="54864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indent="0" marL="0">
              <a:buNone/>
            </a:pPr>
            <a:r>
              <a:rPr lang="en-US" sz="11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2331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· SÉCURITÉ AU TRAVAIL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697480"/>
            <a:ext cx="7406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sécurité</a:t>
            </a:r>
            <a:endParaRPr lang="en-US" sz="5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vos mains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des blessures aux mains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66928" y="5257800"/>
            <a:ext cx="2743200" cy="0"/>
          </a:xfrm>
          <a:prstGeom prst="line">
            <a:avLst/>
          </a:prstGeom>
          <a:noFill/>
          <a:ln w="12700">
            <a:solidFill>
              <a:srgbClr val="3C35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394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 santé-sécurité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Dhilmar — Mine Éléonore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RENCONTRE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rencontre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67128"/>
            <a:ext cx="914400" cy="9144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9572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37760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C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011680" y="2185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2011680" y="2715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nos mains sont autant exposées dans nos opérations.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53912" y="1783080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9672" y="2167128"/>
            <a:ext cx="914400" cy="9144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39572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43032" y="2039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C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7616952" y="21854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Reconnaître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7616952" y="27157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la « ligne de feu » et les points de pincement.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4005072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4389120"/>
            <a:ext cx="914400" cy="9144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617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937760" y="42611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C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2011680" y="4407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2011680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et porter le bon gant pour chaque tâche.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153912" y="4005072"/>
            <a:ext cx="5486400" cy="2057400"/>
          </a:xfrm>
          <a:prstGeom prst="roundRect">
            <a:avLst>
              <a:gd name="adj" fmla="val 4000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19672" y="4389120"/>
            <a:ext cx="914400" cy="9144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61772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43032" y="42611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3C3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4"/>
          <p:cNvSpPr/>
          <p:nvPr/>
        </p:nvSpPr>
        <p:spPr>
          <a:xfrm>
            <a:off x="7616952" y="44074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Réagir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7616952" y="4937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Réagir vite et déclarer — même une simple égratignure.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PROTÉGEONS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mains, votre outil le plus précieux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Irremplaçables.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os, des dizaines de muscles, de tendons, de vaisseaux et de nerfs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espace minuscule.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seconde d'inattention peut coûter </a:t>
            </a:r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mobilité — à vie.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6583680" cy="868680"/>
          </a:xfrm>
          <a:prstGeom prst="roundRect">
            <a:avLst>
              <a:gd name="adj" fmla="val 9474"/>
            </a:avLst>
          </a:prstGeom>
          <a:solidFill>
            <a:srgbClr val="2C261D"/>
          </a:solidFill>
          <a:ln w="9525">
            <a:solidFill>
              <a:srgbClr val="C985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910328"/>
            <a:ext cx="475488" cy="475488"/>
          </a:xfrm>
          <a:prstGeom prst="oval">
            <a:avLst/>
          </a:prstGeom>
          <a:solidFill>
            <a:srgbClr val="141210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225" y="5017313"/>
            <a:ext cx="261518" cy="26151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47091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à un outil,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mains n'ont aucune pièce de rechange.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635240" y="1783080"/>
            <a:ext cx="3977640" cy="1874520"/>
          </a:xfrm>
          <a:prstGeom prst="roundRect">
            <a:avLst>
              <a:gd name="adj" fmla="val 4878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0" y="2057400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9590" y="225171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869680" y="19202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5800" dirty="0"/>
          </a:p>
        </p:txBody>
      </p:sp>
      <p:sp>
        <p:nvSpPr>
          <p:cNvPr id="19" name="Text 15"/>
          <p:cNvSpPr/>
          <p:nvPr/>
        </p:nvSpPr>
        <p:spPr>
          <a:xfrm>
            <a:off x="891540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 main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955280" y="31546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plus du quart des os de tout le corps humain.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635240" y="379476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955280" y="4069080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E4572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0" y="4263390"/>
            <a:ext cx="388620" cy="3886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69680" y="3977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M+</a:t>
            </a:r>
            <a:endParaRPr lang="en-US" sz="4600" dirty="0"/>
          </a:p>
        </p:txBody>
      </p:sp>
      <p:sp>
        <p:nvSpPr>
          <p:cNvPr id="25" name="Text 20"/>
          <p:cNvSpPr/>
          <p:nvPr/>
        </p:nvSpPr>
        <p:spPr>
          <a:xfrm>
            <a:off x="7955280" y="47548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travailleurs traités à l'urgence chaque année pour une blessure à la main (É.-U.).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635240" y="6455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OSHA / BLS.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RÉALITÉ EN CHIFFRES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chiffres qui parlent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2075688"/>
            <a:ext cx="731520" cy="731520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25856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" y="200253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914400" y="29900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blessures aux mains surviennent sans aucun gant porté.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14400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Safety Council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53912" y="17830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88752" y="2075688"/>
            <a:ext cx="731520" cy="731520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32" y="225856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83096" y="2002536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71 %</a:t>
            </a:r>
            <a:endParaRPr lang="en-US" sz="5200" dirty="0"/>
          </a:p>
        </p:txBody>
      </p:sp>
      <p:sp>
        <p:nvSpPr>
          <p:cNvPr id="18" name="Text 14"/>
          <p:cNvSpPr/>
          <p:nvPr/>
        </p:nvSpPr>
        <p:spPr>
          <a:xfrm>
            <a:off x="6519672" y="29900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blessures aux mains sont évitables avec le bon ÉPI.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519672" y="3410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OSHA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3959352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983480" y="4251960"/>
            <a:ext cx="731520" cy="731520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4348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7824" y="417880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5200" dirty="0"/>
          </a:p>
        </p:txBody>
      </p:sp>
      <p:sp>
        <p:nvSpPr>
          <p:cNvPr id="24" name="Text 19"/>
          <p:cNvSpPr/>
          <p:nvPr/>
        </p:nvSpPr>
        <p:spPr>
          <a:xfrm>
            <a:off x="91440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lésions indemnisées au Québec touchent poignets, mains et doigts.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914400" y="5586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CNESST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153912" y="3959352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588752" y="4251960"/>
            <a:ext cx="731520" cy="731520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44348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483096" y="4178808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60 %+</a:t>
            </a:r>
            <a:endParaRPr lang="en-US" sz="5200" dirty="0"/>
          </a:p>
        </p:txBody>
      </p:sp>
      <p:sp>
        <p:nvSpPr>
          <p:cNvPr id="30" name="Text 24"/>
          <p:cNvSpPr/>
          <p:nvPr/>
        </p:nvSpPr>
        <p:spPr>
          <a:xfrm>
            <a:off x="6519672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blessures avec jours perdus : fractures ou amputations.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519672" y="5586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NIOSH Mining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PORTRAIT DU SECTEUR MINIER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nos mines, la réalité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blessures aux mains et doigts (mines)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2148840"/>
          <a:ext cx="6217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7150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MSHA / NIOSH Mining.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040880" y="1783080"/>
            <a:ext cx="4617720" cy="1783080"/>
          </a:xfrm>
          <a:prstGeom prst="roundRect">
            <a:avLst>
              <a:gd name="adj" fmla="val 5128"/>
            </a:avLst>
          </a:prstGeom>
          <a:solidFill>
            <a:srgbClr val="2C261D"/>
          </a:solidFill>
          <a:ln w="12700">
            <a:solidFill>
              <a:srgbClr val="C985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60920" y="201168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13 700 – 16 200 $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direct médian d'une blessure à la main avec perte de temps.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7040880" y="3703320"/>
            <a:ext cx="4617720" cy="2011680"/>
          </a:xfrm>
          <a:prstGeom prst="roundRect">
            <a:avLst>
              <a:gd name="adj" fmla="val 4545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60920" y="3977640"/>
            <a:ext cx="658368" cy="658368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4142232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38160" y="404164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Vibrations main-bras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60920" y="461772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63 %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d'engourdissements et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34,4 %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douleurs articulaires chez les travailleurs affectés (doigts blancs).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040880" y="64556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IRSST.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 CLÉ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« ligne de feu »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zone où votre main peut être 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happée, écrasée, coupée ou pincée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une énergie — mécanique, hydraulique, électrique ou gravitaire.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chaque geste, posez-vous la question 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2C261D"/>
          </a:solidFill>
          <a:ln w="12700">
            <a:solidFill>
              <a:srgbClr val="F2A9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70332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7C7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Si cette pièce bouge, où va ma main ? »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pincement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en rotation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suspendues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pPr indent="0" marL="0">
              <a:buNone/>
            </a:pPr>
            <a:r>
              <a:rPr lang="en-US" sz="12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emmagasinée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0" y="1965960"/>
            <a:ext cx="3383280" cy="3383280"/>
          </a:xfrm>
          <a:prstGeom prst="oval">
            <a:avLst/>
          </a:prstGeom>
          <a:ln w="15875">
            <a:solidFill>
              <a:srgbClr val="3C35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61020" y="2354580"/>
            <a:ext cx="2606040" cy="2606040"/>
          </a:xfrm>
          <a:prstGeom prst="oval">
            <a:avLst/>
          </a:prstGeom>
          <a:ln w="15875">
            <a:solidFill>
              <a:srgbClr val="C985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2743200"/>
            <a:ext cx="1828800" cy="1828800"/>
          </a:xfrm>
          <a:prstGeom prst="oval">
            <a:avLst/>
          </a:prstGeom>
          <a:ln w="25400">
            <a:solidFill>
              <a:srgbClr val="F2A9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38260" y="3131820"/>
            <a:ext cx="1051560" cy="1051560"/>
          </a:xfrm>
          <a:prstGeom prst="oval">
            <a:avLst/>
          </a:prstGeom>
          <a:solidFill>
            <a:srgbClr val="2C261D"/>
          </a:solidFill>
          <a:ln w="25400">
            <a:solidFill>
              <a:srgbClr val="E4572E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2" y="3200400"/>
            <a:ext cx="768096" cy="7680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54964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MAIN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45820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ÉCRASEMENT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78992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COUPURE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58200" y="5486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HAPPEMENT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2648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PINCEMENT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VIENNENT LES BLESSURES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causes principales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103120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297430"/>
            <a:ext cx="388620" cy="3886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953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Pincement &amp; happement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33558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mobiles, engrenages, convoyeurs, points rentrants.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7720" y="2103120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29743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17720" y="2953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Outils &amp; lames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17720" y="33558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Couteaux, meuleuses, outils à main mal utilisés.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1783080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66760" y="2103120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070" y="229743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295351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Manutention &amp; arêtes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66760" y="3355848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Écrasement, tôle, arêtes vives, charges lourdes.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014216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68680" y="4334256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990" y="4528566"/>
            <a:ext cx="388620" cy="3886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68680" y="51846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Énergie non maîtrisée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68680" y="55869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cadenassage; énergie résiduelle.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97680" y="4014216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17720" y="4334256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030" y="4528566"/>
            <a:ext cx="388620" cy="3886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617720" y="51846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Vibrations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17720" y="55869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vibrants : foreuse, marteau, meuleuse.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046720" y="4014216"/>
            <a:ext cx="3639312" cy="2084832"/>
          </a:xfrm>
          <a:prstGeom prst="roundRect">
            <a:avLst>
              <a:gd name="adj" fmla="val 394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366760" y="4334256"/>
            <a:ext cx="777240" cy="77724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070" y="4528566"/>
            <a:ext cx="388620" cy="3886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366760" y="51846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 absent / inadéquat</a:t>
            </a:r>
            <a:endParaRPr lang="en-US" sz="1600" dirty="0"/>
          </a:p>
        </p:txBody>
      </p:sp>
      <p:sp>
        <p:nvSpPr>
          <p:cNvPr id="37" name="Text 29"/>
          <p:cNvSpPr/>
          <p:nvPr/>
        </p:nvSpPr>
        <p:spPr>
          <a:xfrm>
            <a:off x="8366760" y="55869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gant, ou gant non adapté à la tâche.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39" name="Text 31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— LA LIGNE DE FEU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danger en un instant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7315200" cy="4114800"/>
          </a:xfrm>
          <a:prstGeom prst="roundRect">
            <a:avLst>
              <a:gd name="adj" fmla="val 2667"/>
            </a:avLst>
          </a:prstGeom>
          <a:solidFill>
            <a:srgbClr val="0C0A08"/>
          </a:solidFill>
          <a:ln w="15875">
            <a:solidFill>
              <a:srgbClr val="C98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0"/>
            <a:ext cx="1371600" cy="1371600"/>
          </a:xfrm>
          <a:prstGeom prst="oval">
            <a:avLst/>
          </a:prstGeom>
          <a:ln w="31750">
            <a:solidFill>
              <a:srgbClr val="F2A9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4023360" y="3575304"/>
            <a:ext cx="548640" cy="621792"/>
          </a:xfrm>
          <a:prstGeom prst="triangl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0312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F2A9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VIDÉO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Higgsfield · 5 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7C7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main dans la ligne de feu : ça va vite.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OBSERVER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740" y="244602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95944" y="2276856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sont les mains par rapport aux pièces mobiles 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92440" y="3172968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328726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695944" y="3118104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pincement était-il visible ?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8092440" y="4014216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128516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95944" y="3959352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aurait éliminé le risque ?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8092440" y="5120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231E17"/>
          </a:solidFill>
          <a:ln w="9525">
            <a:solidFill>
              <a:srgbClr val="3C35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fourni : insérez-le dans le cadre.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DES PRIORITÉS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hiérarchie des moyens de prévention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7498080" cy="786384"/>
          </a:xfrm>
          <a:prstGeom prst="roundRect">
            <a:avLst>
              <a:gd name="adj" fmla="val 697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8308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1783080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Élimination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Retirer complètement le danger.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6675120" cy="786384"/>
          </a:xfrm>
          <a:prstGeom prst="roundRect">
            <a:avLst>
              <a:gd name="adj" fmla="val 697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79192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2679192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Substitution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ou réduire l'énergie en jeu.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5852160" cy="786384"/>
          </a:xfrm>
          <a:prstGeom prst="roundRect">
            <a:avLst>
              <a:gd name="adj" fmla="val 697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75304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3575304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Ingénierie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Protecteurs, gardes, outils à distance.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471416"/>
            <a:ext cx="5029200" cy="786384"/>
          </a:xfrm>
          <a:prstGeom prst="roundRect">
            <a:avLst>
              <a:gd name="adj" fmla="val 6977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471416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17320" y="447141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Administratif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Procédures, cadenassage, formation.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4206240" cy="786384"/>
          </a:xfrm>
          <a:prstGeom prst="roundRect">
            <a:avLst>
              <a:gd name="adj" fmla="val 6977"/>
            </a:avLst>
          </a:prstGeom>
          <a:solidFill>
            <a:srgbClr val="F2A93C"/>
          </a:solidFill>
          <a:ln w="12700">
            <a:solidFill>
              <a:srgbClr val="F2A9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36752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17320" y="536752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12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 — les gants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dernière barrière, jamais la première.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66760" y="1965960"/>
            <a:ext cx="0" cy="4206240"/>
          </a:xfrm>
          <a:prstGeom prst="line">
            <a:avLst/>
          </a:prstGeom>
          <a:noFill/>
          <a:ln w="19050">
            <a:solidFill>
              <a:srgbClr val="C9852A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503920" y="1874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</a:t>
            </a:r>
            <a:endParaRPr lang="en-US" sz="11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49640" y="4251960"/>
            <a:ext cx="3108960" cy="1920240"/>
          </a:xfrm>
          <a:prstGeom prst="roundRect">
            <a:avLst>
              <a:gd name="adj" fmla="val 4762"/>
            </a:avLst>
          </a:prstGeom>
          <a:solidFill>
            <a:srgbClr val="2C261D"/>
          </a:solidFill>
          <a:ln w="12700">
            <a:solidFill>
              <a:srgbClr val="F2A9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4480560"/>
            <a:ext cx="548640" cy="548640"/>
          </a:xfrm>
          <a:prstGeom prst="oval">
            <a:avLst/>
          </a:prstGeom>
          <a:solidFill>
            <a:srgbClr val="141210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1684" y="460400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7782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gant protège —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778240" y="54681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remplace jamais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protecteur ou un cadenassage.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QUOTIDIEN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bons réflexes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191914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7830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Gardez vos mains hors de la ligne de feu.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3" y="260494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24688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Cadenassez et déchargez l'énergie avant d'intervenir.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3" y="329074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07008" y="31546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poussoirs, crochets et outils — jamais les doigts.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38862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" y="397654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8404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Inspectez vos gants; remplacez-les dès qu'ils sont usés.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3" y="4662343"/>
            <a:ext cx="294803" cy="2948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45262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retirez jamais un gant près d'une pièce en rotation.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48640" y="5257800"/>
            <a:ext cx="475488" cy="475488"/>
          </a:xfrm>
          <a:prstGeom prst="oval">
            <a:avLst/>
          </a:prstGeom>
          <a:solidFill>
            <a:srgbClr val="1B1712"/>
          </a:solidFill>
          <a:ln w="19050">
            <a:solidFill>
              <a:srgbClr val="8FB35A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83" y="5348143"/>
            <a:ext cx="294803" cy="29480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07008" y="5212080"/>
            <a:ext cx="6291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Signalez et neutralisez les points de pincement.</a:t>
            </a:r>
            <a:endParaRPr lang="en-US" sz="1500" dirty="0"/>
          </a:p>
        </p:txBody>
      </p:sp>
      <p:sp>
        <p:nvSpPr>
          <p:cNvPr id="26" name="Shape 18"/>
          <p:cNvSpPr/>
          <p:nvPr/>
        </p:nvSpPr>
        <p:spPr>
          <a:xfrm>
            <a:off x="7818120" y="1828800"/>
            <a:ext cx="3840480" cy="4023360"/>
          </a:xfrm>
          <a:prstGeom prst="roundRect">
            <a:avLst>
              <a:gd name="adj" fmla="val 2857"/>
            </a:avLst>
          </a:prstGeom>
          <a:solidFill>
            <a:srgbClr val="2C261D"/>
          </a:solidFill>
          <a:ln w="15875">
            <a:solidFill>
              <a:srgbClr val="F2A93C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326880" y="2148840"/>
            <a:ext cx="822960" cy="822960"/>
          </a:xfrm>
          <a:prstGeom prst="oval">
            <a:avLst/>
          </a:prstGeom>
          <a:solidFill>
            <a:srgbClr val="141210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2046" y="2334006"/>
            <a:ext cx="452628" cy="4526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81812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8138160" y="3520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vous ne voyez pas vos mains en sécurité,</a:t>
            </a:r>
            <a:endParaRPr lang="en-US" sz="1900" dirty="0"/>
          </a:p>
        </p:txBody>
      </p:sp>
      <p:sp>
        <p:nvSpPr>
          <p:cNvPr id="31" name="Text 22"/>
          <p:cNvSpPr/>
          <p:nvPr/>
        </p:nvSpPr>
        <p:spPr>
          <a:xfrm>
            <a:off x="8138160" y="4526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ARRÊTEZ.</a:t>
            </a:r>
            <a:endParaRPr lang="en-US" sz="3400" dirty="0"/>
          </a:p>
        </p:txBody>
      </p:sp>
      <p:sp>
        <p:nvSpPr>
          <p:cNvPr id="32" name="Text 23"/>
          <p:cNvSpPr/>
          <p:nvPr/>
        </p:nvSpPr>
        <p:spPr>
          <a:xfrm>
            <a:off x="8183880" y="5257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tâche n'est urgente au point de risquer une main.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34" name="Text 25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OUTIL POUR LA 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le bon gant</a:t>
            </a:r>
            <a:endParaRPr lang="en-US" sz="3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412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520440"/>
                <a:gridCol w="1874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2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 / risque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2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gant recommandé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2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Manutention, arêtes vives, tôle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Anti-coupure (HPPE / para-aramide) enduit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388 (C–F) / ANSI A4–A6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 lourds, abrasion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Cuir / gant renforcé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388 (abrasion)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Huiles, hydrocarbures, produits chimiques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Nitrile / néoprène étanche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374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vibrants (foreuse, marteau)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Anti-vibration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ISO 10819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Froid, travail extérieur hivernal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Isolé / doublé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511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1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 électriques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CE7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Isolant diélectrique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9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60903 / ASTM D120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5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712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89720" y="1828800"/>
            <a:ext cx="2468880" cy="3977640"/>
          </a:xfrm>
          <a:prstGeom prst="roundRect">
            <a:avLst>
              <a:gd name="adj" fmla="val 4444"/>
            </a:avLst>
          </a:prstGeom>
          <a:solidFill>
            <a:srgbClr val="2C261D"/>
          </a:solidFill>
          <a:ln w="12700">
            <a:solidFill>
              <a:srgbClr val="C985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40112" y="2148840"/>
            <a:ext cx="768096" cy="768096"/>
          </a:xfrm>
          <a:prstGeom prst="oval">
            <a:avLst/>
          </a:prstGeom>
          <a:solidFill>
            <a:srgbClr val="141210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2934" y="2321662"/>
            <a:ext cx="422453" cy="4224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726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gant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41832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celui qui correspond au RISQUE et à la TÂCHE.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418320" y="4343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gant usé, troué ou mal ajusté ne protège plus. Inspectez-le avant chaque quart.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ASP Mines — aide à la sélection des gants.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— LA BONNE MÉTHODE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bonne méthode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7315200" cy="4114800"/>
          </a:xfrm>
          <a:prstGeom prst="roundRect">
            <a:avLst>
              <a:gd name="adj" fmla="val 2667"/>
            </a:avLst>
          </a:prstGeom>
          <a:solidFill>
            <a:srgbClr val="0C0A08"/>
          </a:solidFill>
          <a:ln w="15875">
            <a:solidFill>
              <a:srgbClr val="C985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3200400"/>
            <a:ext cx="1371600" cy="1371600"/>
          </a:xfrm>
          <a:prstGeom prst="oval">
            <a:avLst/>
          </a:prstGeom>
          <a:ln w="31750">
            <a:solidFill>
              <a:srgbClr val="F2A9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4023360" y="3575304"/>
            <a:ext cx="548640" cy="621792"/>
          </a:xfrm>
          <a:prstGeom prst="triangle">
            <a:avLst/>
          </a:prstGeom>
          <a:solidFill>
            <a:srgbClr val="F2A93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10312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F2A9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VIDÉO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2121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Higgsfield · 5 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7C7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Mains protégées, contrôlées, dégagées.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OBSERVER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740" y="2446020"/>
            <a:ext cx="228600" cy="228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95944" y="2276856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 adapté à la tâche et en bon état.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92440" y="3172968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328726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695944" y="3118104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ferme, mouvement contrôlé.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8092440" y="4014216"/>
            <a:ext cx="457200" cy="457200"/>
          </a:xfrm>
          <a:prstGeom prst="oval">
            <a:avLst/>
          </a:prstGeom>
          <a:solidFill>
            <a:srgbClr val="1B1712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128516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695944" y="3959352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 toujours hors de la ligne de feu.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8092440" y="512064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231E17"/>
          </a:solidFill>
          <a:ln w="9525">
            <a:solidFill>
              <a:srgbClr val="3C35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0" y="51206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fourni : insérez-le dans le cadre.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641909" y="464881"/>
            <a:ext cx="136794" cy="149230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" y="33832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265615" y="420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</a:t>
            </a:r>
            <a:pPr algn="r" indent="0" marL="0">
              <a:buNone/>
            </a:pPr>
            <a:r>
              <a:rPr lang="en-US" sz="1050" b="1" spc="2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ÉLÉONORE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" y="4754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INCIDENT SURVIENT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68096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6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cas de blessure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2724912" cy="2468880"/>
          </a:xfrm>
          <a:prstGeom prst="roundRect">
            <a:avLst>
              <a:gd name="adj" fmla="val 3704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313432" y="2212848"/>
            <a:ext cx="658368" cy="658368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237744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Arrêter &amp; sécuriser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4672" y="345643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 la tâche, neutraliser l'énergie, protéger la zone.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55264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3401568" y="1920240"/>
            <a:ext cx="2724912" cy="2468880"/>
          </a:xfrm>
          <a:prstGeom prst="roundRect">
            <a:avLst>
              <a:gd name="adj" fmla="val 3704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0168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Shape 14"/>
          <p:cNvSpPr/>
          <p:nvPr/>
        </p:nvSpPr>
        <p:spPr>
          <a:xfrm>
            <a:off x="5166360" y="2212848"/>
            <a:ext cx="658368" cy="658368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2377440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0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Premiers soins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57600" y="345643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Secouriste ou infirmerie sans délai.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108192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8"/>
          <p:cNvSpPr/>
          <p:nvPr/>
        </p:nvSpPr>
        <p:spPr>
          <a:xfrm>
            <a:off x="6254496" y="1920240"/>
            <a:ext cx="2724912" cy="2468880"/>
          </a:xfrm>
          <a:prstGeom prst="roundRect">
            <a:avLst>
              <a:gd name="adj" fmla="val 3704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83096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4" name="Shape 20"/>
          <p:cNvSpPr/>
          <p:nvPr/>
        </p:nvSpPr>
        <p:spPr>
          <a:xfrm>
            <a:off x="8019288" y="2212848"/>
            <a:ext cx="658368" cy="658368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377440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10528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Signaler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510528" y="345643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Aviser le superviseur immédiatement.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961120" y="283464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4"/>
          <p:cNvSpPr/>
          <p:nvPr/>
        </p:nvSpPr>
        <p:spPr>
          <a:xfrm>
            <a:off x="9107424" y="1920240"/>
            <a:ext cx="2724912" cy="2468880"/>
          </a:xfrm>
          <a:prstGeom prst="roundRect">
            <a:avLst>
              <a:gd name="adj" fmla="val 3704"/>
            </a:avLst>
          </a:prstGeom>
          <a:solidFill>
            <a:srgbClr val="231E17"/>
          </a:solidFill>
          <a:ln w="12700">
            <a:solidFill>
              <a:srgbClr val="3C35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336024" y="21031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31" name="Shape 26"/>
          <p:cNvSpPr/>
          <p:nvPr/>
        </p:nvSpPr>
        <p:spPr>
          <a:xfrm>
            <a:off x="10872216" y="2212848"/>
            <a:ext cx="658368" cy="658368"/>
          </a:xfrm>
          <a:prstGeom prst="oval">
            <a:avLst/>
          </a:prstGeom>
          <a:solidFill>
            <a:srgbClr val="1B1712"/>
          </a:solidFill>
          <a:ln w="19050">
            <a:solidFill>
              <a:srgbClr val="C9852A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2377440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63456" y="30175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Déclarer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9363456" y="3456432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 l'événement — même une égratignure.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548640" y="48463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2C261D"/>
          </a:solidFill>
          <a:ln w="12700">
            <a:solidFill>
              <a:srgbClr val="F2A93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22960" y="5047488"/>
            <a:ext cx="512064" cy="512064"/>
          </a:xfrm>
          <a:prstGeom prst="oval">
            <a:avLst/>
          </a:prstGeom>
          <a:solidFill>
            <a:srgbClr val="141210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5162702"/>
            <a:ext cx="281635" cy="28163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508760" y="48463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incident déclaré aujourd'hui </a:t>
            </a:r>
            <a:pPr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un accident grave demain.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déclaration n'est jamais une faute — c'est une force.</a:t>
            </a:r>
            <a:endParaRPr lang="en-US" sz="1450" dirty="0"/>
          </a:p>
        </p:txBody>
      </p:sp>
      <p:sp>
        <p:nvSpPr>
          <p:cNvPr id="39" name="Text 3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Santé-Sécurité · Prévention des blessures aux mains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1185855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B171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1737360"/>
            <a:ext cx="3566160" cy="3566160"/>
          </a:xfrm>
          <a:prstGeom prst="oval">
            <a:avLst/>
          </a:prstGeom>
          <a:ln w="12700">
            <a:solidFill>
              <a:srgbClr val="3C3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2240280"/>
            <a:ext cx="2560320" cy="2560320"/>
          </a:xfrm>
          <a:prstGeom prst="oval">
            <a:avLst/>
          </a:prstGeom>
          <a:solidFill>
            <a:srgbClr val="231E17"/>
          </a:solidFill>
          <a:ln w="15875">
            <a:solidFill>
              <a:srgbClr val="C98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926080"/>
            <a:ext cx="1188720" cy="1188720"/>
          </a:xfrm>
          <a:prstGeom prst="oval">
            <a:avLst/>
          </a:prstGeom>
          <a:solidFill>
            <a:srgbClr val="231E17"/>
          </a:solidFill>
          <a:ln w="19050">
            <a:solidFill>
              <a:srgbClr val="F2A9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4" y="3163824"/>
            <a:ext cx="713232" cy="71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9640" y="54406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2C261D"/>
          </a:solidFill>
          <a:ln w="9525">
            <a:solidFill>
              <a:srgbClr val="C985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5440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pPr algn="ctr"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clôture Higgsfield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57200"/>
            <a:ext cx="341986" cy="341986"/>
          </a:xfrm>
          <a:prstGeom prst="roundRect">
            <a:avLst>
              <a:gd name="adj" fmla="val 17647"/>
            </a:avLst>
          </a:prstGeom>
          <a:solidFill>
            <a:srgbClr val="F2A93C"/>
          </a:solidFill>
          <a:ln/>
        </p:spPr>
      </p:sp>
      <p:sp>
        <p:nvSpPr>
          <p:cNvPr id="10" name="Shape 7"/>
          <p:cNvSpPr/>
          <p:nvPr/>
        </p:nvSpPr>
        <p:spPr>
          <a:xfrm rot="5400000">
            <a:off x="651236" y="546116"/>
            <a:ext cx="150474" cy="164153"/>
          </a:xfrm>
          <a:prstGeom prst="triangle">
            <a:avLst/>
          </a:prstGeom>
          <a:solidFill>
            <a:srgbClr val="141210"/>
          </a:solidFill>
          <a:ln/>
        </p:spPr>
      </p:sp>
      <p:sp>
        <p:nvSpPr>
          <p:cNvPr id="11" name="Text 8"/>
          <p:cNvSpPr/>
          <p:nvPr/>
        </p:nvSpPr>
        <p:spPr>
          <a:xfrm>
            <a:off x="1000354" y="406908"/>
            <a:ext cx="2414016" cy="4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Dhilmar</a:t>
            </a:r>
            <a:endParaRPr lang="en-US" sz="1870" dirty="0"/>
          </a:p>
        </p:txBody>
      </p:sp>
      <p:sp>
        <p:nvSpPr>
          <p:cNvPr id="12" name="Text 9"/>
          <p:cNvSpPr/>
          <p:nvPr/>
        </p:nvSpPr>
        <p:spPr>
          <a:xfrm>
            <a:off x="566928" y="19659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ENGAGEMENT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23774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Chez Dhilmar, on rentre à la maison avec toutes nos mains.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548640" y="45262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F7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des mains, c'est l'affaire de chacun — à chaque quart, à chaque geste.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66928" y="5349240"/>
            <a:ext cx="2743200" cy="0"/>
          </a:xfrm>
          <a:prstGeom prst="line">
            <a:avLst/>
          </a:prstGeom>
          <a:noFill/>
          <a:ln w="12700">
            <a:solidFill>
              <a:srgbClr val="3C35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532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  </a:t>
            </a:r>
            <a:pPr indent="0" marL="0">
              <a:buNone/>
            </a:pPr>
            <a:r>
              <a:rPr lang="en-US" sz="1400" dirty="0">
                <a:solidFill>
                  <a:srgbClr val="B4AD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66928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7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Dhilmar — Mine Éléonore · Santé-Sécurité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Prévention des blessures aux mains — Mine Éléonore</dc:title>
  <dc:subject>PptxGenJS Presentation</dc:subject>
  <dc:creator>Dhilmar — Santé-Sécurité</dc:creator>
  <cp:lastModifiedBy>Dhilmar — Santé-Sécurité</cp:lastModifiedBy>
  <cp:revision>1</cp:revision>
  <dcterms:created xsi:type="dcterms:W3CDTF">2026-07-21T06:42:00Z</dcterms:created>
  <dcterms:modified xsi:type="dcterms:W3CDTF">2026-07-21T06:42:00Z</dcterms:modified>
</cp:coreProperties>
</file>