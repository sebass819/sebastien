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Part</c:v>
                </c:pt>
              </c:strCache>
            </c:strRef>
          </c:tx>
          <c:spPr>
            <a:solidFill>
              <a:srgbClr val="F2A93C"/>
            </a:solidFill>
            <a:effectLst/>
          </c:spPr>
          <c:invertIfNegative val="0"/>
          <c:dLbls>
            <c:numFmt formatCode="0&quot;%&quot;" sourceLinked="0"/>
            <c:txPr>
              <a:bodyPr/>
              <a:lstStyle/>
              <a:p>
                <a:pPr>
                  <a:defRPr b="1" i="0" strike="noStrike" sz="1300" u="none">
                    <a:solidFill>
                      <a:srgbClr val="141210"/>
                    </a:solidFill>
                    <a:latin typeface="Calibri"/>
                  </a:defRPr>
                </a:pPr>
              </a:p>
            </c:txPr>
            <c:dLblPos val="inEnd"/>
            <c:showLegendKey val="0"/>
            <c:showVal val="1"/>
            <c:showCatName val="0"/>
            <c:showSerName val="0"/>
            <c:showPercent val="0"/>
            <c:showBubbleSize val="0"/>
            <c:showLeaderLines val="0"/>
          </c:dLbls>
          <c:cat>
            <c:multiLvlStrRef>
              <c:f>Sheet1!$A$2:$A$4</c:f>
              <c:multiLvlStrCache>
                <c:ptCount val="3"/>
                <c:lvl>
                  <c:pt idx="0">
                    <c:v>Lacérations</c:v>
                  </c:pt>
                  <c:pt idx="1">
                    <c:v>Fractures</c:v>
                  </c:pt>
                  <c:pt idx="2">
                    <c:v>Autres</c:v>
                  </c:pt>
                </c:lvl>
              </c:multiLvlStrCache>
            </c:multiLvlStrRef>
          </c:cat>
          <c:val>
            <c:numRef>
              <c:f>Sheet1!$B$2:$B$4</c:f>
              <c:numCache>
                <c:formatCode>General</c:formatCode>
                <c:ptCount val="3"/>
                <c:pt idx="0">
                  <c:v>53</c:v>
                </c:pt>
                <c:pt idx="1">
                  <c:v>26</c:v>
                </c:pt>
                <c:pt idx="2">
                  <c:v>21</c:v>
                </c:pt>
              </c:numCache>
            </c:numRef>
          </c:val>
        </c:ser>
        <c:dLbls>
          <c:numFmt formatCode="0&quot;%&quot;" sourceLinked="0"/>
          <c:txPr>
            <a:bodyPr/>
            <a:lstStyle/>
            <a:p>
              <a:pPr>
                <a:defRPr b="1" i="0" strike="noStrike" sz="1300" u="none">
                  <a:solidFill>
                    <a:srgbClr val="141210"/>
                  </a:solidFill>
                  <a:latin typeface="Calibri"/>
                </a:defRPr>
              </a:pPr>
            </a:p>
          </c:txPr>
          <c:dLblPos val="inEnd"/>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ECE7DD"/>
                </a:solidFill>
                <a:latin typeface="Calibri"/>
              </a:defRPr>
            </a:pPr>
            <a:endParaRPr lang="en-US"/>
          </a:p>
        </c:txPr>
        <c:crossAx val="2094734552"/>
        <c:crosses val="autoZero"/>
        <c:auto val="1"/>
        <c:lblAlgn val="ctr"/>
        <c:noMultiLvlLbl val="1"/>
      </c:catAx>
      <c:valAx>
        <c:axId val="2094734552"/>
        <c:scaling>
          <c:orientation val="minMax"/>
          <c:max val="6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Bonjour à tous, et merci d'être là. On prend une quinzaine de minutes ensemble sur un sujet qui nous concerne tous, peu importe le métier : nos mains.
On les utilise à chaque geste, à chaque quart — et pourtant, c'est une des parties du corps qu'on blesse le plus souvent. L'objectif aujourd'hui, ce n'est pas de vous faire peur : c'est de repartir avec des réflexes simples pour que tout le monde rentre à la maison avec ses deux mains, en pleine forme.
DEMANDEZ : Levez la main : qui, ici, utilise ses mains comme principal outil de travail ? — Exactement, tout le monde.
À RETENIR : Le sujet nous concerne tous, chaque jour.
— Clip : vidéo d'ouverture Higgsfield (tunnel). Glisser le MP4 sur la diapo — voir MEDIA.md.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Voici notre plan, quatre choses simples. Un : comprendre pourquoi nos mains sont autant exposées dans nos opérations. Deux : reconnaître ce qu'on appelle la « ligne de tir ». Trois : choisir et porter le bon gant selon la tâche. Quatre : savoir quoi faire — et déclarer — si ça arrive.
TRANSITION : Commençons par ce qu'on protège.
À RETENIR : Un objectif clair : des réflexes concrets, pas de la théorie.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1,5 min]
Prenez une seconde, regardez vos mains. Il y a 27 os dans chacune — plus du quart des os de tout votre corps, concentrés dans un tout petit espace. Ajoutez les tendons, les nerfs, les vaisseaux : c'est un outil d'une précision incroyable.
Mais contrairement à une clé ou à un boulon, il n'y a pas de pièce de rechange. Une lacération profonde, un doigt écrasé, et c'est parfois une perte de mobilité pour la vie. Aux États-Unis seulement, plus d'un million de travailleurs se présentent à l'urgence chaque année pour une blessure à la main.
DEMANDEZ : Est-ce que quelqu'un connaît une personne qui a gardé des séquelles à une main après un accident ?
À RETENIR : Irremplaçables : aucune pièce de rechange.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 min]
Regardons les chiffres, parce qu'ils sont parlants. Premièrement : environ 70 % des blessures aux mains arrivent à des gens qui ne portaient aucun gant. Et le 30 % qui restait ? Ils avaient un gant — mais pas le bon pour la tâche.
Deuxièmement, et c'est la bonne nouvelle : 71 % de ces blessures pourraient être évitées avec le bon équipement. Autrement dit, la très grande majorité de ce qu'on voit aujourd'hui est évitable.
Au Québec, environ 15 % de toutes les lésions indemnisées touchent les poignets, les mains et les doigts. Et quand il y a perte de temps, plus de 60 % de ces blessures sont des fractures ou des amputations.
DEMANDEZ : À votre avis, sur dix blessures aux mains, combien arrivent sans gant ? (Réponse : environ sept.)
À RETENIR : 70 % sans gant · 71 % évitables.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 min]
Dans le secteur minier précisément, voici le portrait. Les blessures les plus fréquentes aux mains, ce sont les lacérations — plus de la moitié — suivies des fractures, environ le quart.
Côté coûts, une blessure à la main avec perte de temps, c'est en moyenne entre 13 700 et 16 200 dollars de coûts directs — sans parler de la douleur et de l'impact sur la personne et sur l'équipe.
Et un enjeu bien à nous : les vibrations. Avec des outils comme la foreuse, on parle du syndrome des doigts blancs — près des deux tiers des travailleurs affectés rapportent des engourdissements, un tiers, des douleurs articulaires. C'est insidieux : ça s'installe avec le temps.
DEMANDEZ : Qui utilise régulièrement des outils qui vibrent — foreuse, marteau, meuleuse ?
À RETENIR : Lacérations et fractures dominent; les vibrations sont un enjeu réel.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 min]
Voici le concept le plus important de la rencontre : la « ligne de tir ». C'est toute zone où votre main peut être happée, écrasée, coupée ou pincée par une énergie — mécanique, hydraulique, électrique, ou simplement la gravité.
Sur le schéma, la main est au centre, et tout autour, les dangers : écrasement, coupure, happement, pincement. Le réflexe à développer, avant chaque geste, tient en une question : « Si cette pièce bouge, où va ma main ? » Si la réponse, c'est « dans la zone de danger », on se replace.
DEMANDEZ : Donnez-moi un exemple concret de point de pincement que vous croisez ici, à Éléonore.
À RETENIR : « Si ça bouge, où va ma main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1,5 min]
D'où viennent concrètement les blessures ? Six grandes familles. Les points de pincement et de happement — pièces mobiles, engrenages, convoyeurs. Les outils et les lames — couteaux, meuleuses. La manutention et les arêtes vives — tôle, charges lourdes.
L'énergie non maîtrisée — quand on n'a pas cadenassé. Les vibrations, dont on vient de parler. Et enfin, le gant absent ou inadéquat. Vous remarquez que presque toutes se ramènent à la ligne de tir.
TRANSITION : Voyons ce que ça donne en vrai.
À RETENIR : Presque toutes les causes ramènent à la ligne de 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1,5 min]
[Avant de lancer] Regardez bien cette courte séquence. Observez trois choses : où sont les mains par rapport aux pièces mobiles, si le point de pincement était visible, et ce qui aurait pu éliminer le risque.
[Lancer la vidéo — 5 s, à rejouer au besoin]
[Après] Ça va vite, hein ? Une fraction de seconde. La main était dans la ligne de tir. C'est exactement le genre de situation qu'on veut apprendre à voir venir.
DEMANDEZ : Qu'est-ce que vous auriez fait différemment ?
À RETENIR : Ça va vite : il faut anticiper.
— Clip : insérer la vidéo Higgsfield (danger / ligne de tir) dans le cadre (Insertion &gt; Vidéo &gt; à partir d'un fichier). Lien MP4 dans MEDIA.md.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 min]
Maintenant, comment on se protège — dans le bon ordre. C'est la hiérarchie des moyens de prévention. En haut, le plus efficace : éliminer le danger complètement. Ensuite, le substituer ou réduire l'énergie en jeu. Puis l'ingénierie : protecteurs, gardes, outils qui gardent la main à distance. Ensuite l'administratif : procédures, cadenassage, formation. Et tout en bas : l'équipement de protection — le gant.
Message important : le gant, c'est la dernière barrière, jamais la première. Il est essentiel, mais il ne remplace pas un protecteur ou un cadenassage. On ne compte pas sur le gant pour faire le travail qu'un garde devrait faire.
À RETENIR : Le gant est la dernière barrière, pas la première.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 min]
Concrètement, au quotidien, voici les réflexes. Gardez vos mains hors de la ligne de tir. Cadenassez et déchargez l'énergie avant d'intervenir — toujours. Utilisez des poussoirs, des crochets, des outils — jamais vos doigts pour dégager ou guider. Inspectez vos gants et changez-les dès qu'ils sont usés ou troués. Ne retirez jamais un gant près d'une pièce en rotation : le gant peut être happé et entraîner votre main. Et signalez les points de pincement pour qu'on les neutralise.
Et la règle d'or, celle à retenir par-dessus tout : si vous ne voyez pas vos mains en sécurité, vous arrêtez. Aucune tâche n'est urgente au point de risquer une main. Vous avez tous le droit — et le devoir — d'arrêter le travail.
DEMANDEZ : Est-ce que tout le monde est à l'aise avec le droit d'arrêt de travail ?
À RETENIR : Si tu ne vois pas tes mains en sécurité — ARRÊTE.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 min]
Le bon gant, c'est celui qui correspond au risque ET à la tâche. Rapidement : pour la manutention et les arêtes vives, un gant anti-coupure, niveau EN 388 C à F. Pour les travaux lourds et l'abrasion, du cuir ou un gant renforcé. Pour les huiles, hydrocarbures et produits chimiques, un gant nitrile ou néoprène étanche. Pour les outils vibrants, un gant anti-vibration. Pour le froid l'hiver, un gant isolé. Et pour les travaux électriques, un gant isolant diélectrique.
Un point crucial : un gant anti-coupure ne protège PAS contre une pièce en rotation — au contraire, il peut être entraîné. Le bon gant, au bon endroit. Et un gant usé ou troué ne protège plus : inspectez-le avant chaque quart. [Faire circuler les gants]
DEMANDEZ : Est-ce que vous avez toujours accès facilement au bon gant pour vos tâches ?
À RETENIR : Le bon gant = le risque + la tâche.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[Avant de lancer] À l'inverse, voici à quoi ça ressemble quand c'est bien fait. Observez : le gant est adapté et en bon état, la prise est ferme et contrôlée, et les mains restent hors de la ligne de tir.
[Lancer la vidéo — 5 s]
[Après] Voilà. Rien de spectaculaire — et c'est justement le but. Le travail sécuritaire, c'est ça : contrôlé, dégagé, sans surprise.
À RETENIR : Protégé, contrôlé, dégagé.
— Clip : insérer la vidéo Higgsfield (bonne méthode / gants) dans le cadre (Insertion &gt; Vidéo &gt; à partir d'un fichier). Lien MP4 dans MEDIA.md.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1,5 min]
Malgré tout, si une blessure arrive, voici les quatre étapes. Un : arrêter et sécuriser — on stoppe la tâche, on neutralise l'énergie, on protège la zone. Deux : les premiers soins immédiatement — secouriste ou infirmerie. Trois : signaler tout de suite au superviseur. Quatre, celui qu'on oublie trop souvent : déclarer — même une simple égratignure, même un presqu'accident.
Pourquoi ? Parce qu'un petit incident déclaré aujourd'hui, c'est ce qui nous permet de corriger avant l'accident grave de demain. Déclarer, ce n'est jamais une faute — c'est une force pour toute l'équipe.
DEMANDEZ : Est-ce que tout le monde sait où est l'infirmerie et qui sont les secouristes de son quart ?
À RETENIR : Déclarer, même une égratignure.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On termine là-dessus. Chez Dhilmar, à Éléonore, on veut une chose toute simple : que chacun rentre à la maison avec ses deux mains, en pleine forme.
Ça passe par les réflexes qu'on a vus aujourd'hui — voir la ligne de tir, garder les mains dégagées, porter le bon gant, et arrêter quand il le faut. La sécurité des mains, c'est l'affaire de chacun, à chaque quart, à chaque geste. Merci de votre attention et de votre engagement. Je prends vos questions.
DEMANDEZ : Ouvrir la discussion — questions et échanges.
À RETENIR : On rentre tous à la maison avec nos deux mains.
— Clip : vidéo de clôture Higgsfield (équipe, lever de soleil). Glisser sur la diapo — voir MEDIA.md.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210"/>
        </a:solidFill>
      </p:bgPr>
    </p:bg>
    <p:spTree>
      <p:nvGrpSpPr>
        <p:cNvPr id="1" name=""/>
        <p:cNvGrpSpPr/>
        <p:nvPr/>
      </p:nvGrpSpPr>
      <p:grpSpPr>
        <a:xfrm>
          <a:off x="0" y="0"/>
          <a:ext cx="0" cy="0"/>
          <a:chOff x="0" y="0"/>
          <a:chExt cx="0" cy="0"/>
        </a:xfrm>
      </p:grpSpPr>
      <p:sp>
        <p:nvSpPr>
          <p:cNvPr id="2" name="Shape 0"/>
          <p:cNvSpPr/>
          <p:nvPr/>
        </p:nvSpPr>
        <p:spPr>
          <a:xfrm>
            <a:off x="7955280" y="0"/>
            <a:ext cx="4236415" cy="6858000"/>
          </a:xfrm>
          <a:prstGeom prst="rect">
            <a:avLst/>
          </a:prstGeom>
          <a:solidFill>
            <a:srgbClr val="1B1712"/>
          </a:solidFill>
          <a:ln/>
        </p:spPr>
      </p:sp>
      <p:sp>
        <p:nvSpPr>
          <p:cNvPr id="3" name="Shape 1"/>
          <p:cNvSpPr/>
          <p:nvPr/>
        </p:nvSpPr>
        <p:spPr>
          <a:xfrm>
            <a:off x="8366760" y="1463040"/>
            <a:ext cx="3931920" cy="3931920"/>
          </a:xfrm>
          <a:prstGeom prst="oval">
            <a:avLst/>
          </a:prstGeom>
          <a:ln w="12700">
            <a:solidFill>
              <a:srgbClr val="3C352A"/>
            </a:solidFill>
            <a:prstDash val="solid"/>
          </a:ln>
        </p:spPr>
      </p:sp>
      <p:sp>
        <p:nvSpPr>
          <p:cNvPr id="4" name="Shape 2"/>
          <p:cNvSpPr/>
          <p:nvPr/>
        </p:nvSpPr>
        <p:spPr>
          <a:xfrm>
            <a:off x="8915400" y="2011680"/>
            <a:ext cx="2834640" cy="2834640"/>
          </a:xfrm>
          <a:prstGeom prst="oval">
            <a:avLst/>
          </a:prstGeom>
          <a:solidFill>
            <a:srgbClr val="231E17"/>
          </a:solidFill>
          <a:ln w="15875">
            <a:solidFill>
              <a:srgbClr val="C9852A"/>
            </a:solidFill>
            <a:prstDash val="solid"/>
          </a:ln>
        </p:spPr>
      </p:sp>
      <p:pic>
        <p:nvPicPr>
          <p:cNvPr id="5" name="Image 0" descr="preencoded.png">    </p:cNvPr>
          <p:cNvPicPr>
            <a:picLocks noChangeAspect="1"/>
          </p:cNvPicPr>
          <p:nvPr/>
        </p:nvPicPr>
        <p:blipFill>
          <a:blip r:embed="rId1"/>
          <a:stretch>
            <a:fillRect/>
          </a:stretch>
        </p:blipFill>
        <p:spPr>
          <a:xfrm>
            <a:off x="9509760" y="2514600"/>
            <a:ext cx="1645920" cy="1645920"/>
          </a:xfrm>
          <a:prstGeom prst="rect">
            <a:avLst/>
          </a:prstGeom>
        </p:spPr>
      </p:pic>
      <p:sp>
        <p:nvSpPr>
          <p:cNvPr id="6" name="Shape 3"/>
          <p:cNvSpPr/>
          <p:nvPr/>
        </p:nvSpPr>
        <p:spPr>
          <a:xfrm>
            <a:off x="8732520" y="5074920"/>
            <a:ext cx="3200400" cy="457200"/>
          </a:xfrm>
          <a:prstGeom prst="roundRect">
            <a:avLst>
              <a:gd name="adj" fmla="val 16000"/>
            </a:avLst>
          </a:prstGeom>
          <a:solidFill>
            <a:srgbClr val="2C261D"/>
          </a:solidFill>
          <a:ln w="9525">
            <a:solidFill>
              <a:srgbClr val="C9852A"/>
            </a:solidFill>
            <a:prstDash val="solid"/>
          </a:ln>
        </p:spPr>
      </p:sp>
      <p:sp>
        <p:nvSpPr>
          <p:cNvPr id="7" name="Text 4"/>
          <p:cNvSpPr/>
          <p:nvPr/>
        </p:nvSpPr>
        <p:spPr>
          <a:xfrm>
            <a:off x="8732520" y="5074920"/>
            <a:ext cx="3200400" cy="457200"/>
          </a:xfrm>
          <a:prstGeom prst="rect">
            <a:avLst/>
          </a:prstGeom>
          <a:noFill/>
          <a:ln/>
        </p:spPr>
        <p:txBody>
          <a:bodyPr wrap="square" lIns="0" tIns="0" rIns="0" bIns="0" rtlCol="0" anchor="ctr"/>
          <a:lstStyle/>
          <a:p>
            <a:pPr algn="ctr" indent="0" marL="0">
              <a:buNone/>
            </a:pPr>
            <a:r>
              <a:rPr lang="en-US" sz="1100" dirty="0">
                <a:solidFill>
                  <a:srgbClr val="F2A93C"/>
                </a:solidFill>
                <a:latin typeface="Calibri" pitchFamily="34" charset="0"/>
                <a:ea typeface="Calibri" pitchFamily="34" charset="-122"/>
                <a:cs typeface="Calibri" pitchFamily="34" charset="-120"/>
              </a:rPr>
              <a:t>▶  </a:t>
            </a:r>
            <a:pPr algn="ctr" indent="0" marL="0">
              <a:buNone/>
            </a:pPr>
            <a:r>
              <a:rPr lang="en-US" sz="1100" dirty="0">
                <a:solidFill>
                  <a:srgbClr val="ECE7DD"/>
                </a:solidFill>
                <a:latin typeface="Calibri" pitchFamily="34" charset="0"/>
                <a:ea typeface="Calibri" pitchFamily="34" charset="-122"/>
                <a:cs typeface="Calibri" pitchFamily="34" charset="-120"/>
              </a:rPr>
              <a:t>Vidéo d'ouverture Higgsfield</a:t>
            </a:r>
            <a:endParaRPr lang="en-US" sz="1100" dirty="0"/>
          </a:p>
        </p:txBody>
      </p:sp>
      <p:sp>
        <p:nvSpPr>
          <p:cNvPr id="8" name="Shape 5"/>
          <p:cNvSpPr/>
          <p:nvPr/>
        </p:nvSpPr>
        <p:spPr>
          <a:xfrm>
            <a:off x="548640" y="457200"/>
            <a:ext cx="357530" cy="357530"/>
          </a:xfrm>
          <a:prstGeom prst="roundRect">
            <a:avLst>
              <a:gd name="adj" fmla="val 17647"/>
            </a:avLst>
          </a:prstGeom>
          <a:solidFill>
            <a:srgbClr val="F2A93C"/>
          </a:solidFill>
          <a:ln/>
        </p:spPr>
      </p:sp>
      <p:sp>
        <p:nvSpPr>
          <p:cNvPr id="9" name="Shape 6"/>
          <p:cNvSpPr/>
          <p:nvPr/>
        </p:nvSpPr>
        <p:spPr>
          <a:xfrm rot="5400000">
            <a:off x="655899" y="550158"/>
            <a:ext cx="157313" cy="171615"/>
          </a:xfrm>
          <a:prstGeom prst="triangle">
            <a:avLst/>
          </a:prstGeom>
          <a:solidFill>
            <a:srgbClr val="141210"/>
          </a:solidFill>
          <a:ln/>
        </p:spPr>
      </p:sp>
      <p:sp>
        <p:nvSpPr>
          <p:cNvPr id="10" name="Text 7"/>
          <p:cNvSpPr/>
          <p:nvPr/>
        </p:nvSpPr>
        <p:spPr>
          <a:xfrm>
            <a:off x="1015898" y="404622"/>
            <a:ext cx="2523744" cy="448970"/>
          </a:xfrm>
          <a:prstGeom prst="rect">
            <a:avLst/>
          </a:prstGeom>
          <a:noFill/>
          <a:ln/>
        </p:spPr>
        <p:txBody>
          <a:bodyPr wrap="square" lIns="0" tIns="0" rIns="0" bIns="0" rtlCol="0" anchor="ctr"/>
          <a:lstStyle/>
          <a:p>
            <a:pPr algn="l" indent="0" marL="0">
              <a:buNone/>
            </a:pPr>
            <a:r>
              <a:rPr lang="en-US" sz="1955" b="1" dirty="0">
                <a:solidFill>
                  <a:srgbClr val="FFFFFF"/>
                </a:solidFill>
                <a:latin typeface="Cambria" pitchFamily="34" charset="0"/>
                <a:ea typeface="Cambria" pitchFamily="34" charset="-122"/>
                <a:cs typeface="Cambria" pitchFamily="34" charset="-120"/>
              </a:rPr>
              <a:t>Dhilmar</a:t>
            </a:r>
            <a:endParaRPr lang="en-US" sz="1955" dirty="0"/>
          </a:p>
        </p:txBody>
      </p:sp>
      <p:sp>
        <p:nvSpPr>
          <p:cNvPr id="11" name="Text 8"/>
          <p:cNvSpPr/>
          <p:nvPr/>
        </p:nvSpPr>
        <p:spPr>
          <a:xfrm>
            <a:off x="548640" y="960120"/>
            <a:ext cx="4572000" cy="274320"/>
          </a:xfrm>
          <a:prstGeom prst="rect">
            <a:avLst/>
          </a:prstGeom>
          <a:noFill/>
          <a:ln/>
        </p:spPr>
        <p:txBody>
          <a:bodyPr wrap="square" lIns="0" tIns="0" rIns="0" bIns="0" rtlCol="0" anchor="ctr"/>
          <a:lstStyle/>
          <a:p>
            <a:pPr indent="0" marL="0">
              <a:buNone/>
            </a:pPr>
            <a:r>
              <a:rPr lang="en-US" sz="1100" b="1" spc="300" kern="0" dirty="0">
                <a:solidFill>
                  <a:srgbClr val="857E70"/>
                </a:solidFill>
                <a:latin typeface="Calibri" pitchFamily="34" charset="0"/>
                <a:ea typeface="Calibri" pitchFamily="34" charset="-122"/>
                <a:cs typeface="Calibri" pitchFamily="34" charset="-120"/>
              </a:rPr>
              <a:t>MINE </a:t>
            </a:r>
            <a:pPr indent="0" marL="0">
              <a:buNone/>
            </a:pPr>
            <a:r>
              <a:rPr lang="en-US" sz="1100" b="1" spc="300" kern="0" dirty="0">
                <a:solidFill>
                  <a:srgbClr val="F2A93C"/>
                </a:solidFill>
                <a:latin typeface="Calibri" pitchFamily="34" charset="0"/>
                <a:ea typeface="Calibri" pitchFamily="34" charset="-122"/>
                <a:cs typeface="Calibri" pitchFamily="34" charset="-120"/>
              </a:rPr>
              <a:t>ÉLÉONORE</a:t>
            </a:r>
            <a:endParaRPr lang="en-US" sz="1100" dirty="0"/>
          </a:p>
        </p:txBody>
      </p:sp>
      <p:sp>
        <p:nvSpPr>
          <p:cNvPr id="12" name="Text 9"/>
          <p:cNvSpPr/>
          <p:nvPr/>
        </p:nvSpPr>
        <p:spPr>
          <a:xfrm>
            <a:off x="566928" y="2331720"/>
            <a:ext cx="7132320" cy="320040"/>
          </a:xfrm>
          <a:prstGeom prst="rect">
            <a:avLst/>
          </a:prstGeom>
          <a:noFill/>
          <a:ln/>
        </p:spPr>
        <p:txBody>
          <a:bodyPr wrap="square" lIns="0" tIns="0" rIns="0" bIns="0" rtlCol="0" anchor="ctr"/>
          <a:lstStyle/>
          <a:p>
            <a:pPr indent="0" marL="0">
              <a:buNone/>
            </a:pPr>
            <a:r>
              <a:rPr lang="en-US" sz="1300" b="1" spc="300" kern="0" dirty="0">
                <a:solidFill>
                  <a:srgbClr val="F2A93C"/>
                </a:solidFill>
                <a:latin typeface="Calibri" pitchFamily="34" charset="0"/>
                <a:ea typeface="Calibri" pitchFamily="34" charset="-122"/>
                <a:cs typeface="Calibri" pitchFamily="34" charset="-120"/>
              </a:rPr>
              <a:t>SANTÉ · SÉCURITÉ AU TRAVAIL</a:t>
            </a:r>
            <a:endParaRPr lang="en-US" sz="1300" dirty="0"/>
          </a:p>
        </p:txBody>
      </p:sp>
      <p:sp>
        <p:nvSpPr>
          <p:cNvPr id="13" name="Text 10"/>
          <p:cNvSpPr/>
          <p:nvPr/>
        </p:nvSpPr>
        <p:spPr>
          <a:xfrm>
            <a:off x="502920" y="2697480"/>
            <a:ext cx="7406640" cy="1828800"/>
          </a:xfrm>
          <a:prstGeom prst="rect">
            <a:avLst/>
          </a:prstGeom>
          <a:noFill/>
          <a:ln/>
        </p:spPr>
        <p:txBody>
          <a:bodyPr wrap="square" lIns="0" tIns="0" rIns="0" bIns="0" rtlCol="0" anchor="ctr"/>
          <a:lstStyle/>
          <a:p>
            <a:pPr indent="0" marL="0">
              <a:lnSpc>
                <a:spcPts val="5000"/>
              </a:lnSpc>
              <a:buNone/>
            </a:pPr>
            <a:r>
              <a:rPr lang="en-US" sz="5200" b="1" dirty="0">
                <a:solidFill>
                  <a:srgbClr val="FFFFFF"/>
                </a:solidFill>
                <a:latin typeface="Cambria" pitchFamily="34" charset="0"/>
                <a:ea typeface="Cambria" pitchFamily="34" charset="-122"/>
                <a:cs typeface="Cambria" pitchFamily="34" charset="-120"/>
              </a:rPr>
              <a:t>La sécurité</a:t>
            </a:r>
            <a:endParaRPr lang="en-US" sz="5200" dirty="0"/>
          </a:p>
          <a:p>
            <a:pPr indent="0" marL="0">
              <a:lnSpc>
                <a:spcPts val="5000"/>
              </a:lnSpc>
              <a:buNone/>
            </a:pPr>
            <a:r>
              <a:rPr lang="en-US" sz="5200" b="1" dirty="0">
                <a:solidFill>
                  <a:srgbClr val="FFFFFF"/>
                </a:solidFill>
                <a:latin typeface="Cambria" pitchFamily="34" charset="0"/>
                <a:ea typeface="Cambria" pitchFamily="34" charset="-122"/>
                <a:cs typeface="Cambria" pitchFamily="34" charset="-120"/>
              </a:rPr>
              <a:t>entre vos mains</a:t>
            </a:r>
            <a:endParaRPr lang="en-US" sz="5200" dirty="0"/>
          </a:p>
        </p:txBody>
      </p:sp>
      <p:sp>
        <p:nvSpPr>
          <p:cNvPr id="14" name="Text 11"/>
          <p:cNvSpPr/>
          <p:nvPr/>
        </p:nvSpPr>
        <p:spPr>
          <a:xfrm>
            <a:off x="548640" y="4526280"/>
            <a:ext cx="7132320" cy="457200"/>
          </a:xfrm>
          <a:prstGeom prst="rect">
            <a:avLst/>
          </a:prstGeom>
          <a:noFill/>
          <a:ln/>
        </p:spPr>
        <p:txBody>
          <a:bodyPr wrap="square" lIns="0" tIns="0" rIns="0" bIns="0" rtlCol="0" anchor="ctr"/>
          <a:lstStyle/>
          <a:p>
            <a:pPr indent="0" marL="0">
              <a:buNone/>
            </a:pPr>
            <a:r>
              <a:rPr lang="en-US" sz="2000" i="1" dirty="0">
                <a:solidFill>
                  <a:srgbClr val="F7C775"/>
                </a:solidFill>
                <a:latin typeface="Calibri" pitchFamily="34" charset="0"/>
                <a:ea typeface="Calibri" pitchFamily="34" charset="-122"/>
                <a:cs typeface="Calibri" pitchFamily="34" charset="-120"/>
              </a:rPr>
              <a:t>Prévention des blessures aux mains</a:t>
            </a:r>
            <a:endParaRPr lang="en-US" sz="2000" dirty="0"/>
          </a:p>
        </p:txBody>
      </p:sp>
      <p:sp>
        <p:nvSpPr>
          <p:cNvPr id="15" name="Shape 12"/>
          <p:cNvSpPr/>
          <p:nvPr/>
        </p:nvSpPr>
        <p:spPr>
          <a:xfrm>
            <a:off x="566928" y="5257800"/>
            <a:ext cx="2743200" cy="0"/>
          </a:xfrm>
          <a:prstGeom prst="line">
            <a:avLst/>
          </a:prstGeom>
          <a:noFill/>
          <a:ln w="12700">
            <a:solidFill>
              <a:srgbClr val="3C352A"/>
            </a:solidFill>
            <a:prstDash val="solid"/>
          </a:ln>
        </p:spPr>
      </p:sp>
      <p:sp>
        <p:nvSpPr>
          <p:cNvPr id="16" name="Text 13"/>
          <p:cNvSpPr/>
          <p:nvPr/>
        </p:nvSpPr>
        <p:spPr>
          <a:xfrm>
            <a:off x="566928" y="5394960"/>
            <a:ext cx="6858000" cy="822960"/>
          </a:xfrm>
          <a:prstGeom prst="rect">
            <a:avLst/>
          </a:prstGeom>
          <a:noFill/>
          <a:ln/>
        </p:spPr>
        <p:txBody>
          <a:bodyPr wrap="square" lIns="0" tIns="0" rIns="0" bIns="0" rtlCol="0" anchor="ctr"/>
          <a:lstStyle/>
          <a:p>
            <a:pPr indent="0" marL="0">
              <a:lnSpc>
                <a:spcPct val="120000"/>
              </a:lnSpc>
              <a:buNone/>
            </a:pPr>
            <a:r>
              <a:rPr lang="en-US" sz="1200" dirty="0">
                <a:solidFill>
                  <a:srgbClr val="B4AD9F"/>
                </a:solidFill>
                <a:latin typeface="Calibri" pitchFamily="34" charset="0"/>
                <a:ea typeface="Calibri" pitchFamily="34" charset="-122"/>
                <a:cs typeface="Calibri" pitchFamily="34" charset="-120"/>
              </a:rPr>
              <a:t>Rencontre santé-sécurité</a:t>
            </a:r>
            <a:endParaRPr lang="en-US" sz="1200" dirty="0"/>
          </a:p>
          <a:p>
            <a:pPr indent="0" marL="0">
              <a:lnSpc>
                <a:spcPct val="120000"/>
              </a:lnSpc>
              <a:buNone/>
            </a:pPr>
            <a:r>
              <a:rPr lang="en-US" sz="1400" b="1" dirty="0">
                <a:solidFill>
                  <a:srgbClr val="ECE7DD"/>
                </a:solidFill>
                <a:latin typeface="Calibri" pitchFamily="34" charset="0"/>
                <a:ea typeface="Calibri" pitchFamily="34" charset="-122"/>
                <a:cs typeface="Calibri" pitchFamily="34" charset="-120"/>
              </a:rPr>
              <a:t>Dhilmar — Mine Éléonore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210"/>
        </a:solidFill>
      </p:bgPr>
    </p:bg>
    <p:spTree>
      <p:nvGrpSpPr>
        <p:cNvPr id="1" name=""/>
        <p:cNvGrpSpPr/>
        <p:nvPr/>
      </p:nvGrpSpPr>
      <p:grpSpPr>
        <a:xfrm>
          <a:off x="0" y="0"/>
          <a:ext cx="0" cy="0"/>
          <a:chOff x="0" y="0"/>
          <a:chExt cx="0" cy="0"/>
        </a:xfrm>
      </p:grpSpPr>
      <p:sp>
        <p:nvSpPr>
          <p:cNvPr id="2" name="Shape 0"/>
          <p:cNvSpPr/>
          <p:nvPr/>
        </p:nvSpPr>
        <p:spPr>
          <a:xfrm>
            <a:off x="548640" y="384048"/>
            <a:ext cx="310896" cy="310896"/>
          </a:xfrm>
          <a:prstGeom prst="roundRect">
            <a:avLst>
              <a:gd name="adj" fmla="val 17647"/>
            </a:avLst>
          </a:prstGeom>
          <a:solidFill>
            <a:srgbClr val="F2A93C"/>
          </a:solidFill>
          <a:ln/>
        </p:spPr>
      </p:sp>
      <p:sp>
        <p:nvSpPr>
          <p:cNvPr id="3" name="Shape 1"/>
          <p:cNvSpPr/>
          <p:nvPr/>
        </p:nvSpPr>
        <p:spPr>
          <a:xfrm rot="5400000">
            <a:off x="641909" y="464881"/>
            <a:ext cx="136794" cy="149230"/>
          </a:xfrm>
          <a:prstGeom prst="triangle">
            <a:avLst/>
          </a:prstGeom>
          <a:solidFill>
            <a:srgbClr val="141210"/>
          </a:solidFill>
          <a:ln/>
        </p:spPr>
      </p:sp>
      <p:sp>
        <p:nvSpPr>
          <p:cNvPr id="4" name="Text 2"/>
          <p:cNvSpPr/>
          <p:nvPr/>
        </p:nvSpPr>
        <p:spPr>
          <a:xfrm>
            <a:off x="969264" y="338328"/>
            <a:ext cx="2194560" cy="402336"/>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Dhilmar</a:t>
            </a:r>
            <a:endParaRPr lang="en-US" sz="1700" dirty="0"/>
          </a:p>
        </p:txBody>
      </p:sp>
      <p:sp>
        <p:nvSpPr>
          <p:cNvPr id="5" name="Text 3"/>
          <p:cNvSpPr/>
          <p:nvPr/>
        </p:nvSpPr>
        <p:spPr>
          <a:xfrm>
            <a:off x="9265615" y="420624"/>
            <a:ext cx="2377440" cy="274320"/>
          </a:xfrm>
          <a:prstGeom prst="rect">
            <a:avLst/>
          </a:prstGeom>
          <a:noFill/>
          <a:ln/>
        </p:spPr>
        <p:txBody>
          <a:bodyPr wrap="square" lIns="0" tIns="0" rIns="0" bIns="0" rtlCol="0" anchor="ctr"/>
          <a:lstStyle/>
          <a:p>
            <a:pPr algn="r" indent="0" marL="0">
              <a:buNone/>
            </a:pPr>
            <a:r>
              <a:rPr lang="en-US" sz="1050" b="1" spc="200" kern="0" dirty="0">
                <a:solidFill>
                  <a:srgbClr val="857E70"/>
                </a:solidFill>
                <a:latin typeface="Calibri" pitchFamily="34" charset="0"/>
                <a:ea typeface="Calibri" pitchFamily="34" charset="-122"/>
                <a:cs typeface="Calibri" pitchFamily="34" charset="-120"/>
              </a:rPr>
              <a:t>MINE </a:t>
            </a:r>
            <a:pPr algn="r" indent="0" marL="0">
              <a:buNone/>
            </a:pPr>
            <a:r>
              <a:rPr lang="en-US" sz="1050" b="1" spc="200" kern="0" dirty="0">
                <a:solidFill>
                  <a:srgbClr val="F2A93C"/>
                </a:solidFill>
                <a:latin typeface="Calibri" pitchFamily="34" charset="0"/>
                <a:ea typeface="Calibri" pitchFamily="34" charset="-122"/>
                <a:cs typeface="Calibri" pitchFamily="34" charset="-120"/>
              </a:rPr>
              <a:t>ÉLÉONORE</a:t>
            </a:r>
            <a:endParaRPr lang="en-US" sz="1050" dirty="0"/>
          </a:p>
        </p:txBody>
      </p:sp>
      <p:sp>
        <p:nvSpPr>
          <p:cNvPr id="6" name="Text 4"/>
          <p:cNvSpPr/>
          <p:nvPr/>
        </p:nvSpPr>
        <p:spPr>
          <a:xfrm>
            <a:off x="566928" y="475488"/>
            <a:ext cx="9144000" cy="274320"/>
          </a:xfrm>
          <a:prstGeom prst="rect">
            <a:avLst/>
          </a:prstGeom>
          <a:noFill/>
          <a:ln/>
        </p:spPr>
        <p:txBody>
          <a:bodyPr wrap="square" lIns="0" tIns="0" rIns="0" bIns="0" rtlCol="0" anchor="ctr"/>
          <a:lstStyle/>
          <a:p>
            <a:pPr indent="0" marL="0">
              <a:buNone/>
            </a:pPr>
            <a:r>
              <a:rPr lang="en-US" sz="1200" b="1" spc="300" kern="0" dirty="0">
                <a:solidFill>
                  <a:srgbClr val="F2A93C"/>
                </a:solidFill>
                <a:latin typeface="Calibri" pitchFamily="34" charset="0"/>
                <a:ea typeface="Calibri" pitchFamily="34" charset="-122"/>
                <a:cs typeface="Calibri" pitchFamily="34" charset="-120"/>
              </a:rPr>
              <a:t>POURQUOI CETTE RENCONTRE</a:t>
            </a:r>
            <a:endParaRPr lang="en-US" sz="1200" dirty="0"/>
          </a:p>
        </p:txBody>
      </p:sp>
      <p:sp>
        <p:nvSpPr>
          <p:cNvPr id="7" name="Text 5"/>
          <p:cNvSpPr/>
          <p:nvPr/>
        </p:nvSpPr>
        <p:spPr>
          <a:xfrm>
            <a:off x="548640" y="768096"/>
            <a:ext cx="11064240" cy="822960"/>
          </a:xfrm>
          <a:prstGeom prst="rect">
            <a:avLst/>
          </a:prstGeom>
          <a:noFill/>
          <a:ln/>
        </p:spPr>
        <p:txBody>
          <a:bodyPr wrap="square" lIns="0" tIns="0" rIns="0" bIns="0" rtlCol="0" anchor="ctr"/>
          <a:lstStyle/>
          <a:p>
            <a:pPr indent="0" marL="0">
              <a:lnSpc>
                <a:spcPts val="3465"/>
              </a:lnSpc>
              <a:buNone/>
            </a:pPr>
            <a:r>
              <a:rPr lang="en-US" sz="3300" b="1" dirty="0">
                <a:solidFill>
                  <a:srgbClr val="FFFFFF"/>
                </a:solidFill>
                <a:latin typeface="Cambria" pitchFamily="34" charset="0"/>
                <a:ea typeface="Cambria" pitchFamily="34" charset="-122"/>
                <a:cs typeface="Cambria" pitchFamily="34" charset="-120"/>
              </a:rPr>
              <a:t>Objectifs de la rencontre</a:t>
            </a:r>
            <a:endParaRPr lang="en-US" sz="3300" dirty="0"/>
          </a:p>
        </p:txBody>
      </p:sp>
      <p:sp>
        <p:nvSpPr>
          <p:cNvPr id="8" name="Shape 6"/>
          <p:cNvSpPr/>
          <p:nvPr/>
        </p:nvSpPr>
        <p:spPr>
          <a:xfrm>
            <a:off x="548640" y="1783080"/>
            <a:ext cx="5486400" cy="2057400"/>
          </a:xfrm>
          <a:prstGeom prst="roundRect">
            <a:avLst>
              <a:gd name="adj" fmla="val 4000"/>
            </a:avLst>
          </a:prstGeom>
          <a:solidFill>
            <a:srgbClr val="231E17"/>
          </a:solidFill>
          <a:ln w="12700">
            <a:solidFill>
              <a:srgbClr val="3C352A"/>
            </a:solidFill>
            <a:prstDash val="solid"/>
          </a:ln>
        </p:spPr>
      </p:sp>
      <p:sp>
        <p:nvSpPr>
          <p:cNvPr id="9" name="Shape 7"/>
          <p:cNvSpPr/>
          <p:nvPr/>
        </p:nvSpPr>
        <p:spPr>
          <a:xfrm>
            <a:off x="914400" y="2167128"/>
            <a:ext cx="914400" cy="914400"/>
          </a:xfrm>
          <a:prstGeom prst="oval">
            <a:avLst/>
          </a:prstGeom>
          <a:solidFill>
            <a:srgbClr val="1B1712"/>
          </a:solidFill>
          <a:ln w="19050">
            <a:solidFill>
              <a:srgbClr val="F2A93C"/>
            </a:solidFill>
            <a:prstDash val="solid"/>
          </a:ln>
        </p:spPr>
      </p:sp>
      <p:pic>
        <p:nvPicPr>
          <p:cNvPr id="10" name="Image 0" descr="preencoded.png">    </p:cNvPr>
          <p:cNvPicPr>
            <a:picLocks noChangeAspect="1"/>
          </p:cNvPicPr>
          <p:nvPr/>
        </p:nvPicPr>
        <p:blipFill>
          <a:blip r:embed="rId1"/>
          <a:stretch>
            <a:fillRect/>
          </a:stretch>
        </p:blipFill>
        <p:spPr>
          <a:xfrm>
            <a:off x="1143000" y="2395728"/>
            <a:ext cx="457200" cy="457200"/>
          </a:xfrm>
          <a:prstGeom prst="rect">
            <a:avLst/>
          </a:prstGeom>
        </p:spPr>
      </p:pic>
      <p:sp>
        <p:nvSpPr>
          <p:cNvPr id="11" name="Text 8"/>
          <p:cNvSpPr/>
          <p:nvPr/>
        </p:nvSpPr>
        <p:spPr>
          <a:xfrm>
            <a:off x="4937760" y="2039112"/>
            <a:ext cx="822960" cy="640080"/>
          </a:xfrm>
          <a:prstGeom prst="rect">
            <a:avLst/>
          </a:prstGeom>
          <a:noFill/>
          <a:ln/>
        </p:spPr>
        <p:txBody>
          <a:bodyPr wrap="square" lIns="0" tIns="0" rIns="0" bIns="0" rtlCol="0" anchor="ctr"/>
          <a:lstStyle/>
          <a:p>
            <a:pPr algn="r" indent="0" marL="0">
              <a:buNone/>
            </a:pPr>
            <a:r>
              <a:rPr lang="en-US" sz="3000" b="1" dirty="0">
                <a:solidFill>
                  <a:srgbClr val="3C352A"/>
                </a:solidFill>
                <a:latin typeface="Cambria" pitchFamily="34" charset="0"/>
                <a:ea typeface="Cambria" pitchFamily="34" charset="-122"/>
                <a:cs typeface="Cambria" pitchFamily="34" charset="-120"/>
              </a:rPr>
              <a:t>01</a:t>
            </a:r>
            <a:endParaRPr lang="en-US" sz="3000" dirty="0"/>
          </a:p>
        </p:txBody>
      </p:sp>
      <p:sp>
        <p:nvSpPr>
          <p:cNvPr id="12" name="Text 9"/>
          <p:cNvSpPr/>
          <p:nvPr/>
        </p:nvSpPr>
        <p:spPr>
          <a:xfrm>
            <a:off x="2011680" y="2185416"/>
            <a:ext cx="3108960" cy="45720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Comprendre</a:t>
            </a:r>
            <a:endParaRPr lang="en-US" sz="2100" dirty="0"/>
          </a:p>
        </p:txBody>
      </p:sp>
      <p:sp>
        <p:nvSpPr>
          <p:cNvPr id="13" name="Text 10"/>
          <p:cNvSpPr/>
          <p:nvPr/>
        </p:nvSpPr>
        <p:spPr>
          <a:xfrm>
            <a:off x="2011680" y="2715768"/>
            <a:ext cx="3749040" cy="914400"/>
          </a:xfrm>
          <a:prstGeom prst="rect">
            <a:avLst/>
          </a:prstGeom>
          <a:noFill/>
          <a:ln/>
        </p:spPr>
        <p:txBody>
          <a:bodyPr wrap="square" lIns="0" tIns="0" rIns="0" bIns="0" rtlCol="0" anchor="ctr"/>
          <a:lstStyle/>
          <a:p>
            <a:pPr indent="0" marL="0">
              <a:lnSpc>
                <a:spcPct val="105000"/>
              </a:lnSpc>
              <a:buNone/>
            </a:pPr>
            <a:r>
              <a:rPr lang="en-US" sz="1400" dirty="0">
                <a:solidFill>
                  <a:srgbClr val="B4AD9F"/>
                </a:solidFill>
                <a:latin typeface="Calibri" pitchFamily="34" charset="0"/>
                <a:ea typeface="Calibri" pitchFamily="34" charset="-122"/>
                <a:cs typeface="Calibri" pitchFamily="34" charset="-120"/>
              </a:rPr>
              <a:t>Pourquoi nos mains sont autant exposées dans nos opérations.</a:t>
            </a:r>
            <a:endParaRPr lang="en-US" sz="1400" dirty="0"/>
          </a:p>
        </p:txBody>
      </p:sp>
      <p:sp>
        <p:nvSpPr>
          <p:cNvPr id="14" name="Shape 11"/>
          <p:cNvSpPr/>
          <p:nvPr/>
        </p:nvSpPr>
        <p:spPr>
          <a:xfrm>
            <a:off x="6153912" y="1783080"/>
            <a:ext cx="5486400" cy="2057400"/>
          </a:xfrm>
          <a:prstGeom prst="roundRect">
            <a:avLst>
              <a:gd name="adj" fmla="val 4000"/>
            </a:avLst>
          </a:prstGeom>
          <a:solidFill>
            <a:srgbClr val="231E17"/>
          </a:solidFill>
          <a:ln w="12700">
            <a:solidFill>
              <a:srgbClr val="3C352A"/>
            </a:solidFill>
            <a:prstDash val="solid"/>
          </a:ln>
        </p:spPr>
      </p:sp>
      <p:sp>
        <p:nvSpPr>
          <p:cNvPr id="15" name="Shape 12"/>
          <p:cNvSpPr/>
          <p:nvPr/>
        </p:nvSpPr>
        <p:spPr>
          <a:xfrm>
            <a:off x="6519672" y="2167128"/>
            <a:ext cx="914400" cy="914400"/>
          </a:xfrm>
          <a:prstGeom prst="oval">
            <a:avLst/>
          </a:prstGeom>
          <a:solidFill>
            <a:srgbClr val="1B1712"/>
          </a:solidFill>
          <a:ln w="19050">
            <a:solidFill>
              <a:srgbClr val="F2A93C"/>
            </a:solidFill>
            <a:prstDash val="solid"/>
          </a:ln>
        </p:spPr>
      </p:sp>
      <p:pic>
        <p:nvPicPr>
          <p:cNvPr id="16" name="Image 1" descr="preencoded.png">    </p:cNvPr>
          <p:cNvPicPr>
            <a:picLocks noChangeAspect="1"/>
          </p:cNvPicPr>
          <p:nvPr/>
        </p:nvPicPr>
        <p:blipFill>
          <a:blip r:embed="rId2"/>
          <a:stretch>
            <a:fillRect/>
          </a:stretch>
        </p:blipFill>
        <p:spPr>
          <a:xfrm>
            <a:off x="6748272" y="2395728"/>
            <a:ext cx="457200" cy="457200"/>
          </a:xfrm>
          <a:prstGeom prst="rect">
            <a:avLst/>
          </a:prstGeom>
        </p:spPr>
      </p:pic>
      <p:sp>
        <p:nvSpPr>
          <p:cNvPr id="17" name="Text 13"/>
          <p:cNvSpPr/>
          <p:nvPr/>
        </p:nvSpPr>
        <p:spPr>
          <a:xfrm>
            <a:off x="10543032" y="2039112"/>
            <a:ext cx="822960" cy="640080"/>
          </a:xfrm>
          <a:prstGeom prst="rect">
            <a:avLst/>
          </a:prstGeom>
          <a:noFill/>
          <a:ln/>
        </p:spPr>
        <p:txBody>
          <a:bodyPr wrap="square" lIns="0" tIns="0" rIns="0" bIns="0" rtlCol="0" anchor="ctr"/>
          <a:lstStyle/>
          <a:p>
            <a:pPr algn="r" indent="0" marL="0">
              <a:buNone/>
            </a:pPr>
            <a:r>
              <a:rPr lang="en-US" sz="3000" b="1" dirty="0">
                <a:solidFill>
                  <a:srgbClr val="3C352A"/>
                </a:solidFill>
                <a:latin typeface="Cambria" pitchFamily="34" charset="0"/>
                <a:ea typeface="Cambria" pitchFamily="34" charset="-122"/>
                <a:cs typeface="Cambria" pitchFamily="34" charset="-120"/>
              </a:rPr>
              <a:t>02</a:t>
            </a:r>
            <a:endParaRPr lang="en-US" sz="3000" dirty="0"/>
          </a:p>
        </p:txBody>
      </p:sp>
      <p:sp>
        <p:nvSpPr>
          <p:cNvPr id="18" name="Text 14"/>
          <p:cNvSpPr/>
          <p:nvPr/>
        </p:nvSpPr>
        <p:spPr>
          <a:xfrm>
            <a:off x="7616952" y="2185416"/>
            <a:ext cx="3108960" cy="45720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Reconnaître</a:t>
            </a:r>
            <a:endParaRPr lang="en-US" sz="2100" dirty="0"/>
          </a:p>
        </p:txBody>
      </p:sp>
      <p:sp>
        <p:nvSpPr>
          <p:cNvPr id="19" name="Text 15"/>
          <p:cNvSpPr/>
          <p:nvPr/>
        </p:nvSpPr>
        <p:spPr>
          <a:xfrm>
            <a:off x="7616952" y="2715768"/>
            <a:ext cx="3749040" cy="914400"/>
          </a:xfrm>
          <a:prstGeom prst="rect">
            <a:avLst/>
          </a:prstGeom>
          <a:noFill/>
          <a:ln/>
        </p:spPr>
        <p:txBody>
          <a:bodyPr wrap="square" lIns="0" tIns="0" rIns="0" bIns="0" rtlCol="0" anchor="ctr"/>
          <a:lstStyle/>
          <a:p>
            <a:pPr indent="0" marL="0">
              <a:lnSpc>
                <a:spcPct val="105000"/>
              </a:lnSpc>
              <a:buNone/>
            </a:pPr>
            <a:r>
              <a:rPr lang="en-US" sz="1400" dirty="0">
                <a:solidFill>
                  <a:srgbClr val="B4AD9F"/>
                </a:solidFill>
                <a:latin typeface="Calibri" pitchFamily="34" charset="0"/>
                <a:ea typeface="Calibri" pitchFamily="34" charset="-122"/>
                <a:cs typeface="Calibri" pitchFamily="34" charset="-120"/>
              </a:rPr>
              <a:t>Repérer la « ligne de tir » et les points de pincement.</a:t>
            </a:r>
            <a:endParaRPr lang="en-US" sz="1400" dirty="0"/>
          </a:p>
        </p:txBody>
      </p:sp>
      <p:sp>
        <p:nvSpPr>
          <p:cNvPr id="20" name="Shape 16"/>
          <p:cNvSpPr/>
          <p:nvPr/>
        </p:nvSpPr>
        <p:spPr>
          <a:xfrm>
            <a:off x="548640" y="4005072"/>
            <a:ext cx="5486400" cy="2057400"/>
          </a:xfrm>
          <a:prstGeom prst="roundRect">
            <a:avLst>
              <a:gd name="adj" fmla="val 4000"/>
            </a:avLst>
          </a:prstGeom>
          <a:solidFill>
            <a:srgbClr val="231E17"/>
          </a:solidFill>
          <a:ln w="12700">
            <a:solidFill>
              <a:srgbClr val="3C352A"/>
            </a:solidFill>
            <a:prstDash val="solid"/>
          </a:ln>
        </p:spPr>
      </p:sp>
      <p:sp>
        <p:nvSpPr>
          <p:cNvPr id="21" name="Shape 17"/>
          <p:cNvSpPr/>
          <p:nvPr/>
        </p:nvSpPr>
        <p:spPr>
          <a:xfrm>
            <a:off x="914400" y="4389120"/>
            <a:ext cx="914400" cy="914400"/>
          </a:xfrm>
          <a:prstGeom prst="oval">
            <a:avLst/>
          </a:prstGeom>
          <a:solidFill>
            <a:srgbClr val="1B1712"/>
          </a:solidFill>
          <a:ln w="19050">
            <a:solidFill>
              <a:srgbClr val="F2A93C"/>
            </a:solidFill>
            <a:prstDash val="solid"/>
          </a:ln>
        </p:spPr>
      </p:sp>
      <p:pic>
        <p:nvPicPr>
          <p:cNvPr id="22" name="Image 2" descr="preencoded.png">    </p:cNvPr>
          <p:cNvPicPr>
            <a:picLocks noChangeAspect="1"/>
          </p:cNvPicPr>
          <p:nvPr/>
        </p:nvPicPr>
        <p:blipFill>
          <a:blip r:embed="rId3"/>
          <a:stretch>
            <a:fillRect/>
          </a:stretch>
        </p:blipFill>
        <p:spPr>
          <a:xfrm>
            <a:off x="1143000" y="4617720"/>
            <a:ext cx="457200" cy="457200"/>
          </a:xfrm>
          <a:prstGeom prst="rect">
            <a:avLst/>
          </a:prstGeom>
        </p:spPr>
      </p:pic>
      <p:sp>
        <p:nvSpPr>
          <p:cNvPr id="23" name="Text 18"/>
          <p:cNvSpPr/>
          <p:nvPr/>
        </p:nvSpPr>
        <p:spPr>
          <a:xfrm>
            <a:off x="4937760" y="4261104"/>
            <a:ext cx="822960" cy="640080"/>
          </a:xfrm>
          <a:prstGeom prst="rect">
            <a:avLst/>
          </a:prstGeom>
          <a:noFill/>
          <a:ln/>
        </p:spPr>
        <p:txBody>
          <a:bodyPr wrap="square" lIns="0" tIns="0" rIns="0" bIns="0" rtlCol="0" anchor="ctr"/>
          <a:lstStyle/>
          <a:p>
            <a:pPr algn="r" indent="0" marL="0">
              <a:buNone/>
            </a:pPr>
            <a:r>
              <a:rPr lang="en-US" sz="3000" b="1" dirty="0">
                <a:solidFill>
                  <a:srgbClr val="3C352A"/>
                </a:solidFill>
                <a:latin typeface="Cambria" pitchFamily="34" charset="0"/>
                <a:ea typeface="Cambria" pitchFamily="34" charset="-122"/>
                <a:cs typeface="Cambria" pitchFamily="34" charset="-120"/>
              </a:rPr>
              <a:t>03</a:t>
            </a:r>
            <a:endParaRPr lang="en-US" sz="3000" dirty="0"/>
          </a:p>
        </p:txBody>
      </p:sp>
      <p:sp>
        <p:nvSpPr>
          <p:cNvPr id="24" name="Text 19"/>
          <p:cNvSpPr/>
          <p:nvPr/>
        </p:nvSpPr>
        <p:spPr>
          <a:xfrm>
            <a:off x="2011680" y="4407408"/>
            <a:ext cx="3108960" cy="45720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Choisir</a:t>
            </a:r>
            <a:endParaRPr lang="en-US" sz="2100" dirty="0"/>
          </a:p>
        </p:txBody>
      </p:sp>
      <p:sp>
        <p:nvSpPr>
          <p:cNvPr id="25" name="Text 20"/>
          <p:cNvSpPr/>
          <p:nvPr/>
        </p:nvSpPr>
        <p:spPr>
          <a:xfrm>
            <a:off x="2011680" y="4937760"/>
            <a:ext cx="3749040" cy="914400"/>
          </a:xfrm>
          <a:prstGeom prst="rect">
            <a:avLst/>
          </a:prstGeom>
          <a:noFill/>
          <a:ln/>
        </p:spPr>
        <p:txBody>
          <a:bodyPr wrap="square" lIns="0" tIns="0" rIns="0" bIns="0" rtlCol="0" anchor="ctr"/>
          <a:lstStyle/>
          <a:p>
            <a:pPr indent="0" marL="0">
              <a:lnSpc>
                <a:spcPct val="105000"/>
              </a:lnSpc>
              <a:buNone/>
            </a:pPr>
            <a:r>
              <a:rPr lang="en-US" sz="1400" dirty="0">
                <a:solidFill>
                  <a:srgbClr val="B4AD9F"/>
                </a:solidFill>
                <a:latin typeface="Calibri" pitchFamily="34" charset="0"/>
                <a:ea typeface="Calibri" pitchFamily="34" charset="-122"/>
                <a:cs typeface="Calibri" pitchFamily="34" charset="-120"/>
              </a:rPr>
              <a:t>Sélectionner et porter le bon gant pour chaque tâche.</a:t>
            </a:r>
            <a:endParaRPr lang="en-US" sz="1400" dirty="0"/>
          </a:p>
        </p:txBody>
      </p:sp>
      <p:sp>
        <p:nvSpPr>
          <p:cNvPr id="26" name="Shape 21"/>
          <p:cNvSpPr/>
          <p:nvPr/>
        </p:nvSpPr>
        <p:spPr>
          <a:xfrm>
            <a:off x="6153912" y="4005072"/>
            <a:ext cx="5486400" cy="2057400"/>
          </a:xfrm>
          <a:prstGeom prst="roundRect">
            <a:avLst>
              <a:gd name="adj" fmla="val 4000"/>
            </a:avLst>
          </a:prstGeom>
          <a:solidFill>
            <a:srgbClr val="231E17"/>
          </a:solidFill>
          <a:ln w="12700">
            <a:solidFill>
              <a:srgbClr val="3C352A"/>
            </a:solidFill>
            <a:prstDash val="solid"/>
          </a:ln>
        </p:spPr>
      </p:sp>
      <p:sp>
        <p:nvSpPr>
          <p:cNvPr id="27" name="Shape 22"/>
          <p:cNvSpPr/>
          <p:nvPr/>
        </p:nvSpPr>
        <p:spPr>
          <a:xfrm>
            <a:off x="6519672" y="4389120"/>
            <a:ext cx="914400" cy="914400"/>
          </a:xfrm>
          <a:prstGeom prst="oval">
            <a:avLst/>
          </a:prstGeom>
          <a:solidFill>
            <a:srgbClr val="1B1712"/>
          </a:solidFill>
          <a:ln w="19050">
            <a:solidFill>
              <a:srgbClr val="F2A93C"/>
            </a:solidFill>
            <a:prstDash val="solid"/>
          </a:ln>
        </p:spPr>
      </p:sp>
      <p:pic>
        <p:nvPicPr>
          <p:cNvPr id="28" name="Image 3" descr="preencoded.png">    </p:cNvPr>
          <p:cNvPicPr>
            <a:picLocks noChangeAspect="1"/>
          </p:cNvPicPr>
          <p:nvPr/>
        </p:nvPicPr>
        <p:blipFill>
          <a:blip r:embed="rId4"/>
          <a:stretch>
            <a:fillRect/>
          </a:stretch>
        </p:blipFill>
        <p:spPr>
          <a:xfrm>
            <a:off x="6748272" y="4617720"/>
            <a:ext cx="457200" cy="457200"/>
          </a:xfrm>
          <a:prstGeom prst="rect">
            <a:avLst/>
          </a:prstGeom>
        </p:spPr>
      </p:pic>
      <p:sp>
        <p:nvSpPr>
          <p:cNvPr id="29" name="Text 23"/>
          <p:cNvSpPr/>
          <p:nvPr/>
        </p:nvSpPr>
        <p:spPr>
          <a:xfrm>
            <a:off x="10543032" y="4261104"/>
            <a:ext cx="822960" cy="640080"/>
          </a:xfrm>
          <a:prstGeom prst="rect">
            <a:avLst/>
          </a:prstGeom>
          <a:noFill/>
          <a:ln/>
        </p:spPr>
        <p:txBody>
          <a:bodyPr wrap="square" lIns="0" tIns="0" rIns="0" bIns="0" rtlCol="0" anchor="ctr"/>
          <a:lstStyle/>
          <a:p>
            <a:pPr algn="r" indent="0" marL="0">
              <a:buNone/>
            </a:pPr>
            <a:r>
              <a:rPr lang="en-US" sz="3000" b="1" dirty="0">
                <a:solidFill>
                  <a:srgbClr val="3C352A"/>
                </a:solidFill>
                <a:latin typeface="Cambria" pitchFamily="34" charset="0"/>
                <a:ea typeface="Cambria" pitchFamily="34" charset="-122"/>
                <a:cs typeface="Cambria" pitchFamily="34" charset="-120"/>
              </a:rPr>
              <a:t>04</a:t>
            </a:r>
            <a:endParaRPr lang="en-US" sz="3000" dirty="0"/>
          </a:p>
        </p:txBody>
      </p:sp>
      <p:sp>
        <p:nvSpPr>
          <p:cNvPr id="30" name="Text 24"/>
          <p:cNvSpPr/>
          <p:nvPr/>
        </p:nvSpPr>
        <p:spPr>
          <a:xfrm>
            <a:off x="7616952" y="4407408"/>
            <a:ext cx="3108960" cy="45720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Réagir</a:t>
            </a:r>
            <a:endParaRPr lang="en-US" sz="2100" dirty="0"/>
          </a:p>
        </p:txBody>
      </p:sp>
      <p:sp>
        <p:nvSpPr>
          <p:cNvPr id="31" name="Text 25"/>
          <p:cNvSpPr/>
          <p:nvPr/>
        </p:nvSpPr>
        <p:spPr>
          <a:xfrm>
            <a:off x="7616952" y="4937760"/>
            <a:ext cx="3749040" cy="914400"/>
          </a:xfrm>
          <a:prstGeom prst="rect">
            <a:avLst/>
          </a:prstGeom>
          <a:noFill/>
          <a:ln/>
        </p:spPr>
        <p:txBody>
          <a:bodyPr wrap="square" lIns="0" tIns="0" rIns="0" bIns="0" rtlCol="0" anchor="ctr"/>
          <a:lstStyle/>
          <a:p>
            <a:pPr indent="0" marL="0">
              <a:lnSpc>
                <a:spcPct val="105000"/>
              </a:lnSpc>
              <a:buNone/>
            </a:pPr>
            <a:r>
              <a:rPr lang="en-US" sz="1400" dirty="0">
                <a:solidFill>
                  <a:srgbClr val="B4AD9F"/>
                </a:solidFill>
                <a:latin typeface="Calibri" pitchFamily="34" charset="0"/>
                <a:ea typeface="Calibri" pitchFamily="34" charset="-122"/>
                <a:cs typeface="Calibri" pitchFamily="34" charset="-120"/>
              </a:rPr>
              <a:t>Réagir vite et déclarer — même une simple égratignure.</a:t>
            </a:r>
            <a:endParaRPr lang="en-US" sz="1400" dirty="0"/>
          </a:p>
        </p:txBody>
      </p:sp>
      <p:sp>
        <p:nvSpPr>
          <p:cNvPr id="32" name="Text 26"/>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850" dirty="0">
                <a:solidFill>
                  <a:srgbClr val="857E70"/>
                </a:solidFill>
                <a:latin typeface="Calibri" pitchFamily="34" charset="0"/>
                <a:ea typeface="Calibri" pitchFamily="34" charset="-122"/>
                <a:cs typeface="Calibri" pitchFamily="34" charset="-120"/>
              </a:rPr>
              <a:t>Santé-Sécurité · Prévention des blessures aux mains</a:t>
            </a:r>
            <a:endParaRPr lang="en-US" sz="850" dirty="0"/>
          </a:p>
        </p:txBody>
      </p:sp>
      <p:sp>
        <p:nvSpPr>
          <p:cNvPr id="33" name="Text 27"/>
          <p:cNvSpPr/>
          <p:nvPr/>
        </p:nvSpPr>
        <p:spPr>
          <a:xfrm>
            <a:off x="11185855" y="6437376"/>
            <a:ext cx="457200" cy="274320"/>
          </a:xfrm>
          <a:prstGeom prst="rect">
            <a:avLst/>
          </a:prstGeom>
          <a:noFill/>
          <a:ln/>
        </p:spPr>
        <p:txBody>
          <a:bodyPr wrap="square" lIns="0" tIns="0" rIns="0" bIns="0" rtlCol="0" anchor="ctr"/>
          <a:lstStyle/>
          <a:p>
            <a:pPr algn="r" indent="0" marL="0">
              <a:buNone/>
            </a:pPr>
            <a:r>
              <a:rPr lang="en-US" sz="1100" dirty="0">
                <a:solidFill>
                  <a:srgbClr val="F2A93C"/>
                </a:solidFill>
                <a:latin typeface="Cambria" pitchFamily="34" charset="0"/>
                <a:ea typeface="Cambria" pitchFamily="34" charset="-122"/>
                <a:cs typeface="Cambria"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210"/>
        </a:solidFill>
      </p:bgPr>
    </p:bg>
    <p:spTree>
      <p:nvGrpSpPr>
        <p:cNvPr id="1" name=""/>
        <p:cNvGrpSpPr/>
        <p:nvPr/>
      </p:nvGrpSpPr>
      <p:grpSpPr>
        <a:xfrm>
          <a:off x="0" y="0"/>
          <a:ext cx="0" cy="0"/>
          <a:chOff x="0" y="0"/>
          <a:chExt cx="0" cy="0"/>
        </a:xfrm>
      </p:grpSpPr>
      <p:sp>
        <p:nvSpPr>
          <p:cNvPr id="2" name="Shape 0"/>
          <p:cNvSpPr/>
          <p:nvPr/>
        </p:nvSpPr>
        <p:spPr>
          <a:xfrm>
            <a:off x="548640" y="384048"/>
            <a:ext cx="310896" cy="310896"/>
          </a:xfrm>
          <a:prstGeom prst="roundRect">
            <a:avLst>
              <a:gd name="adj" fmla="val 17647"/>
            </a:avLst>
          </a:prstGeom>
          <a:solidFill>
            <a:srgbClr val="F2A93C"/>
          </a:solidFill>
          <a:ln/>
        </p:spPr>
      </p:sp>
      <p:sp>
        <p:nvSpPr>
          <p:cNvPr id="3" name="Shape 1"/>
          <p:cNvSpPr/>
          <p:nvPr/>
        </p:nvSpPr>
        <p:spPr>
          <a:xfrm rot="5400000">
            <a:off x="641909" y="464881"/>
            <a:ext cx="136794" cy="149230"/>
          </a:xfrm>
          <a:prstGeom prst="triangle">
            <a:avLst/>
          </a:prstGeom>
          <a:solidFill>
            <a:srgbClr val="141210"/>
          </a:solidFill>
          <a:ln/>
        </p:spPr>
      </p:sp>
      <p:sp>
        <p:nvSpPr>
          <p:cNvPr id="4" name="Text 2"/>
          <p:cNvSpPr/>
          <p:nvPr/>
        </p:nvSpPr>
        <p:spPr>
          <a:xfrm>
            <a:off x="969264" y="338328"/>
            <a:ext cx="2194560" cy="402336"/>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Dhilmar</a:t>
            </a:r>
            <a:endParaRPr lang="en-US" sz="1700" dirty="0"/>
          </a:p>
        </p:txBody>
      </p:sp>
      <p:sp>
        <p:nvSpPr>
          <p:cNvPr id="5" name="Text 3"/>
          <p:cNvSpPr/>
          <p:nvPr/>
        </p:nvSpPr>
        <p:spPr>
          <a:xfrm>
            <a:off x="9265615" y="420624"/>
            <a:ext cx="2377440" cy="274320"/>
          </a:xfrm>
          <a:prstGeom prst="rect">
            <a:avLst/>
          </a:prstGeom>
          <a:noFill/>
          <a:ln/>
        </p:spPr>
        <p:txBody>
          <a:bodyPr wrap="square" lIns="0" tIns="0" rIns="0" bIns="0" rtlCol="0" anchor="ctr"/>
          <a:lstStyle/>
          <a:p>
            <a:pPr algn="r" indent="0" marL="0">
              <a:buNone/>
            </a:pPr>
            <a:r>
              <a:rPr lang="en-US" sz="1050" b="1" spc="200" kern="0" dirty="0">
                <a:solidFill>
                  <a:srgbClr val="857E70"/>
                </a:solidFill>
                <a:latin typeface="Calibri" pitchFamily="34" charset="0"/>
                <a:ea typeface="Calibri" pitchFamily="34" charset="-122"/>
                <a:cs typeface="Calibri" pitchFamily="34" charset="-120"/>
              </a:rPr>
              <a:t>MINE </a:t>
            </a:r>
            <a:pPr algn="r" indent="0" marL="0">
              <a:buNone/>
            </a:pPr>
            <a:r>
              <a:rPr lang="en-US" sz="1050" b="1" spc="200" kern="0" dirty="0">
                <a:solidFill>
                  <a:srgbClr val="F2A93C"/>
                </a:solidFill>
                <a:latin typeface="Calibri" pitchFamily="34" charset="0"/>
                <a:ea typeface="Calibri" pitchFamily="34" charset="-122"/>
                <a:cs typeface="Calibri" pitchFamily="34" charset="-120"/>
              </a:rPr>
              <a:t>ÉLÉONORE</a:t>
            </a:r>
            <a:endParaRPr lang="en-US" sz="1050" dirty="0"/>
          </a:p>
        </p:txBody>
      </p:sp>
      <p:sp>
        <p:nvSpPr>
          <p:cNvPr id="6" name="Text 4"/>
          <p:cNvSpPr/>
          <p:nvPr/>
        </p:nvSpPr>
        <p:spPr>
          <a:xfrm>
            <a:off x="566928" y="475488"/>
            <a:ext cx="9144000" cy="274320"/>
          </a:xfrm>
          <a:prstGeom prst="rect">
            <a:avLst/>
          </a:prstGeom>
          <a:noFill/>
          <a:ln/>
        </p:spPr>
        <p:txBody>
          <a:bodyPr wrap="square" lIns="0" tIns="0" rIns="0" bIns="0" rtlCol="0" anchor="ctr"/>
          <a:lstStyle/>
          <a:p>
            <a:pPr indent="0" marL="0">
              <a:buNone/>
            </a:pPr>
            <a:r>
              <a:rPr lang="en-US" sz="1200" b="1" spc="300" kern="0" dirty="0">
                <a:solidFill>
                  <a:srgbClr val="F2A93C"/>
                </a:solidFill>
                <a:latin typeface="Calibri" pitchFamily="34" charset="0"/>
                <a:ea typeface="Calibri" pitchFamily="34" charset="-122"/>
                <a:cs typeface="Calibri" pitchFamily="34" charset="-120"/>
              </a:rPr>
              <a:t>CE QUE NOUS PROTÉGEONS</a:t>
            </a:r>
            <a:endParaRPr lang="en-US" sz="1200" dirty="0"/>
          </a:p>
        </p:txBody>
      </p:sp>
      <p:sp>
        <p:nvSpPr>
          <p:cNvPr id="7" name="Text 5"/>
          <p:cNvSpPr/>
          <p:nvPr/>
        </p:nvSpPr>
        <p:spPr>
          <a:xfrm>
            <a:off x="548640" y="768096"/>
            <a:ext cx="11064240" cy="822960"/>
          </a:xfrm>
          <a:prstGeom prst="rect">
            <a:avLst/>
          </a:prstGeom>
          <a:noFill/>
          <a:ln/>
        </p:spPr>
        <p:txBody>
          <a:bodyPr wrap="square" lIns="0" tIns="0" rIns="0" bIns="0" rtlCol="0" anchor="ctr"/>
          <a:lstStyle/>
          <a:p>
            <a:pPr indent="0" marL="0">
              <a:lnSpc>
                <a:spcPts val="3465"/>
              </a:lnSpc>
              <a:buNone/>
            </a:pPr>
            <a:r>
              <a:rPr lang="en-US" sz="3300" b="1" dirty="0">
                <a:solidFill>
                  <a:srgbClr val="FFFFFF"/>
                </a:solidFill>
                <a:latin typeface="Cambria" pitchFamily="34" charset="0"/>
                <a:ea typeface="Cambria" pitchFamily="34" charset="-122"/>
                <a:cs typeface="Cambria" pitchFamily="34" charset="-120"/>
              </a:rPr>
              <a:t>Vos mains, votre outil le plus précieux</a:t>
            </a:r>
            <a:endParaRPr lang="en-US" sz="3300" dirty="0"/>
          </a:p>
        </p:txBody>
      </p:sp>
      <p:sp>
        <p:nvSpPr>
          <p:cNvPr id="8" name="Text 6"/>
          <p:cNvSpPr/>
          <p:nvPr/>
        </p:nvSpPr>
        <p:spPr>
          <a:xfrm>
            <a:off x="548640" y="1965960"/>
            <a:ext cx="6675120" cy="731520"/>
          </a:xfrm>
          <a:prstGeom prst="rect">
            <a:avLst/>
          </a:prstGeom>
          <a:noFill/>
          <a:ln/>
        </p:spPr>
        <p:txBody>
          <a:bodyPr wrap="square" lIns="0" tIns="0" rIns="0" bIns="0" rtlCol="0" anchor="ctr"/>
          <a:lstStyle/>
          <a:p>
            <a:pPr indent="0" marL="0">
              <a:buNone/>
            </a:pPr>
            <a:r>
              <a:rPr lang="en-US" sz="3400" b="1" dirty="0">
                <a:solidFill>
                  <a:srgbClr val="F2A93C"/>
                </a:solidFill>
                <a:latin typeface="Cambria" pitchFamily="34" charset="0"/>
                <a:ea typeface="Cambria" pitchFamily="34" charset="-122"/>
                <a:cs typeface="Cambria" pitchFamily="34" charset="-120"/>
              </a:rPr>
              <a:t>Irremplaçables.</a:t>
            </a:r>
            <a:endParaRPr lang="en-US" sz="3400" dirty="0"/>
          </a:p>
        </p:txBody>
      </p:sp>
      <p:sp>
        <p:nvSpPr>
          <p:cNvPr id="9" name="Text 7"/>
          <p:cNvSpPr/>
          <p:nvPr/>
        </p:nvSpPr>
        <p:spPr>
          <a:xfrm>
            <a:off x="548640" y="2743200"/>
            <a:ext cx="6583680" cy="914400"/>
          </a:xfrm>
          <a:prstGeom prst="rect">
            <a:avLst/>
          </a:prstGeom>
          <a:noFill/>
          <a:ln/>
        </p:spPr>
        <p:txBody>
          <a:bodyPr wrap="square" lIns="0" tIns="0" rIns="0" bIns="0" rtlCol="0" anchor="ctr"/>
          <a:lstStyle/>
          <a:p>
            <a:pPr indent="0" marL="0">
              <a:lnSpc>
                <a:spcPct val="115000"/>
              </a:lnSpc>
              <a:buNone/>
            </a:pPr>
            <a:r>
              <a:rPr lang="en-US" sz="1700" dirty="0">
                <a:solidFill>
                  <a:srgbClr val="ECE7DD"/>
                </a:solidFill>
                <a:latin typeface="Calibri" pitchFamily="34" charset="0"/>
                <a:ea typeface="Calibri" pitchFamily="34" charset="-122"/>
                <a:cs typeface="Calibri" pitchFamily="34" charset="-120"/>
              </a:rPr>
              <a:t>27 os, des dizaines de muscles, de tendons, de vaisseaux et de nerfs </a:t>
            </a:r>
            <a:pPr indent="0" marL="0">
              <a:lnSpc>
                <a:spcPct val="115000"/>
              </a:lnSpc>
              <a:buNone/>
            </a:pPr>
            <a:r>
              <a:rPr lang="en-US" sz="1700" b="1" dirty="0">
                <a:solidFill>
                  <a:srgbClr val="ECE7DD"/>
                </a:solidFill>
                <a:latin typeface="Calibri" pitchFamily="34" charset="0"/>
                <a:ea typeface="Calibri" pitchFamily="34" charset="-122"/>
                <a:cs typeface="Calibri" pitchFamily="34" charset="-120"/>
              </a:rPr>
              <a:t>dans un espace minuscule.</a:t>
            </a:r>
            <a:endParaRPr lang="en-US" sz="1700" dirty="0"/>
          </a:p>
        </p:txBody>
      </p:sp>
      <p:sp>
        <p:nvSpPr>
          <p:cNvPr id="10" name="Text 8"/>
          <p:cNvSpPr/>
          <p:nvPr/>
        </p:nvSpPr>
        <p:spPr>
          <a:xfrm>
            <a:off x="548640" y="3657600"/>
            <a:ext cx="6583680" cy="822960"/>
          </a:xfrm>
          <a:prstGeom prst="rect">
            <a:avLst/>
          </a:prstGeom>
          <a:noFill/>
          <a:ln/>
        </p:spPr>
        <p:txBody>
          <a:bodyPr wrap="square" lIns="0" tIns="0" rIns="0" bIns="0" rtlCol="0" anchor="ctr"/>
          <a:lstStyle/>
          <a:p>
            <a:pPr indent="0" marL="0">
              <a:lnSpc>
                <a:spcPct val="115000"/>
              </a:lnSpc>
              <a:buNone/>
            </a:pPr>
            <a:r>
              <a:rPr lang="en-US" sz="1700" dirty="0">
                <a:solidFill>
                  <a:srgbClr val="ECE7DD"/>
                </a:solidFill>
                <a:latin typeface="Calibri" pitchFamily="34" charset="0"/>
                <a:ea typeface="Calibri" pitchFamily="34" charset="-122"/>
                <a:cs typeface="Calibri" pitchFamily="34" charset="-120"/>
              </a:rPr>
              <a:t>Une seule seconde d'inattention peut coûter </a:t>
            </a:r>
            <a:pPr indent="0" marL="0">
              <a:lnSpc>
                <a:spcPct val="115000"/>
              </a:lnSpc>
              <a:buNone/>
            </a:pPr>
            <a:r>
              <a:rPr lang="en-US" sz="1700" b="1" i="1" dirty="0">
                <a:solidFill>
                  <a:srgbClr val="F7C775"/>
                </a:solidFill>
                <a:latin typeface="Calibri" pitchFamily="34" charset="0"/>
                <a:ea typeface="Calibri" pitchFamily="34" charset="-122"/>
                <a:cs typeface="Calibri" pitchFamily="34" charset="-120"/>
              </a:rPr>
              <a:t>une mobilité — à vie.</a:t>
            </a:r>
            <a:endParaRPr lang="en-US" sz="1700" dirty="0"/>
          </a:p>
        </p:txBody>
      </p:sp>
      <p:sp>
        <p:nvSpPr>
          <p:cNvPr id="11" name="Shape 9"/>
          <p:cNvSpPr/>
          <p:nvPr/>
        </p:nvSpPr>
        <p:spPr>
          <a:xfrm>
            <a:off x="548640" y="4709160"/>
            <a:ext cx="6583680" cy="868680"/>
          </a:xfrm>
          <a:prstGeom prst="roundRect">
            <a:avLst>
              <a:gd name="adj" fmla="val 9474"/>
            </a:avLst>
          </a:prstGeom>
          <a:solidFill>
            <a:srgbClr val="2C261D"/>
          </a:solidFill>
          <a:ln w="9525">
            <a:solidFill>
              <a:srgbClr val="C9852A"/>
            </a:solidFill>
            <a:prstDash val="solid"/>
          </a:ln>
        </p:spPr>
      </p:sp>
      <p:sp>
        <p:nvSpPr>
          <p:cNvPr id="12" name="Shape 10"/>
          <p:cNvSpPr/>
          <p:nvPr/>
        </p:nvSpPr>
        <p:spPr>
          <a:xfrm>
            <a:off x="777240" y="4910328"/>
            <a:ext cx="475488" cy="475488"/>
          </a:xfrm>
          <a:prstGeom prst="oval">
            <a:avLst/>
          </a:prstGeom>
          <a:solidFill>
            <a:srgbClr val="141210"/>
          </a:solidFill>
          <a:ln w="19050">
            <a:solidFill>
              <a:srgbClr val="F2A93C"/>
            </a:solidFill>
            <a:prstDash val="solid"/>
          </a:ln>
        </p:spPr>
      </p:sp>
      <p:pic>
        <p:nvPicPr>
          <p:cNvPr id="13" name="Image 0" descr="preencoded.png">    </p:cNvPr>
          <p:cNvPicPr>
            <a:picLocks noChangeAspect="1"/>
          </p:cNvPicPr>
          <p:nvPr/>
        </p:nvPicPr>
        <p:blipFill>
          <a:blip r:embed="rId1"/>
          <a:stretch>
            <a:fillRect/>
          </a:stretch>
        </p:blipFill>
        <p:spPr>
          <a:xfrm>
            <a:off x="884225" y="5017313"/>
            <a:ext cx="261518" cy="261518"/>
          </a:xfrm>
          <a:prstGeom prst="rect">
            <a:avLst/>
          </a:prstGeom>
        </p:spPr>
      </p:pic>
      <p:sp>
        <p:nvSpPr>
          <p:cNvPr id="14" name="Text 11"/>
          <p:cNvSpPr/>
          <p:nvPr/>
        </p:nvSpPr>
        <p:spPr>
          <a:xfrm>
            <a:off x="1417320" y="4709160"/>
            <a:ext cx="5577840" cy="868680"/>
          </a:xfrm>
          <a:prstGeom prst="rect">
            <a:avLst/>
          </a:prstGeom>
          <a:noFill/>
          <a:ln/>
        </p:spPr>
        <p:txBody>
          <a:bodyPr wrap="square" lIns="0" tIns="0" rIns="0" bIns="0" rtlCol="0" anchor="ctr"/>
          <a:lstStyle/>
          <a:p>
            <a:pPr indent="0" marL="0">
              <a:buNone/>
            </a:pPr>
            <a:r>
              <a:rPr lang="en-US" sz="1450" dirty="0">
                <a:solidFill>
                  <a:srgbClr val="B4AD9F"/>
                </a:solidFill>
                <a:latin typeface="Calibri" pitchFamily="34" charset="0"/>
                <a:ea typeface="Calibri" pitchFamily="34" charset="-122"/>
                <a:cs typeface="Calibri" pitchFamily="34" charset="-120"/>
              </a:rPr>
              <a:t>Contrairement à un outil, </a:t>
            </a:r>
            <a:pPr indent="0" marL="0">
              <a:buNone/>
            </a:pPr>
            <a:r>
              <a:rPr lang="en-US" sz="1450" b="1" dirty="0">
                <a:solidFill>
                  <a:srgbClr val="FFFFFF"/>
                </a:solidFill>
                <a:latin typeface="Calibri" pitchFamily="34" charset="0"/>
                <a:ea typeface="Calibri" pitchFamily="34" charset="-122"/>
                <a:cs typeface="Calibri" pitchFamily="34" charset="-120"/>
              </a:rPr>
              <a:t>vos mains n'ont aucune pièce de rechange.</a:t>
            </a:r>
            <a:endParaRPr lang="en-US" sz="1450" dirty="0"/>
          </a:p>
        </p:txBody>
      </p:sp>
      <p:sp>
        <p:nvSpPr>
          <p:cNvPr id="15" name="Shape 12"/>
          <p:cNvSpPr/>
          <p:nvPr/>
        </p:nvSpPr>
        <p:spPr>
          <a:xfrm>
            <a:off x="7635240" y="1783080"/>
            <a:ext cx="3977640" cy="1874520"/>
          </a:xfrm>
          <a:prstGeom prst="roundRect">
            <a:avLst>
              <a:gd name="adj" fmla="val 4878"/>
            </a:avLst>
          </a:prstGeom>
          <a:solidFill>
            <a:srgbClr val="231E17"/>
          </a:solidFill>
          <a:ln w="12700">
            <a:solidFill>
              <a:srgbClr val="3C352A"/>
            </a:solidFill>
            <a:prstDash val="solid"/>
          </a:ln>
        </p:spPr>
      </p:sp>
      <p:sp>
        <p:nvSpPr>
          <p:cNvPr id="16" name="Shape 13"/>
          <p:cNvSpPr/>
          <p:nvPr/>
        </p:nvSpPr>
        <p:spPr>
          <a:xfrm>
            <a:off x="7955280" y="2057400"/>
            <a:ext cx="777240" cy="777240"/>
          </a:xfrm>
          <a:prstGeom prst="oval">
            <a:avLst/>
          </a:prstGeom>
          <a:solidFill>
            <a:srgbClr val="1B1712"/>
          </a:solidFill>
          <a:ln w="19050">
            <a:solidFill>
              <a:srgbClr val="F2A93C"/>
            </a:solidFill>
            <a:prstDash val="solid"/>
          </a:ln>
        </p:spPr>
      </p:sp>
      <p:pic>
        <p:nvPicPr>
          <p:cNvPr id="17" name="Image 1" descr="preencoded.png">    </p:cNvPr>
          <p:cNvPicPr>
            <a:picLocks noChangeAspect="1"/>
          </p:cNvPicPr>
          <p:nvPr/>
        </p:nvPicPr>
        <p:blipFill>
          <a:blip r:embed="rId2"/>
          <a:stretch>
            <a:fillRect/>
          </a:stretch>
        </p:blipFill>
        <p:spPr>
          <a:xfrm>
            <a:off x="8149590" y="2251710"/>
            <a:ext cx="388620" cy="388620"/>
          </a:xfrm>
          <a:prstGeom prst="rect">
            <a:avLst/>
          </a:prstGeom>
        </p:spPr>
      </p:pic>
      <p:sp>
        <p:nvSpPr>
          <p:cNvPr id="18" name="Text 14"/>
          <p:cNvSpPr/>
          <p:nvPr/>
        </p:nvSpPr>
        <p:spPr>
          <a:xfrm>
            <a:off x="8869680" y="1920240"/>
            <a:ext cx="2560320" cy="914400"/>
          </a:xfrm>
          <a:prstGeom prst="rect">
            <a:avLst/>
          </a:prstGeom>
          <a:noFill/>
          <a:ln/>
        </p:spPr>
        <p:txBody>
          <a:bodyPr wrap="square" lIns="0" tIns="0" rIns="0" bIns="0" rtlCol="0" anchor="ctr"/>
          <a:lstStyle/>
          <a:p>
            <a:pPr algn="l" indent="0" marL="0">
              <a:buNone/>
            </a:pPr>
            <a:r>
              <a:rPr lang="en-US" sz="5800" b="1" dirty="0">
                <a:solidFill>
                  <a:srgbClr val="FFFFFF"/>
                </a:solidFill>
                <a:latin typeface="Cambria" pitchFamily="34" charset="0"/>
                <a:ea typeface="Cambria" pitchFamily="34" charset="-122"/>
                <a:cs typeface="Cambria" pitchFamily="34" charset="-120"/>
              </a:rPr>
              <a:t>27</a:t>
            </a:r>
            <a:endParaRPr lang="en-US" sz="5800" dirty="0"/>
          </a:p>
        </p:txBody>
      </p:sp>
      <p:sp>
        <p:nvSpPr>
          <p:cNvPr id="19" name="Text 15"/>
          <p:cNvSpPr/>
          <p:nvPr/>
        </p:nvSpPr>
        <p:spPr>
          <a:xfrm>
            <a:off x="8915400" y="2788920"/>
            <a:ext cx="2560320" cy="365760"/>
          </a:xfrm>
          <a:prstGeom prst="rect">
            <a:avLst/>
          </a:prstGeom>
          <a:noFill/>
          <a:ln/>
        </p:spPr>
        <p:txBody>
          <a:bodyPr wrap="square" lIns="0" tIns="0" rIns="0" bIns="0" rtlCol="0" anchor="ctr"/>
          <a:lstStyle/>
          <a:p>
            <a:pPr indent="0" marL="0">
              <a:buNone/>
            </a:pPr>
            <a:r>
              <a:rPr lang="en-US" sz="1400" b="1" dirty="0">
                <a:solidFill>
                  <a:srgbClr val="F2A93C"/>
                </a:solidFill>
                <a:latin typeface="Calibri" pitchFamily="34" charset="0"/>
                <a:ea typeface="Calibri" pitchFamily="34" charset="-122"/>
                <a:cs typeface="Calibri" pitchFamily="34" charset="-120"/>
              </a:rPr>
              <a:t>os par main</a:t>
            </a:r>
            <a:endParaRPr lang="en-US" sz="1400" dirty="0"/>
          </a:p>
        </p:txBody>
      </p:sp>
      <p:sp>
        <p:nvSpPr>
          <p:cNvPr id="20" name="Text 16"/>
          <p:cNvSpPr/>
          <p:nvPr/>
        </p:nvSpPr>
        <p:spPr>
          <a:xfrm>
            <a:off x="7955280" y="3154680"/>
            <a:ext cx="3337560" cy="457200"/>
          </a:xfrm>
          <a:prstGeom prst="rect">
            <a:avLst/>
          </a:prstGeom>
          <a:noFill/>
          <a:ln/>
        </p:spPr>
        <p:txBody>
          <a:bodyPr wrap="square" lIns="0" tIns="0" rIns="0" bIns="0" rtlCol="0" anchor="ctr"/>
          <a:lstStyle/>
          <a:p>
            <a:pPr indent="0" marL="0">
              <a:buNone/>
            </a:pPr>
            <a:r>
              <a:rPr lang="en-US" sz="1250" dirty="0">
                <a:solidFill>
                  <a:srgbClr val="B4AD9F"/>
                </a:solidFill>
                <a:latin typeface="Calibri" pitchFamily="34" charset="0"/>
                <a:ea typeface="Calibri" pitchFamily="34" charset="-122"/>
                <a:cs typeface="Calibri" pitchFamily="34" charset="-120"/>
              </a:rPr>
              <a:t>soit plus du quart des os de tout le corps humain.</a:t>
            </a:r>
            <a:endParaRPr lang="en-US" sz="1250" dirty="0"/>
          </a:p>
        </p:txBody>
      </p:sp>
      <p:sp>
        <p:nvSpPr>
          <p:cNvPr id="21" name="Shape 17"/>
          <p:cNvSpPr/>
          <p:nvPr/>
        </p:nvSpPr>
        <p:spPr>
          <a:xfrm>
            <a:off x="7635240" y="3794760"/>
            <a:ext cx="3977640" cy="1783080"/>
          </a:xfrm>
          <a:prstGeom prst="roundRect">
            <a:avLst>
              <a:gd name="adj" fmla="val 5128"/>
            </a:avLst>
          </a:prstGeom>
          <a:solidFill>
            <a:srgbClr val="231E17"/>
          </a:solidFill>
          <a:ln w="12700">
            <a:solidFill>
              <a:srgbClr val="3C352A"/>
            </a:solidFill>
            <a:prstDash val="solid"/>
          </a:ln>
        </p:spPr>
      </p:sp>
      <p:sp>
        <p:nvSpPr>
          <p:cNvPr id="22" name="Shape 18"/>
          <p:cNvSpPr/>
          <p:nvPr/>
        </p:nvSpPr>
        <p:spPr>
          <a:xfrm>
            <a:off x="7955280" y="4069080"/>
            <a:ext cx="777240" cy="777240"/>
          </a:xfrm>
          <a:prstGeom prst="oval">
            <a:avLst/>
          </a:prstGeom>
          <a:solidFill>
            <a:srgbClr val="1B1712"/>
          </a:solidFill>
          <a:ln w="19050">
            <a:solidFill>
              <a:srgbClr val="E4572E"/>
            </a:solidFill>
            <a:prstDash val="solid"/>
          </a:ln>
        </p:spPr>
      </p:sp>
      <p:pic>
        <p:nvPicPr>
          <p:cNvPr id="23" name="Image 2" descr="preencoded.png">    </p:cNvPr>
          <p:cNvPicPr>
            <a:picLocks noChangeAspect="1"/>
          </p:cNvPicPr>
          <p:nvPr/>
        </p:nvPicPr>
        <p:blipFill>
          <a:blip r:embed="rId3"/>
          <a:stretch>
            <a:fillRect/>
          </a:stretch>
        </p:blipFill>
        <p:spPr>
          <a:xfrm>
            <a:off x="8149590" y="4263390"/>
            <a:ext cx="388620" cy="388620"/>
          </a:xfrm>
          <a:prstGeom prst="rect">
            <a:avLst/>
          </a:prstGeom>
        </p:spPr>
      </p:pic>
      <p:sp>
        <p:nvSpPr>
          <p:cNvPr id="24" name="Text 19"/>
          <p:cNvSpPr/>
          <p:nvPr/>
        </p:nvSpPr>
        <p:spPr>
          <a:xfrm>
            <a:off x="8869680" y="3977640"/>
            <a:ext cx="2651760" cy="822960"/>
          </a:xfrm>
          <a:prstGeom prst="rect">
            <a:avLst/>
          </a:prstGeom>
          <a:noFill/>
          <a:ln/>
        </p:spPr>
        <p:txBody>
          <a:bodyPr wrap="square" lIns="0" tIns="0" rIns="0" bIns="0" rtlCol="0" anchor="ctr"/>
          <a:lstStyle/>
          <a:p>
            <a:pPr algn="l" indent="0" marL="0">
              <a:buNone/>
            </a:pPr>
            <a:r>
              <a:rPr lang="en-US" sz="4600" b="1" dirty="0">
                <a:solidFill>
                  <a:srgbClr val="FFFFFF"/>
                </a:solidFill>
                <a:latin typeface="Cambria" pitchFamily="34" charset="0"/>
                <a:ea typeface="Cambria" pitchFamily="34" charset="-122"/>
                <a:cs typeface="Cambria" pitchFamily="34" charset="-120"/>
              </a:rPr>
              <a:t>1 M+</a:t>
            </a:r>
            <a:endParaRPr lang="en-US" sz="4600" dirty="0"/>
          </a:p>
        </p:txBody>
      </p:sp>
      <p:sp>
        <p:nvSpPr>
          <p:cNvPr id="25" name="Text 20"/>
          <p:cNvSpPr/>
          <p:nvPr/>
        </p:nvSpPr>
        <p:spPr>
          <a:xfrm>
            <a:off x="7955280" y="4754880"/>
            <a:ext cx="3337560" cy="731520"/>
          </a:xfrm>
          <a:prstGeom prst="rect">
            <a:avLst/>
          </a:prstGeom>
          <a:noFill/>
          <a:ln/>
        </p:spPr>
        <p:txBody>
          <a:bodyPr wrap="square" lIns="0" tIns="0" rIns="0" bIns="0" rtlCol="0" anchor="ctr"/>
          <a:lstStyle/>
          <a:p>
            <a:pPr indent="0" marL="0">
              <a:lnSpc>
                <a:spcPct val="105000"/>
              </a:lnSpc>
              <a:buNone/>
            </a:pPr>
            <a:r>
              <a:rPr lang="en-US" sz="1250" dirty="0">
                <a:solidFill>
                  <a:srgbClr val="B4AD9F"/>
                </a:solidFill>
                <a:latin typeface="Calibri" pitchFamily="34" charset="0"/>
                <a:ea typeface="Calibri" pitchFamily="34" charset="-122"/>
                <a:cs typeface="Calibri" pitchFamily="34" charset="-120"/>
              </a:rPr>
              <a:t>travailleurs traités à l'urgence chaque année pour une blessure à la main (É.-U.).</a:t>
            </a:r>
            <a:endParaRPr lang="en-US" sz="1250" dirty="0"/>
          </a:p>
        </p:txBody>
      </p:sp>
      <p:sp>
        <p:nvSpPr>
          <p:cNvPr id="26" name="Text 2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850" dirty="0">
                <a:solidFill>
                  <a:srgbClr val="857E70"/>
                </a:solidFill>
                <a:latin typeface="Calibri" pitchFamily="34" charset="0"/>
                <a:ea typeface="Calibri" pitchFamily="34" charset="-122"/>
                <a:cs typeface="Calibri" pitchFamily="34" charset="-120"/>
              </a:rPr>
              <a:t>Santé-Sécurité · Prévention des blessures aux mains</a:t>
            </a:r>
            <a:endParaRPr lang="en-US" sz="850" dirty="0"/>
          </a:p>
        </p:txBody>
      </p:sp>
      <p:sp>
        <p:nvSpPr>
          <p:cNvPr id="27" name="Text 22"/>
          <p:cNvSpPr/>
          <p:nvPr/>
        </p:nvSpPr>
        <p:spPr>
          <a:xfrm>
            <a:off x="11185855" y="6437376"/>
            <a:ext cx="457200" cy="274320"/>
          </a:xfrm>
          <a:prstGeom prst="rect">
            <a:avLst/>
          </a:prstGeom>
          <a:noFill/>
          <a:ln/>
        </p:spPr>
        <p:txBody>
          <a:bodyPr wrap="square" lIns="0" tIns="0" rIns="0" bIns="0" rtlCol="0" anchor="ctr"/>
          <a:lstStyle/>
          <a:p>
            <a:pPr algn="r" indent="0" marL="0">
              <a:buNone/>
            </a:pPr>
            <a:r>
              <a:rPr lang="en-US" sz="1100" dirty="0">
                <a:solidFill>
                  <a:srgbClr val="F2A93C"/>
                </a:solidFill>
                <a:latin typeface="Cambria" pitchFamily="34" charset="0"/>
                <a:ea typeface="Cambria" pitchFamily="34" charset="-122"/>
                <a:cs typeface="Cambria" pitchFamily="34" charset="-120"/>
              </a:rPr>
              <a:t>03</a:t>
            </a:r>
            <a:endParaRPr lang="en-US" sz="1100" dirty="0"/>
          </a:p>
        </p:txBody>
      </p:sp>
      <p:sp>
        <p:nvSpPr>
          <p:cNvPr id="28" name="Text 23"/>
          <p:cNvSpPr/>
          <p:nvPr/>
        </p:nvSpPr>
        <p:spPr>
          <a:xfrm>
            <a:off x="7635240" y="6455664"/>
            <a:ext cx="3931920" cy="274320"/>
          </a:xfrm>
          <a:prstGeom prst="rect">
            <a:avLst/>
          </a:prstGeom>
          <a:noFill/>
          <a:ln/>
        </p:spPr>
        <p:txBody>
          <a:bodyPr wrap="square" lIns="0" tIns="0" rIns="0" bIns="0" rtlCol="0" anchor="ctr"/>
          <a:lstStyle/>
          <a:p>
            <a:pPr algn="r" indent="0" marL="0">
              <a:buNone/>
            </a:pPr>
            <a:r>
              <a:rPr lang="en-US" sz="850" i="1" dirty="0">
                <a:solidFill>
                  <a:srgbClr val="857E70"/>
                </a:solidFill>
                <a:latin typeface="Calibri" pitchFamily="34" charset="0"/>
                <a:ea typeface="Calibri" pitchFamily="34" charset="-122"/>
                <a:cs typeface="Calibri" pitchFamily="34" charset="-120"/>
              </a:rPr>
              <a:t>Source : OSHA / BLS.</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210"/>
        </a:solidFill>
      </p:bgPr>
    </p:bg>
    <p:spTree>
      <p:nvGrpSpPr>
        <p:cNvPr id="1" name=""/>
        <p:cNvGrpSpPr/>
        <p:nvPr/>
      </p:nvGrpSpPr>
      <p:grpSpPr>
        <a:xfrm>
          <a:off x="0" y="0"/>
          <a:ext cx="0" cy="0"/>
          <a:chOff x="0" y="0"/>
          <a:chExt cx="0" cy="0"/>
        </a:xfrm>
      </p:grpSpPr>
      <p:sp>
        <p:nvSpPr>
          <p:cNvPr id="2" name="Shape 0"/>
          <p:cNvSpPr/>
          <p:nvPr/>
        </p:nvSpPr>
        <p:spPr>
          <a:xfrm>
            <a:off x="548640" y="384048"/>
            <a:ext cx="310896" cy="310896"/>
          </a:xfrm>
          <a:prstGeom prst="roundRect">
            <a:avLst>
              <a:gd name="adj" fmla="val 17647"/>
            </a:avLst>
          </a:prstGeom>
          <a:solidFill>
            <a:srgbClr val="F2A93C"/>
          </a:solidFill>
          <a:ln/>
        </p:spPr>
      </p:sp>
      <p:sp>
        <p:nvSpPr>
          <p:cNvPr id="3" name="Shape 1"/>
          <p:cNvSpPr/>
          <p:nvPr/>
        </p:nvSpPr>
        <p:spPr>
          <a:xfrm rot="5400000">
            <a:off x="641909" y="464881"/>
            <a:ext cx="136794" cy="149230"/>
          </a:xfrm>
          <a:prstGeom prst="triangle">
            <a:avLst/>
          </a:prstGeom>
          <a:solidFill>
            <a:srgbClr val="141210"/>
          </a:solidFill>
          <a:ln/>
        </p:spPr>
      </p:sp>
      <p:sp>
        <p:nvSpPr>
          <p:cNvPr id="4" name="Text 2"/>
          <p:cNvSpPr/>
          <p:nvPr/>
        </p:nvSpPr>
        <p:spPr>
          <a:xfrm>
            <a:off x="969264" y="338328"/>
            <a:ext cx="2194560" cy="402336"/>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Dhilmar</a:t>
            </a:r>
            <a:endParaRPr lang="en-US" sz="1700" dirty="0"/>
          </a:p>
        </p:txBody>
      </p:sp>
      <p:sp>
        <p:nvSpPr>
          <p:cNvPr id="5" name="Text 3"/>
          <p:cNvSpPr/>
          <p:nvPr/>
        </p:nvSpPr>
        <p:spPr>
          <a:xfrm>
            <a:off x="9265615" y="420624"/>
            <a:ext cx="2377440" cy="274320"/>
          </a:xfrm>
          <a:prstGeom prst="rect">
            <a:avLst/>
          </a:prstGeom>
          <a:noFill/>
          <a:ln/>
        </p:spPr>
        <p:txBody>
          <a:bodyPr wrap="square" lIns="0" tIns="0" rIns="0" bIns="0" rtlCol="0" anchor="ctr"/>
          <a:lstStyle/>
          <a:p>
            <a:pPr algn="r" indent="0" marL="0">
              <a:buNone/>
            </a:pPr>
            <a:r>
              <a:rPr lang="en-US" sz="1050" b="1" spc="200" kern="0" dirty="0">
                <a:solidFill>
                  <a:srgbClr val="857E70"/>
                </a:solidFill>
                <a:latin typeface="Calibri" pitchFamily="34" charset="0"/>
                <a:ea typeface="Calibri" pitchFamily="34" charset="-122"/>
                <a:cs typeface="Calibri" pitchFamily="34" charset="-120"/>
              </a:rPr>
              <a:t>MINE </a:t>
            </a:r>
            <a:pPr algn="r" indent="0" marL="0">
              <a:buNone/>
            </a:pPr>
            <a:r>
              <a:rPr lang="en-US" sz="1050" b="1" spc="200" kern="0" dirty="0">
                <a:solidFill>
                  <a:srgbClr val="F2A93C"/>
                </a:solidFill>
                <a:latin typeface="Calibri" pitchFamily="34" charset="0"/>
                <a:ea typeface="Calibri" pitchFamily="34" charset="-122"/>
                <a:cs typeface="Calibri" pitchFamily="34" charset="-120"/>
              </a:rPr>
              <a:t>ÉLÉONORE</a:t>
            </a:r>
            <a:endParaRPr lang="en-US" sz="1050" dirty="0"/>
          </a:p>
        </p:txBody>
      </p:sp>
      <p:sp>
        <p:nvSpPr>
          <p:cNvPr id="6" name="Text 4"/>
          <p:cNvSpPr/>
          <p:nvPr/>
        </p:nvSpPr>
        <p:spPr>
          <a:xfrm>
            <a:off x="566928" y="475488"/>
            <a:ext cx="9144000" cy="274320"/>
          </a:xfrm>
          <a:prstGeom prst="rect">
            <a:avLst/>
          </a:prstGeom>
          <a:noFill/>
          <a:ln/>
        </p:spPr>
        <p:txBody>
          <a:bodyPr wrap="square" lIns="0" tIns="0" rIns="0" bIns="0" rtlCol="0" anchor="ctr"/>
          <a:lstStyle/>
          <a:p>
            <a:pPr indent="0" marL="0">
              <a:buNone/>
            </a:pPr>
            <a:r>
              <a:rPr lang="en-US" sz="1200" b="1" spc="300" kern="0" dirty="0">
                <a:solidFill>
                  <a:srgbClr val="F2A93C"/>
                </a:solidFill>
                <a:latin typeface="Calibri" pitchFamily="34" charset="0"/>
                <a:ea typeface="Calibri" pitchFamily="34" charset="-122"/>
                <a:cs typeface="Calibri" pitchFamily="34" charset="-120"/>
              </a:rPr>
              <a:t>LA RÉALITÉ EN CHIFFRES</a:t>
            </a:r>
            <a:endParaRPr lang="en-US" sz="1200" dirty="0"/>
          </a:p>
        </p:txBody>
      </p:sp>
      <p:sp>
        <p:nvSpPr>
          <p:cNvPr id="7" name="Text 5"/>
          <p:cNvSpPr/>
          <p:nvPr/>
        </p:nvSpPr>
        <p:spPr>
          <a:xfrm>
            <a:off x="548640" y="768096"/>
            <a:ext cx="11064240" cy="822960"/>
          </a:xfrm>
          <a:prstGeom prst="rect">
            <a:avLst/>
          </a:prstGeom>
          <a:noFill/>
          <a:ln/>
        </p:spPr>
        <p:txBody>
          <a:bodyPr wrap="square" lIns="0" tIns="0" rIns="0" bIns="0" rtlCol="0" anchor="ctr"/>
          <a:lstStyle/>
          <a:p>
            <a:pPr indent="0" marL="0">
              <a:lnSpc>
                <a:spcPts val="3465"/>
              </a:lnSpc>
              <a:buNone/>
            </a:pPr>
            <a:r>
              <a:rPr lang="en-US" sz="3300" b="1" dirty="0">
                <a:solidFill>
                  <a:srgbClr val="FFFFFF"/>
                </a:solidFill>
                <a:latin typeface="Cambria" pitchFamily="34" charset="0"/>
                <a:ea typeface="Cambria" pitchFamily="34" charset="-122"/>
                <a:cs typeface="Cambria" pitchFamily="34" charset="-120"/>
              </a:rPr>
              <a:t>Les chiffres qui parlent</a:t>
            </a:r>
            <a:endParaRPr lang="en-US" sz="3300" dirty="0"/>
          </a:p>
        </p:txBody>
      </p:sp>
      <p:sp>
        <p:nvSpPr>
          <p:cNvPr id="8" name="Shape 6"/>
          <p:cNvSpPr/>
          <p:nvPr/>
        </p:nvSpPr>
        <p:spPr>
          <a:xfrm>
            <a:off x="548640" y="1783080"/>
            <a:ext cx="5486400" cy="2011680"/>
          </a:xfrm>
          <a:prstGeom prst="roundRect">
            <a:avLst>
              <a:gd name="adj" fmla="val 4091"/>
            </a:avLst>
          </a:prstGeom>
          <a:solidFill>
            <a:srgbClr val="231E17"/>
          </a:solidFill>
          <a:ln w="12700">
            <a:solidFill>
              <a:srgbClr val="3C352A"/>
            </a:solidFill>
            <a:prstDash val="solid"/>
          </a:ln>
        </p:spPr>
      </p:sp>
      <p:sp>
        <p:nvSpPr>
          <p:cNvPr id="9" name="Shape 7"/>
          <p:cNvSpPr/>
          <p:nvPr/>
        </p:nvSpPr>
        <p:spPr>
          <a:xfrm>
            <a:off x="4983480" y="2075688"/>
            <a:ext cx="731520" cy="731520"/>
          </a:xfrm>
          <a:prstGeom prst="oval">
            <a:avLst/>
          </a:prstGeom>
          <a:solidFill>
            <a:srgbClr val="1B1712"/>
          </a:solidFill>
          <a:ln w="19050">
            <a:solidFill>
              <a:srgbClr val="C9852A"/>
            </a:solidFill>
            <a:prstDash val="solid"/>
          </a:ln>
        </p:spPr>
      </p:sp>
      <p:pic>
        <p:nvPicPr>
          <p:cNvPr id="10" name="Image 0" descr="preencoded.png">    </p:cNvPr>
          <p:cNvPicPr>
            <a:picLocks noChangeAspect="1"/>
          </p:cNvPicPr>
          <p:nvPr/>
        </p:nvPicPr>
        <p:blipFill>
          <a:blip r:embed="rId1"/>
          <a:stretch>
            <a:fillRect/>
          </a:stretch>
        </p:blipFill>
        <p:spPr>
          <a:xfrm>
            <a:off x="5166360" y="2258568"/>
            <a:ext cx="365760" cy="365760"/>
          </a:xfrm>
          <a:prstGeom prst="rect">
            <a:avLst/>
          </a:prstGeom>
        </p:spPr>
      </p:pic>
      <p:sp>
        <p:nvSpPr>
          <p:cNvPr id="11" name="Text 8"/>
          <p:cNvSpPr/>
          <p:nvPr/>
        </p:nvSpPr>
        <p:spPr>
          <a:xfrm>
            <a:off x="877824" y="2002536"/>
            <a:ext cx="3291840" cy="1005840"/>
          </a:xfrm>
          <a:prstGeom prst="rect">
            <a:avLst/>
          </a:prstGeom>
          <a:noFill/>
          <a:ln/>
        </p:spPr>
        <p:txBody>
          <a:bodyPr wrap="square" lIns="0" tIns="0" rIns="0" bIns="0" rtlCol="0" anchor="ctr"/>
          <a:lstStyle/>
          <a:p>
            <a:pPr indent="0" marL="0">
              <a:buNone/>
            </a:pPr>
            <a:r>
              <a:rPr lang="en-US" sz="5200" b="1" dirty="0">
                <a:solidFill>
                  <a:srgbClr val="F2A93C"/>
                </a:solidFill>
                <a:latin typeface="Cambria" pitchFamily="34" charset="0"/>
                <a:ea typeface="Cambria" pitchFamily="34" charset="-122"/>
                <a:cs typeface="Cambria" pitchFamily="34" charset="-120"/>
              </a:rPr>
              <a:t>70 %</a:t>
            </a:r>
            <a:endParaRPr lang="en-US" sz="5200" dirty="0"/>
          </a:p>
        </p:txBody>
      </p:sp>
      <p:sp>
        <p:nvSpPr>
          <p:cNvPr id="12" name="Text 9"/>
          <p:cNvSpPr/>
          <p:nvPr/>
        </p:nvSpPr>
        <p:spPr>
          <a:xfrm>
            <a:off x="914400" y="2990088"/>
            <a:ext cx="4754880" cy="640080"/>
          </a:xfrm>
          <a:prstGeom prst="rect">
            <a:avLst/>
          </a:prstGeom>
          <a:noFill/>
          <a:ln/>
        </p:spPr>
        <p:txBody>
          <a:bodyPr wrap="square" lIns="0" tIns="0" rIns="0" bIns="0" rtlCol="0" anchor="ctr"/>
          <a:lstStyle/>
          <a:p>
            <a:pPr indent="0" marL="0">
              <a:lnSpc>
                <a:spcPct val="105000"/>
              </a:lnSpc>
              <a:buNone/>
            </a:pPr>
            <a:r>
              <a:rPr lang="en-US" sz="1450" dirty="0">
                <a:solidFill>
                  <a:srgbClr val="ECE7DD"/>
                </a:solidFill>
                <a:latin typeface="Calibri" pitchFamily="34" charset="0"/>
                <a:ea typeface="Calibri" pitchFamily="34" charset="-122"/>
                <a:cs typeface="Calibri" pitchFamily="34" charset="-120"/>
              </a:rPr>
              <a:t>des blessures aux mains surviennent sans aucun gant porté.</a:t>
            </a:r>
            <a:endParaRPr lang="en-US" sz="1450" dirty="0"/>
          </a:p>
        </p:txBody>
      </p:sp>
      <p:sp>
        <p:nvSpPr>
          <p:cNvPr id="13" name="Text 10"/>
          <p:cNvSpPr/>
          <p:nvPr/>
        </p:nvSpPr>
        <p:spPr>
          <a:xfrm>
            <a:off x="914400" y="3410712"/>
            <a:ext cx="4754880" cy="274320"/>
          </a:xfrm>
          <a:prstGeom prst="rect">
            <a:avLst/>
          </a:prstGeom>
          <a:noFill/>
          <a:ln/>
        </p:spPr>
        <p:txBody>
          <a:bodyPr wrap="square" lIns="0" tIns="0" rIns="0" bIns="0" rtlCol="0" anchor="ctr"/>
          <a:lstStyle/>
          <a:p>
            <a:pPr indent="0" marL="0">
              <a:buNone/>
            </a:pPr>
            <a:r>
              <a:rPr lang="en-US" sz="1000" i="1" dirty="0">
                <a:solidFill>
                  <a:srgbClr val="857E70"/>
                </a:solidFill>
                <a:latin typeface="Calibri" pitchFamily="34" charset="0"/>
                <a:ea typeface="Calibri" pitchFamily="34" charset="-122"/>
                <a:cs typeface="Calibri" pitchFamily="34" charset="-120"/>
              </a:rPr>
              <a:t>National Safety Council</a:t>
            </a:r>
            <a:endParaRPr lang="en-US" sz="1000" dirty="0"/>
          </a:p>
        </p:txBody>
      </p:sp>
      <p:sp>
        <p:nvSpPr>
          <p:cNvPr id="14" name="Shape 11"/>
          <p:cNvSpPr/>
          <p:nvPr/>
        </p:nvSpPr>
        <p:spPr>
          <a:xfrm>
            <a:off x="6153912" y="1783080"/>
            <a:ext cx="5486400" cy="2011680"/>
          </a:xfrm>
          <a:prstGeom prst="roundRect">
            <a:avLst>
              <a:gd name="adj" fmla="val 4091"/>
            </a:avLst>
          </a:prstGeom>
          <a:solidFill>
            <a:srgbClr val="231E17"/>
          </a:solidFill>
          <a:ln w="12700">
            <a:solidFill>
              <a:srgbClr val="3C352A"/>
            </a:solidFill>
            <a:prstDash val="solid"/>
          </a:ln>
        </p:spPr>
      </p:sp>
      <p:sp>
        <p:nvSpPr>
          <p:cNvPr id="15" name="Shape 12"/>
          <p:cNvSpPr/>
          <p:nvPr/>
        </p:nvSpPr>
        <p:spPr>
          <a:xfrm>
            <a:off x="10588752" y="2075688"/>
            <a:ext cx="731520" cy="731520"/>
          </a:xfrm>
          <a:prstGeom prst="oval">
            <a:avLst/>
          </a:prstGeom>
          <a:solidFill>
            <a:srgbClr val="1B1712"/>
          </a:solidFill>
          <a:ln w="19050">
            <a:solidFill>
              <a:srgbClr val="C9852A"/>
            </a:solidFill>
            <a:prstDash val="solid"/>
          </a:ln>
        </p:spPr>
      </p:sp>
      <p:pic>
        <p:nvPicPr>
          <p:cNvPr id="16" name="Image 1" descr="preencoded.png">    </p:cNvPr>
          <p:cNvPicPr>
            <a:picLocks noChangeAspect="1"/>
          </p:cNvPicPr>
          <p:nvPr/>
        </p:nvPicPr>
        <p:blipFill>
          <a:blip r:embed="rId2"/>
          <a:stretch>
            <a:fillRect/>
          </a:stretch>
        </p:blipFill>
        <p:spPr>
          <a:xfrm>
            <a:off x="10771632" y="2258568"/>
            <a:ext cx="365760" cy="365760"/>
          </a:xfrm>
          <a:prstGeom prst="rect">
            <a:avLst/>
          </a:prstGeom>
        </p:spPr>
      </p:pic>
      <p:sp>
        <p:nvSpPr>
          <p:cNvPr id="17" name="Text 13"/>
          <p:cNvSpPr/>
          <p:nvPr/>
        </p:nvSpPr>
        <p:spPr>
          <a:xfrm>
            <a:off x="6483096" y="2002536"/>
            <a:ext cx="3291840" cy="1005840"/>
          </a:xfrm>
          <a:prstGeom prst="rect">
            <a:avLst/>
          </a:prstGeom>
          <a:noFill/>
          <a:ln/>
        </p:spPr>
        <p:txBody>
          <a:bodyPr wrap="square" lIns="0" tIns="0" rIns="0" bIns="0" rtlCol="0" anchor="ctr"/>
          <a:lstStyle/>
          <a:p>
            <a:pPr indent="0" marL="0">
              <a:buNone/>
            </a:pPr>
            <a:r>
              <a:rPr lang="en-US" sz="5200" b="1" dirty="0">
                <a:solidFill>
                  <a:srgbClr val="F2A93C"/>
                </a:solidFill>
                <a:latin typeface="Cambria" pitchFamily="34" charset="0"/>
                <a:ea typeface="Cambria" pitchFamily="34" charset="-122"/>
                <a:cs typeface="Cambria" pitchFamily="34" charset="-120"/>
              </a:rPr>
              <a:t>71 %</a:t>
            </a:r>
            <a:endParaRPr lang="en-US" sz="5200" dirty="0"/>
          </a:p>
        </p:txBody>
      </p:sp>
      <p:sp>
        <p:nvSpPr>
          <p:cNvPr id="18" name="Text 14"/>
          <p:cNvSpPr/>
          <p:nvPr/>
        </p:nvSpPr>
        <p:spPr>
          <a:xfrm>
            <a:off x="6519672" y="2990088"/>
            <a:ext cx="4754880" cy="640080"/>
          </a:xfrm>
          <a:prstGeom prst="rect">
            <a:avLst/>
          </a:prstGeom>
          <a:noFill/>
          <a:ln/>
        </p:spPr>
        <p:txBody>
          <a:bodyPr wrap="square" lIns="0" tIns="0" rIns="0" bIns="0" rtlCol="0" anchor="ctr"/>
          <a:lstStyle/>
          <a:p>
            <a:pPr indent="0" marL="0">
              <a:lnSpc>
                <a:spcPct val="105000"/>
              </a:lnSpc>
              <a:buNone/>
            </a:pPr>
            <a:r>
              <a:rPr lang="en-US" sz="1450" dirty="0">
                <a:solidFill>
                  <a:srgbClr val="ECE7DD"/>
                </a:solidFill>
                <a:latin typeface="Calibri" pitchFamily="34" charset="0"/>
                <a:ea typeface="Calibri" pitchFamily="34" charset="-122"/>
                <a:cs typeface="Calibri" pitchFamily="34" charset="-120"/>
              </a:rPr>
              <a:t>des blessures aux mains sont évitables avec le bon ÉPI.</a:t>
            </a:r>
            <a:endParaRPr lang="en-US" sz="1450" dirty="0"/>
          </a:p>
        </p:txBody>
      </p:sp>
      <p:sp>
        <p:nvSpPr>
          <p:cNvPr id="19" name="Text 15"/>
          <p:cNvSpPr/>
          <p:nvPr/>
        </p:nvSpPr>
        <p:spPr>
          <a:xfrm>
            <a:off x="6519672" y="3410712"/>
            <a:ext cx="4754880" cy="274320"/>
          </a:xfrm>
          <a:prstGeom prst="rect">
            <a:avLst/>
          </a:prstGeom>
          <a:noFill/>
          <a:ln/>
        </p:spPr>
        <p:txBody>
          <a:bodyPr wrap="square" lIns="0" tIns="0" rIns="0" bIns="0" rtlCol="0" anchor="ctr"/>
          <a:lstStyle/>
          <a:p>
            <a:pPr indent="0" marL="0">
              <a:buNone/>
            </a:pPr>
            <a:r>
              <a:rPr lang="en-US" sz="1000" i="1" dirty="0">
                <a:solidFill>
                  <a:srgbClr val="857E70"/>
                </a:solidFill>
                <a:latin typeface="Calibri" pitchFamily="34" charset="0"/>
                <a:ea typeface="Calibri" pitchFamily="34" charset="-122"/>
                <a:cs typeface="Calibri" pitchFamily="34" charset="-120"/>
              </a:rPr>
              <a:t>OSHA</a:t>
            </a:r>
            <a:endParaRPr lang="en-US" sz="1000" dirty="0"/>
          </a:p>
        </p:txBody>
      </p:sp>
      <p:sp>
        <p:nvSpPr>
          <p:cNvPr id="20" name="Shape 16"/>
          <p:cNvSpPr/>
          <p:nvPr/>
        </p:nvSpPr>
        <p:spPr>
          <a:xfrm>
            <a:off x="548640" y="3959352"/>
            <a:ext cx="5486400" cy="2011680"/>
          </a:xfrm>
          <a:prstGeom prst="roundRect">
            <a:avLst>
              <a:gd name="adj" fmla="val 4091"/>
            </a:avLst>
          </a:prstGeom>
          <a:solidFill>
            <a:srgbClr val="231E17"/>
          </a:solidFill>
          <a:ln w="12700">
            <a:solidFill>
              <a:srgbClr val="3C352A"/>
            </a:solidFill>
            <a:prstDash val="solid"/>
          </a:ln>
        </p:spPr>
      </p:sp>
      <p:sp>
        <p:nvSpPr>
          <p:cNvPr id="21" name="Shape 17"/>
          <p:cNvSpPr/>
          <p:nvPr/>
        </p:nvSpPr>
        <p:spPr>
          <a:xfrm>
            <a:off x="4983480" y="4251960"/>
            <a:ext cx="731520" cy="731520"/>
          </a:xfrm>
          <a:prstGeom prst="oval">
            <a:avLst/>
          </a:prstGeom>
          <a:solidFill>
            <a:srgbClr val="1B1712"/>
          </a:solidFill>
          <a:ln w="19050">
            <a:solidFill>
              <a:srgbClr val="C9852A"/>
            </a:solidFill>
            <a:prstDash val="solid"/>
          </a:ln>
        </p:spPr>
      </p:sp>
      <p:pic>
        <p:nvPicPr>
          <p:cNvPr id="22" name="Image 2" descr="preencoded.png">    </p:cNvPr>
          <p:cNvPicPr>
            <a:picLocks noChangeAspect="1"/>
          </p:cNvPicPr>
          <p:nvPr/>
        </p:nvPicPr>
        <p:blipFill>
          <a:blip r:embed="rId3"/>
          <a:stretch>
            <a:fillRect/>
          </a:stretch>
        </p:blipFill>
        <p:spPr>
          <a:xfrm>
            <a:off x="5166360" y="4434840"/>
            <a:ext cx="365760" cy="365760"/>
          </a:xfrm>
          <a:prstGeom prst="rect">
            <a:avLst/>
          </a:prstGeom>
        </p:spPr>
      </p:pic>
      <p:sp>
        <p:nvSpPr>
          <p:cNvPr id="23" name="Text 18"/>
          <p:cNvSpPr/>
          <p:nvPr/>
        </p:nvSpPr>
        <p:spPr>
          <a:xfrm>
            <a:off x="877824" y="4178808"/>
            <a:ext cx="3291840" cy="1005840"/>
          </a:xfrm>
          <a:prstGeom prst="rect">
            <a:avLst/>
          </a:prstGeom>
          <a:noFill/>
          <a:ln/>
        </p:spPr>
        <p:txBody>
          <a:bodyPr wrap="square" lIns="0" tIns="0" rIns="0" bIns="0" rtlCol="0" anchor="ctr"/>
          <a:lstStyle/>
          <a:p>
            <a:pPr indent="0" marL="0">
              <a:buNone/>
            </a:pPr>
            <a:r>
              <a:rPr lang="en-US" sz="5200" b="1" dirty="0">
                <a:solidFill>
                  <a:srgbClr val="F2A93C"/>
                </a:solidFill>
                <a:latin typeface="Cambria" pitchFamily="34" charset="0"/>
                <a:ea typeface="Cambria" pitchFamily="34" charset="-122"/>
                <a:cs typeface="Cambria" pitchFamily="34" charset="-120"/>
              </a:rPr>
              <a:t>15 %</a:t>
            </a:r>
            <a:endParaRPr lang="en-US" sz="5200" dirty="0"/>
          </a:p>
        </p:txBody>
      </p:sp>
      <p:sp>
        <p:nvSpPr>
          <p:cNvPr id="24" name="Text 19"/>
          <p:cNvSpPr/>
          <p:nvPr/>
        </p:nvSpPr>
        <p:spPr>
          <a:xfrm>
            <a:off x="914400" y="5166360"/>
            <a:ext cx="4754880" cy="640080"/>
          </a:xfrm>
          <a:prstGeom prst="rect">
            <a:avLst/>
          </a:prstGeom>
          <a:noFill/>
          <a:ln/>
        </p:spPr>
        <p:txBody>
          <a:bodyPr wrap="square" lIns="0" tIns="0" rIns="0" bIns="0" rtlCol="0" anchor="ctr"/>
          <a:lstStyle/>
          <a:p>
            <a:pPr indent="0" marL="0">
              <a:lnSpc>
                <a:spcPct val="105000"/>
              </a:lnSpc>
              <a:buNone/>
            </a:pPr>
            <a:r>
              <a:rPr lang="en-US" sz="1450" dirty="0">
                <a:solidFill>
                  <a:srgbClr val="ECE7DD"/>
                </a:solidFill>
                <a:latin typeface="Calibri" pitchFamily="34" charset="0"/>
                <a:ea typeface="Calibri" pitchFamily="34" charset="-122"/>
                <a:cs typeface="Calibri" pitchFamily="34" charset="-120"/>
              </a:rPr>
              <a:t>des lésions indemnisées au Québec touchent poignets, mains et doigts.</a:t>
            </a:r>
            <a:endParaRPr lang="en-US" sz="1450" dirty="0"/>
          </a:p>
        </p:txBody>
      </p:sp>
      <p:sp>
        <p:nvSpPr>
          <p:cNvPr id="25" name="Text 20"/>
          <p:cNvSpPr/>
          <p:nvPr/>
        </p:nvSpPr>
        <p:spPr>
          <a:xfrm>
            <a:off x="914400" y="5586984"/>
            <a:ext cx="4754880" cy="274320"/>
          </a:xfrm>
          <a:prstGeom prst="rect">
            <a:avLst/>
          </a:prstGeom>
          <a:noFill/>
          <a:ln/>
        </p:spPr>
        <p:txBody>
          <a:bodyPr wrap="square" lIns="0" tIns="0" rIns="0" bIns="0" rtlCol="0" anchor="ctr"/>
          <a:lstStyle/>
          <a:p>
            <a:pPr indent="0" marL="0">
              <a:buNone/>
            </a:pPr>
            <a:r>
              <a:rPr lang="en-US" sz="1000" i="1" dirty="0">
                <a:solidFill>
                  <a:srgbClr val="857E70"/>
                </a:solidFill>
                <a:latin typeface="Calibri" pitchFamily="34" charset="0"/>
                <a:ea typeface="Calibri" pitchFamily="34" charset="-122"/>
                <a:cs typeface="Calibri" pitchFamily="34" charset="-120"/>
              </a:rPr>
              <a:t>CNESST</a:t>
            </a:r>
            <a:endParaRPr lang="en-US" sz="1000" dirty="0"/>
          </a:p>
        </p:txBody>
      </p:sp>
      <p:sp>
        <p:nvSpPr>
          <p:cNvPr id="26" name="Shape 21"/>
          <p:cNvSpPr/>
          <p:nvPr/>
        </p:nvSpPr>
        <p:spPr>
          <a:xfrm>
            <a:off x="6153912" y="3959352"/>
            <a:ext cx="5486400" cy="2011680"/>
          </a:xfrm>
          <a:prstGeom prst="roundRect">
            <a:avLst>
              <a:gd name="adj" fmla="val 4091"/>
            </a:avLst>
          </a:prstGeom>
          <a:solidFill>
            <a:srgbClr val="231E17"/>
          </a:solidFill>
          <a:ln w="12700">
            <a:solidFill>
              <a:srgbClr val="3C352A"/>
            </a:solidFill>
            <a:prstDash val="solid"/>
          </a:ln>
        </p:spPr>
      </p:sp>
      <p:sp>
        <p:nvSpPr>
          <p:cNvPr id="27" name="Shape 22"/>
          <p:cNvSpPr/>
          <p:nvPr/>
        </p:nvSpPr>
        <p:spPr>
          <a:xfrm>
            <a:off x="10588752" y="4251960"/>
            <a:ext cx="731520" cy="731520"/>
          </a:xfrm>
          <a:prstGeom prst="oval">
            <a:avLst/>
          </a:prstGeom>
          <a:solidFill>
            <a:srgbClr val="1B1712"/>
          </a:solidFill>
          <a:ln w="19050">
            <a:solidFill>
              <a:srgbClr val="C9852A"/>
            </a:solidFill>
            <a:prstDash val="solid"/>
          </a:ln>
        </p:spPr>
      </p:sp>
      <p:pic>
        <p:nvPicPr>
          <p:cNvPr id="28" name="Image 3" descr="preencoded.png">    </p:cNvPr>
          <p:cNvPicPr>
            <a:picLocks noChangeAspect="1"/>
          </p:cNvPicPr>
          <p:nvPr/>
        </p:nvPicPr>
        <p:blipFill>
          <a:blip r:embed="rId4"/>
          <a:stretch>
            <a:fillRect/>
          </a:stretch>
        </p:blipFill>
        <p:spPr>
          <a:xfrm>
            <a:off x="10771632" y="4434840"/>
            <a:ext cx="365760" cy="365760"/>
          </a:xfrm>
          <a:prstGeom prst="rect">
            <a:avLst/>
          </a:prstGeom>
        </p:spPr>
      </p:pic>
      <p:sp>
        <p:nvSpPr>
          <p:cNvPr id="29" name="Text 23"/>
          <p:cNvSpPr/>
          <p:nvPr/>
        </p:nvSpPr>
        <p:spPr>
          <a:xfrm>
            <a:off x="6483096" y="4178808"/>
            <a:ext cx="3291840" cy="1005840"/>
          </a:xfrm>
          <a:prstGeom prst="rect">
            <a:avLst/>
          </a:prstGeom>
          <a:noFill/>
          <a:ln/>
        </p:spPr>
        <p:txBody>
          <a:bodyPr wrap="square" lIns="0" tIns="0" rIns="0" bIns="0" rtlCol="0" anchor="ctr"/>
          <a:lstStyle/>
          <a:p>
            <a:pPr indent="0" marL="0">
              <a:buNone/>
            </a:pPr>
            <a:r>
              <a:rPr lang="en-US" sz="5200" b="1" dirty="0">
                <a:solidFill>
                  <a:srgbClr val="F2A93C"/>
                </a:solidFill>
                <a:latin typeface="Cambria" pitchFamily="34" charset="0"/>
                <a:ea typeface="Cambria" pitchFamily="34" charset="-122"/>
                <a:cs typeface="Cambria" pitchFamily="34" charset="-120"/>
              </a:rPr>
              <a:t>60 %+</a:t>
            </a:r>
            <a:endParaRPr lang="en-US" sz="5200" dirty="0"/>
          </a:p>
        </p:txBody>
      </p:sp>
      <p:sp>
        <p:nvSpPr>
          <p:cNvPr id="30" name="Text 24"/>
          <p:cNvSpPr/>
          <p:nvPr/>
        </p:nvSpPr>
        <p:spPr>
          <a:xfrm>
            <a:off x="6519672" y="5166360"/>
            <a:ext cx="4754880" cy="640080"/>
          </a:xfrm>
          <a:prstGeom prst="rect">
            <a:avLst/>
          </a:prstGeom>
          <a:noFill/>
          <a:ln/>
        </p:spPr>
        <p:txBody>
          <a:bodyPr wrap="square" lIns="0" tIns="0" rIns="0" bIns="0" rtlCol="0" anchor="ctr"/>
          <a:lstStyle/>
          <a:p>
            <a:pPr indent="0" marL="0">
              <a:lnSpc>
                <a:spcPct val="105000"/>
              </a:lnSpc>
              <a:buNone/>
            </a:pPr>
            <a:r>
              <a:rPr lang="en-US" sz="1450" dirty="0">
                <a:solidFill>
                  <a:srgbClr val="ECE7DD"/>
                </a:solidFill>
                <a:latin typeface="Calibri" pitchFamily="34" charset="0"/>
                <a:ea typeface="Calibri" pitchFamily="34" charset="-122"/>
                <a:cs typeface="Calibri" pitchFamily="34" charset="-120"/>
              </a:rPr>
              <a:t>des blessures avec jours perdus : fractures ou amputations.</a:t>
            </a:r>
            <a:endParaRPr lang="en-US" sz="1450" dirty="0"/>
          </a:p>
        </p:txBody>
      </p:sp>
      <p:sp>
        <p:nvSpPr>
          <p:cNvPr id="31" name="Text 25"/>
          <p:cNvSpPr/>
          <p:nvPr/>
        </p:nvSpPr>
        <p:spPr>
          <a:xfrm>
            <a:off x="6519672" y="5586984"/>
            <a:ext cx="4754880" cy="274320"/>
          </a:xfrm>
          <a:prstGeom prst="rect">
            <a:avLst/>
          </a:prstGeom>
          <a:noFill/>
          <a:ln/>
        </p:spPr>
        <p:txBody>
          <a:bodyPr wrap="square" lIns="0" tIns="0" rIns="0" bIns="0" rtlCol="0" anchor="ctr"/>
          <a:lstStyle/>
          <a:p>
            <a:pPr indent="0" marL="0">
              <a:buNone/>
            </a:pPr>
            <a:r>
              <a:rPr lang="en-US" sz="1000" i="1" dirty="0">
                <a:solidFill>
                  <a:srgbClr val="857E70"/>
                </a:solidFill>
                <a:latin typeface="Calibri" pitchFamily="34" charset="0"/>
                <a:ea typeface="Calibri" pitchFamily="34" charset="-122"/>
                <a:cs typeface="Calibri" pitchFamily="34" charset="-120"/>
              </a:rPr>
              <a:t>NIOSH Mining</a:t>
            </a:r>
            <a:endParaRPr lang="en-US" sz="1000" dirty="0"/>
          </a:p>
        </p:txBody>
      </p:sp>
      <p:sp>
        <p:nvSpPr>
          <p:cNvPr id="32" name="Text 26"/>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850" dirty="0">
                <a:solidFill>
                  <a:srgbClr val="857E70"/>
                </a:solidFill>
                <a:latin typeface="Calibri" pitchFamily="34" charset="0"/>
                <a:ea typeface="Calibri" pitchFamily="34" charset="-122"/>
                <a:cs typeface="Calibri" pitchFamily="34" charset="-120"/>
              </a:rPr>
              <a:t>Santé-Sécurité · Prévention des blessures aux mains</a:t>
            </a:r>
            <a:endParaRPr lang="en-US" sz="850" dirty="0"/>
          </a:p>
        </p:txBody>
      </p:sp>
      <p:sp>
        <p:nvSpPr>
          <p:cNvPr id="33" name="Text 27"/>
          <p:cNvSpPr/>
          <p:nvPr/>
        </p:nvSpPr>
        <p:spPr>
          <a:xfrm>
            <a:off x="11185855" y="6437376"/>
            <a:ext cx="457200" cy="274320"/>
          </a:xfrm>
          <a:prstGeom prst="rect">
            <a:avLst/>
          </a:prstGeom>
          <a:noFill/>
          <a:ln/>
        </p:spPr>
        <p:txBody>
          <a:bodyPr wrap="square" lIns="0" tIns="0" rIns="0" bIns="0" rtlCol="0" anchor="ctr"/>
          <a:lstStyle/>
          <a:p>
            <a:pPr algn="r" indent="0" marL="0">
              <a:buNone/>
            </a:pPr>
            <a:r>
              <a:rPr lang="en-US" sz="1100" dirty="0">
                <a:solidFill>
                  <a:srgbClr val="F2A93C"/>
                </a:solidFill>
                <a:latin typeface="Cambria" pitchFamily="34" charset="0"/>
                <a:ea typeface="Cambria" pitchFamily="34" charset="-122"/>
                <a:cs typeface="Cambria"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210"/>
        </a:solidFill>
      </p:bgPr>
    </p:bg>
    <p:spTree>
      <p:nvGrpSpPr>
        <p:cNvPr id="1" name=""/>
        <p:cNvGrpSpPr/>
        <p:nvPr/>
      </p:nvGrpSpPr>
      <p:grpSpPr>
        <a:xfrm>
          <a:off x="0" y="0"/>
          <a:ext cx="0" cy="0"/>
          <a:chOff x="0" y="0"/>
          <a:chExt cx="0" cy="0"/>
        </a:xfrm>
      </p:grpSpPr>
      <p:sp>
        <p:nvSpPr>
          <p:cNvPr id="2" name="Shape 0"/>
          <p:cNvSpPr/>
          <p:nvPr/>
        </p:nvSpPr>
        <p:spPr>
          <a:xfrm>
            <a:off x="548640" y="384048"/>
            <a:ext cx="310896" cy="310896"/>
          </a:xfrm>
          <a:prstGeom prst="roundRect">
            <a:avLst>
              <a:gd name="adj" fmla="val 17647"/>
            </a:avLst>
          </a:prstGeom>
          <a:solidFill>
            <a:srgbClr val="F2A93C"/>
          </a:solidFill>
          <a:ln/>
        </p:spPr>
      </p:sp>
      <p:sp>
        <p:nvSpPr>
          <p:cNvPr id="3" name="Shape 1"/>
          <p:cNvSpPr/>
          <p:nvPr/>
        </p:nvSpPr>
        <p:spPr>
          <a:xfrm rot="5400000">
            <a:off x="641909" y="464881"/>
            <a:ext cx="136794" cy="149230"/>
          </a:xfrm>
          <a:prstGeom prst="triangle">
            <a:avLst/>
          </a:prstGeom>
          <a:solidFill>
            <a:srgbClr val="141210"/>
          </a:solidFill>
          <a:ln/>
        </p:spPr>
      </p:sp>
      <p:sp>
        <p:nvSpPr>
          <p:cNvPr id="4" name="Text 2"/>
          <p:cNvSpPr/>
          <p:nvPr/>
        </p:nvSpPr>
        <p:spPr>
          <a:xfrm>
            <a:off x="969264" y="338328"/>
            <a:ext cx="2194560" cy="402336"/>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Dhilmar</a:t>
            </a:r>
            <a:endParaRPr lang="en-US" sz="1700" dirty="0"/>
          </a:p>
        </p:txBody>
      </p:sp>
      <p:sp>
        <p:nvSpPr>
          <p:cNvPr id="5" name="Text 3"/>
          <p:cNvSpPr/>
          <p:nvPr/>
        </p:nvSpPr>
        <p:spPr>
          <a:xfrm>
            <a:off x="9265615" y="420624"/>
            <a:ext cx="2377440" cy="274320"/>
          </a:xfrm>
          <a:prstGeom prst="rect">
            <a:avLst/>
          </a:prstGeom>
          <a:noFill/>
          <a:ln/>
        </p:spPr>
        <p:txBody>
          <a:bodyPr wrap="square" lIns="0" tIns="0" rIns="0" bIns="0" rtlCol="0" anchor="ctr"/>
          <a:lstStyle/>
          <a:p>
            <a:pPr algn="r" indent="0" marL="0">
              <a:buNone/>
            </a:pPr>
            <a:r>
              <a:rPr lang="en-US" sz="1050" b="1" spc="200" kern="0" dirty="0">
                <a:solidFill>
                  <a:srgbClr val="857E70"/>
                </a:solidFill>
                <a:latin typeface="Calibri" pitchFamily="34" charset="0"/>
                <a:ea typeface="Calibri" pitchFamily="34" charset="-122"/>
                <a:cs typeface="Calibri" pitchFamily="34" charset="-120"/>
              </a:rPr>
              <a:t>MINE </a:t>
            </a:r>
            <a:pPr algn="r" indent="0" marL="0">
              <a:buNone/>
            </a:pPr>
            <a:r>
              <a:rPr lang="en-US" sz="1050" b="1" spc="200" kern="0" dirty="0">
                <a:solidFill>
                  <a:srgbClr val="F2A93C"/>
                </a:solidFill>
                <a:latin typeface="Calibri" pitchFamily="34" charset="0"/>
                <a:ea typeface="Calibri" pitchFamily="34" charset="-122"/>
                <a:cs typeface="Calibri" pitchFamily="34" charset="-120"/>
              </a:rPr>
              <a:t>ÉLÉONORE</a:t>
            </a:r>
            <a:endParaRPr lang="en-US" sz="1050" dirty="0"/>
          </a:p>
        </p:txBody>
      </p:sp>
      <p:sp>
        <p:nvSpPr>
          <p:cNvPr id="6" name="Text 4"/>
          <p:cNvSpPr/>
          <p:nvPr/>
        </p:nvSpPr>
        <p:spPr>
          <a:xfrm>
            <a:off x="566928" y="475488"/>
            <a:ext cx="9144000" cy="274320"/>
          </a:xfrm>
          <a:prstGeom prst="rect">
            <a:avLst/>
          </a:prstGeom>
          <a:noFill/>
          <a:ln/>
        </p:spPr>
        <p:txBody>
          <a:bodyPr wrap="square" lIns="0" tIns="0" rIns="0" bIns="0" rtlCol="0" anchor="ctr"/>
          <a:lstStyle/>
          <a:p>
            <a:pPr indent="0" marL="0">
              <a:buNone/>
            </a:pPr>
            <a:r>
              <a:rPr lang="en-US" sz="1200" b="1" spc="300" kern="0" dirty="0">
                <a:solidFill>
                  <a:srgbClr val="F2A93C"/>
                </a:solidFill>
                <a:latin typeface="Calibri" pitchFamily="34" charset="0"/>
                <a:ea typeface="Calibri" pitchFamily="34" charset="-122"/>
                <a:cs typeface="Calibri" pitchFamily="34" charset="-120"/>
              </a:rPr>
              <a:t>LE PORTRAIT DU SECTEUR MINIER</a:t>
            </a:r>
            <a:endParaRPr lang="en-US" sz="1200" dirty="0"/>
          </a:p>
        </p:txBody>
      </p:sp>
      <p:sp>
        <p:nvSpPr>
          <p:cNvPr id="7" name="Text 5"/>
          <p:cNvSpPr/>
          <p:nvPr/>
        </p:nvSpPr>
        <p:spPr>
          <a:xfrm>
            <a:off x="548640" y="768096"/>
            <a:ext cx="11064240" cy="822960"/>
          </a:xfrm>
          <a:prstGeom prst="rect">
            <a:avLst/>
          </a:prstGeom>
          <a:noFill/>
          <a:ln/>
        </p:spPr>
        <p:txBody>
          <a:bodyPr wrap="square" lIns="0" tIns="0" rIns="0" bIns="0" rtlCol="0" anchor="ctr"/>
          <a:lstStyle/>
          <a:p>
            <a:pPr indent="0" marL="0">
              <a:lnSpc>
                <a:spcPts val="3465"/>
              </a:lnSpc>
              <a:buNone/>
            </a:pPr>
            <a:r>
              <a:rPr lang="en-US" sz="3300" b="1" dirty="0">
                <a:solidFill>
                  <a:srgbClr val="FFFFFF"/>
                </a:solidFill>
                <a:latin typeface="Cambria" pitchFamily="34" charset="0"/>
                <a:ea typeface="Cambria" pitchFamily="34" charset="-122"/>
                <a:cs typeface="Cambria" pitchFamily="34" charset="-120"/>
              </a:rPr>
              <a:t>Dans nos mines, la réalité</a:t>
            </a:r>
            <a:endParaRPr lang="en-US" sz="3300" dirty="0"/>
          </a:p>
        </p:txBody>
      </p:sp>
      <p:sp>
        <p:nvSpPr>
          <p:cNvPr id="8" name="Text 6"/>
          <p:cNvSpPr/>
          <p:nvPr/>
        </p:nvSpPr>
        <p:spPr>
          <a:xfrm>
            <a:off x="548640" y="1783080"/>
            <a:ext cx="6035040" cy="320040"/>
          </a:xfrm>
          <a:prstGeom prst="rect">
            <a:avLst/>
          </a:prstGeom>
          <a:noFill/>
          <a:ln/>
        </p:spPr>
        <p:txBody>
          <a:bodyPr wrap="square" lIns="0" tIns="0" rIns="0" bIns="0" rtlCol="0" anchor="ctr"/>
          <a:lstStyle/>
          <a:p>
            <a:pPr indent="0" marL="0">
              <a:buNone/>
            </a:pPr>
            <a:r>
              <a:rPr lang="en-US" sz="1300" b="1" dirty="0">
                <a:solidFill>
                  <a:srgbClr val="B4AD9F"/>
                </a:solidFill>
                <a:latin typeface="Calibri" pitchFamily="34" charset="0"/>
                <a:ea typeface="Calibri" pitchFamily="34" charset="-122"/>
                <a:cs typeface="Calibri" pitchFamily="34" charset="-120"/>
              </a:rPr>
              <a:t>Types de blessures aux mains et doigts (mines)</a:t>
            </a:r>
            <a:endParaRPr lang="en-US" sz="1300" dirty="0"/>
          </a:p>
        </p:txBody>
      </p:sp>
      <p:graphicFrame>
        <p:nvGraphicFramePr>
          <p:cNvPr id="9" name="Chart 0" descr=""/>
          <p:cNvGraphicFramePr/>
          <p:nvPr/>
        </p:nvGraphicFramePr>
        <p:xfrm>
          <a:off x="457200" y="2148840"/>
          <a:ext cx="6217920" cy="356616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548640" y="5715000"/>
            <a:ext cx="6035040" cy="274320"/>
          </a:xfrm>
          <a:prstGeom prst="rect">
            <a:avLst/>
          </a:prstGeom>
          <a:noFill/>
          <a:ln/>
        </p:spPr>
        <p:txBody>
          <a:bodyPr wrap="square" lIns="0" tIns="0" rIns="0" bIns="0" rtlCol="0" anchor="ctr"/>
          <a:lstStyle/>
          <a:p>
            <a:pPr indent="0" marL="0">
              <a:buNone/>
            </a:pPr>
            <a:r>
              <a:rPr lang="en-US" sz="900" i="1" dirty="0">
                <a:solidFill>
                  <a:srgbClr val="857E70"/>
                </a:solidFill>
                <a:latin typeface="Calibri" pitchFamily="34" charset="0"/>
                <a:ea typeface="Calibri" pitchFamily="34" charset="-122"/>
                <a:cs typeface="Calibri" pitchFamily="34" charset="-120"/>
              </a:rPr>
              <a:t>Source : MSHA / NIOSH Mining.</a:t>
            </a:r>
            <a:endParaRPr lang="en-US" sz="900" dirty="0"/>
          </a:p>
        </p:txBody>
      </p:sp>
      <p:sp>
        <p:nvSpPr>
          <p:cNvPr id="11" name="Shape 8"/>
          <p:cNvSpPr/>
          <p:nvPr/>
        </p:nvSpPr>
        <p:spPr>
          <a:xfrm>
            <a:off x="7040880" y="1783080"/>
            <a:ext cx="4617720" cy="1783080"/>
          </a:xfrm>
          <a:prstGeom prst="roundRect">
            <a:avLst>
              <a:gd name="adj" fmla="val 5128"/>
            </a:avLst>
          </a:prstGeom>
          <a:solidFill>
            <a:srgbClr val="2C261D"/>
          </a:solidFill>
          <a:ln w="12700">
            <a:solidFill>
              <a:srgbClr val="C9852A"/>
            </a:solidFill>
            <a:prstDash val="solid"/>
          </a:ln>
        </p:spPr>
      </p:sp>
      <p:sp>
        <p:nvSpPr>
          <p:cNvPr id="12" name="Text 9"/>
          <p:cNvSpPr/>
          <p:nvPr/>
        </p:nvSpPr>
        <p:spPr>
          <a:xfrm>
            <a:off x="7360920" y="2011680"/>
            <a:ext cx="3977640" cy="1371600"/>
          </a:xfrm>
          <a:prstGeom prst="rect">
            <a:avLst/>
          </a:prstGeom>
          <a:noFill/>
          <a:ln/>
        </p:spPr>
        <p:txBody>
          <a:bodyPr wrap="square" lIns="0" tIns="0" rIns="0" bIns="0" rtlCol="0" anchor="t"/>
          <a:lstStyle/>
          <a:p>
            <a:pPr indent="0" marL="0">
              <a:lnSpc>
                <a:spcPct val="110000"/>
              </a:lnSpc>
              <a:buNone/>
            </a:pPr>
            <a:r>
              <a:rPr lang="en-US" sz="3000" b="1" dirty="0">
                <a:solidFill>
                  <a:srgbClr val="F2A93C"/>
                </a:solidFill>
                <a:latin typeface="Cambria" pitchFamily="34" charset="0"/>
                <a:ea typeface="Cambria" pitchFamily="34" charset="-122"/>
                <a:cs typeface="Cambria" pitchFamily="34" charset="-120"/>
              </a:rPr>
              <a:t>13 700 – 16 200 $</a:t>
            </a:r>
            <a:endParaRPr lang="en-US" sz="3000" dirty="0"/>
          </a:p>
          <a:p>
            <a:pPr indent="0" marL="0">
              <a:lnSpc>
                <a:spcPct val="110000"/>
              </a:lnSpc>
              <a:buNone/>
            </a:pPr>
            <a:r>
              <a:rPr lang="en-US" sz="1300" dirty="0">
                <a:solidFill>
                  <a:srgbClr val="ECE7DD"/>
                </a:solidFill>
                <a:latin typeface="Calibri" pitchFamily="34" charset="0"/>
                <a:ea typeface="Calibri" pitchFamily="34" charset="-122"/>
                <a:cs typeface="Calibri" pitchFamily="34" charset="-120"/>
              </a:rPr>
              <a:t>Coût direct médian d'une blessure à la main avec perte de temps.</a:t>
            </a:r>
            <a:endParaRPr lang="en-US" sz="3000" dirty="0"/>
          </a:p>
        </p:txBody>
      </p:sp>
      <p:sp>
        <p:nvSpPr>
          <p:cNvPr id="13" name="Shape 10"/>
          <p:cNvSpPr/>
          <p:nvPr/>
        </p:nvSpPr>
        <p:spPr>
          <a:xfrm>
            <a:off x="7040880" y="3703320"/>
            <a:ext cx="4617720" cy="2011680"/>
          </a:xfrm>
          <a:prstGeom prst="roundRect">
            <a:avLst>
              <a:gd name="adj" fmla="val 4545"/>
            </a:avLst>
          </a:prstGeom>
          <a:solidFill>
            <a:srgbClr val="231E17"/>
          </a:solidFill>
          <a:ln w="12700">
            <a:solidFill>
              <a:srgbClr val="3C352A"/>
            </a:solidFill>
            <a:prstDash val="solid"/>
          </a:ln>
        </p:spPr>
      </p:sp>
      <p:sp>
        <p:nvSpPr>
          <p:cNvPr id="14" name="Shape 11"/>
          <p:cNvSpPr/>
          <p:nvPr/>
        </p:nvSpPr>
        <p:spPr>
          <a:xfrm>
            <a:off x="7360920" y="3977640"/>
            <a:ext cx="658368" cy="658368"/>
          </a:xfrm>
          <a:prstGeom prst="oval">
            <a:avLst/>
          </a:prstGeom>
          <a:solidFill>
            <a:srgbClr val="1B1712"/>
          </a:solidFill>
          <a:ln w="19050">
            <a:solidFill>
              <a:srgbClr val="F2A93C"/>
            </a:solidFill>
            <a:prstDash val="solid"/>
          </a:ln>
        </p:spPr>
      </p:sp>
      <p:pic>
        <p:nvPicPr>
          <p:cNvPr id="15" name="Image 0" descr="preencoded.png">    </p:cNvPr>
          <p:cNvPicPr>
            <a:picLocks noChangeAspect="1"/>
          </p:cNvPicPr>
          <p:nvPr/>
        </p:nvPicPr>
        <p:blipFill>
          <a:blip r:embed="rId2"/>
          <a:stretch>
            <a:fillRect/>
          </a:stretch>
        </p:blipFill>
        <p:spPr>
          <a:xfrm>
            <a:off x="7525512" y="4142232"/>
            <a:ext cx="329184" cy="329184"/>
          </a:xfrm>
          <a:prstGeom prst="rect">
            <a:avLst/>
          </a:prstGeom>
        </p:spPr>
      </p:pic>
      <p:sp>
        <p:nvSpPr>
          <p:cNvPr id="16" name="Text 12"/>
          <p:cNvSpPr/>
          <p:nvPr/>
        </p:nvSpPr>
        <p:spPr>
          <a:xfrm>
            <a:off x="8138160" y="4041648"/>
            <a:ext cx="3246120"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Vibrations main-bras</a:t>
            </a:r>
            <a:endParaRPr lang="en-US" sz="1800" dirty="0"/>
          </a:p>
        </p:txBody>
      </p:sp>
      <p:sp>
        <p:nvSpPr>
          <p:cNvPr id="17" name="Text 13"/>
          <p:cNvSpPr/>
          <p:nvPr/>
        </p:nvSpPr>
        <p:spPr>
          <a:xfrm>
            <a:off x="7360920" y="4617720"/>
            <a:ext cx="3977640" cy="960120"/>
          </a:xfrm>
          <a:prstGeom prst="rect">
            <a:avLst/>
          </a:prstGeom>
          <a:noFill/>
          <a:ln/>
        </p:spPr>
        <p:txBody>
          <a:bodyPr wrap="square" lIns="0" tIns="0" rIns="0" bIns="0" rtlCol="0" anchor="ctr"/>
          <a:lstStyle/>
          <a:p>
            <a:pPr indent="0" marL="0">
              <a:lnSpc>
                <a:spcPct val="110000"/>
              </a:lnSpc>
              <a:buNone/>
            </a:pPr>
            <a:r>
              <a:rPr lang="en-US" sz="1350" b="1" dirty="0">
                <a:solidFill>
                  <a:srgbClr val="F2A93C"/>
                </a:solidFill>
                <a:latin typeface="Calibri" pitchFamily="34" charset="0"/>
                <a:ea typeface="Calibri" pitchFamily="34" charset="-122"/>
                <a:cs typeface="Calibri" pitchFamily="34" charset="-120"/>
              </a:rPr>
              <a:t>63 % </a:t>
            </a:r>
            <a:pPr indent="0" marL="0">
              <a:lnSpc>
                <a:spcPct val="110000"/>
              </a:lnSpc>
              <a:buNone/>
            </a:pPr>
            <a:r>
              <a:rPr lang="en-US" sz="1350" dirty="0">
                <a:solidFill>
                  <a:srgbClr val="ECE7DD"/>
                </a:solidFill>
                <a:latin typeface="Calibri" pitchFamily="34" charset="0"/>
                <a:ea typeface="Calibri" pitchFamily="34" charset="-122"/>
                <a:cs typeface="Calibri" pitchFamily="34" charset="-120"/>
              </a:rPr>
              <a:t>d'engourdissements et </a:t>
            </a:r>
            <a:pPr indent="0" marL="0">
              <a:lnSpc>
                <a:spcPct val="110000"/>
              </a:lnSpc>
              <a:buNone/>
            </a:pPr>
            <a:r>
              <a:rPr lang="en-US" sz="1350" b="1" dirty="0">
                <a:solidFill>
                  <a:srgbClr val="F2A93C"/>
                </a:solidFill>
                <a:latin typeface="Calibri" pitchFamily="34" charset="0"/>
                <a:ea typeface="Calibri" pitchFamily="34" charset="-122"/>
                <a:cs typeface="Calibri" pitchFamily="34" charset="-120"/>
              </a:rPr>
              <a:t>34,4 % </a:t>
            </a:r>
            <a:pPr indent="0" marL="0">
              <a:lnSpc>
                <a:spcPct val="110000"/>
              </a:lnSpc>
              <a:buNone/>
            </a:pPr>
            <a:r>
              <a:rPr lang="en-US" sz="1350" dirty="0">
                <a:solidFill>
                  <a:srgbClr val="ECE7DD"/>
                </a:solidFill>
                <a:latin typeface="Calibri" pitchFamily="34" charset="0"/>
                <a:ea typeface="Calibri" pitchFamily="34" charset="-122"/>
                <a:cs typeface="Calibri" pitchFamily="34" charset="-120"/>
              </a:rPr>
              <a:t>de douleurs articulaires chez les travailleurs affectés (doigts blancs).</a:t>
            </a:r>
            <a:endParaRPr lang="en-US" sz="1350" dirty="0"/>
          </a:p>
        </p:txBody>
      </p:sp>
      <p:sp>
        <p:nvSpPr>
          <p:cNvPr id="18" name="Text 14"/>
          <p:cNvSpPr/>
          <p:nvPr/>
        </p:nvSpPr>
        <p:spPr>
          <a:xfrm>
            <a:off x="7040880" y="6455664"/>
            <a:ext cx="4617720" cy="274320"/>
          </a:xfrm>
          <a:prstGeom prst="rect">
            <a:avLst/>
          </a:prstGeom>
          <a:noFill/>
          <a:ln/>
        </p:spPr>
        <p:txBody>
          <a:bodyPr wrap="square" lIns="0" tIns="0" rIns="0" bIns="0" rtlCol="0" anchor="ctr"/>
          <a:lstStyle/>
          <a:p>
            <a:pPr algn="r" indent="0" marL="0">
              <a:buNone/>
            </a:pPr>
            <a:r>
              <a:rPr lang="en-US" sz="850" i="1" dirty="0">
                <a:solidFill>
                  <a:srgbClr val="857E70"/>
                </a:solidFill>
                <a:latin typeface="Calibri" pitchFamily="34" charset="0"/>
                <a:ea typeface="Calibri" pitchFamily="34" charset="-122"/>
                <a:cs typeface="Calibri" pitchFamily="34" charset="-120"/>
              </a:rPr>
              <a:t>Source : IRSST.</a:t>
            </a:r>
            <a:endParaRPr lang="en-US" sz="850" dirty="0"/>
          </a:p>
        </p:txBody>
      </p:sp>
      <p:sp>
        <p:nvSpPr>
          <p:cNvPr id="19" name="Text 15"/>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850" dirty="0">
                <a:solidFill>
                  <a:srgbClr val="857E70"/>
                </a:solidFill>
                <a:latin typeface="Calibri" pitchFamily="34" charset="0"/>
                <a:ea typeface="Calibri" pitchFamily="34" charset="-122"/>
                <a:cs typeface="Calibri" pitchFamily="34" charset="-120"/>
              </a:rPr>
              <a:t>Santé-Sécurité · Prévention des blessures aux mains</a:t>
            </a:r>
            <a:endParaRPr lang="en-US" sz="850" dirty="0"/>
          </a:p>
        </p:txBody>
      </p:sp>
      <p:sp>
        <p:nvSpPr>
          <p:cNvPr id="20" name="Text 16"/>
          <p:cNvSpPr/>
          <p:nvPr/>
        </p:nvSpPr>
        <p:spPr>
          <a:xfrm>
            <a:off x="11185855" y="6437376"/>
            <a:ext cx="457200" cy="274320"/>
          </a:xfrm>
          <a:prstGeom prst="rect">
            <a:avLst/>
          </a:prstGeom>
          <a:noFill/>
          <a:ln/>
        </p:spPr>
        <p:txBody>
          <a:bodyPr wrap="square" lIns="0" tIns="0" rIns="0" bIns="0" rtlCol="0" anchor="ctr"/>
          <a:lstStyle/>
          <a:p>
            <a:pPr algn="r" indent="0" marL="0">
              <a:buNone/>
            </a:pPr>
            <a:r>
              <a:rPr lang="en-US" sz="1100" dirty="0">
                <a:solidFill>
                  <a:srgbClr val="F2A93C"/>
                </a:solidFill>
                <a:latin typeface="Cambria" pitchFamily="34" charset="0"/>
                <a:ea typeface="Cambria" pitchFamily="34" charset="-122"/>
                <a:cs typeface="Cambria"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210"/>
        </a:solidFill>
      </p:bgPr>
    </p:bg>
    <p:spTree>
      <p:nvGrpSpPr>
        <p:cNvPr id="1" name=""/>
        <p:cNvGrpSpPr/>
        <p:nvPr/>
      </p:nvGrpSpPr>
      <p:grpSpPr>
        <a:xfrm>
          <a:off x="0" y="0"/>
          <a:ext cx="0" cy="0"/>
          <a:chOff x="0" y="0"/>
          <a:chExt cx="0" cy="0"/>
        </a:xfrm>
      </p:grpSpPr>
      <p:sp>
        <p:nvSpPr>
          <p:cNvPr id="2" name="Shape 0"/>
          <p:cNvSpPr/>
          <p:nvPr/>
        </p:nvSpPr>
        <p:spPr>
          <a:xfrm>
            <a:off x="548640" y="384048"/>
            <a:ext cx="310896" cy="310896"/>
          </a:xfrm>
          <a:prstGeom prst="roundRect">
            <a:avLst>
              <a:gd name="adj" fmla="val 17647"/>
            </a:avLst>
          </a:prstGeom>
          <a:solidFill>
            <a:srgbClr val="F2A93C"/>
          </a:solidFill>
          <a:ln/>
        </p:spPr>
      </p:sp>
      <p:sp>
        <p:nvSpPr>
          <p:cNvPr id="3" name="Shape 1"/>
          <p:cNvSpPr/>
          <p:nvPr/>
        </p:nvSpPr>
        <p:spPr>
          <a:xfrm rot="5400000">
            <a:off x="641909" y="464881"/>
            <a:ext cx="136794" cy="149230"/>
          </a:xfrm>
          <a:prstGeom prst="triangle">
            <a:avLst/>
          </a:prstGeom>
          <a:solidFill>
            <a:srgbClr val="141210"/>
          </a:solidFill>
          <a:ln/>
        </p:spPr>
      </p:sp>
      <p:sp>
        <p:nvSpPr>
          <p:cNvPr id="4" name="Text 2"/>
          <p:cNvSpPr/>
          <p:nvPr/>
        </p:nvSpPr>
        <p:spPr>
          <a:xfrm>
            <a:off x="969264" y="338328"/>
            <a:ext cx="2194560" cy="402336"/>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Dhilmar</a:t>
            </a:r>
            <a:endParaRPr lang="en-US" sz="1700" dirty="0"/>
          </a:p>
        </p:txBody>
      </p:sp>
      <p:sp>
        <p:nvSpPr>
          <p:cNvPr id="5" name="Text 3"/>
          <p:cNvSpPr/>
          <p:nvPr/>
        </p:nvSpPr>
        <p:spPr>
          <a:xfrm>
            <a:off x="9265615" y="420624"/>
            <a:ext cx="2377440" cy="274320"/>
          </a:xfrm>
          <a:prstGeom prst="rect">
            <a:avLst/>
          </a:prstGeom>
          <a:noFill/>
          <a:ln/>
        </p:spPr>
        <p:txBody>
          <a:bodyPr wrap="square" lIns="0" tIns="0" rIns="0" bIns="0" rtlCol="0" anchor="ctr"/>
          <a:lstStyle/>
          <a:p>
            <a:pPr algn="r" indent="0" marL="0">
              <a:buNone/>
            </a:pPr>
            <a:r>
              <a:rPr lang="en-US" sz="1050" b="1" spc="200" kern="0" dirty="0">
                <a:solidFill>
                  <a:srgbClr val="857E70"/>
                </a:solidFill>
                <a:latin typeface="Calibri" pitchFamily="34" charset="0"/>
                <a:ea typeface="Calibri" pitchFamily="34" charset="-122"/>
                <a:cs typeface="Calibri" pitchFamily="34" charset="-120"/>
              </a:rPr>
              <a:t>MINE </a:t>
            </a:r>
            <a:pPr algn="r" indent="0" marL="0">
              <a:buNone/>
            </a:pPr>
            <a:r>
              <a:rPr lang="en-US" sz="1050" b="1" spc="200" kern="0" dirty="0">
                <a:solidFill>
                  <a:srgbClr val="F2A93C"/>
                </a:solidFill>
                <a:latin typeface="Calibri" pitchFamily="34" charset="0"/>
                <a:ea typeface="Calibri" pitchFamily="34" charset="-122"/>
                <a:cs typeface="Calibri" pitchFamily="34" charset="-120"/>
              </a:rPr>
              <a:t>ÉLÉONORE</a:t>
            </a:r>
            <a:endParaRPr lang="en-US" sz="1050" dirty="0"/>
          </a:p>
        </p:txBody>
      </p:sp>
      <p:sp>
        <p:nvSpPr>
          <p:cNvPr id="6" name="Text 4"/>
          <p:cNvSpPr/>
          <p:nvPr/>
        </p:nvSpPr>
        <p:spPr>
          <a:xfrm>
            <a:off x="566928" y="475488"/>
            <a:ext cx="9144000" cy="274320"/>
          </a:xfrm>
          <a:prstGeom prst="rect">
            <a:avLst/>
          </a:prstGeom>
          <a:noFill/>
          <a:ln/>
        </p:spPr>
        <p:txBody>
          <a:bodyPr wrap="square" lIns="0" tIns="0" rIns="0" bIns="0" rtlCol="0" anchor="ctr"/>
          <a:lstStyle/>
          <a:p>
            <a:pPr indent="0" marL="0">
              <a:buNone/>
            </a:pPr>
            <a:r>
              <a:rPr lang="en-US" sz="1200" b="1" spc="300" kern="0" dirty="0">
                <a:solidFill>
                  <a:srgbClr val="F2A93C"/>
                </a:solidFill>
                <a:latin typeface="Calibri" pitchFamily="34" charset="0"/>
                <a:ea typeface="Calibri" pitchFamily="34" charset="-122"/>
                <a:cs typeface="Calibri" pitchFamily="34" charset="-120"/>
              </a:rPr>
              <a:t>LE CONCEPT CLÉ</a:t>
            </a:r>
            <a:endParaRPr lang="en-US" sz="1200" dirty="0"/>
          </a:p>
        </p:txBody>
      </p:sp>
      <p:sp>
        <p:nvSpPr>
          <p:cNvPr id="7" name="Text 5"/>
          <p:cNvSpPr/>
          <p:nvPr/>
        </p:nvSpPr>
        <p:spPr>
          <a:xfrm>
            <a:off x="548640" y="768096"/>
            <a:ext cx="11064240" cy="822960"/>
          </a:xfrm>
          <a:prstGeom prst="rect">
            <a:avLst/>
          </a:prstGeom>
          <a:noFill/>
          <a:ln/>
        </p:spPr>
        <p:txBody>
          <a:bodyPr wrap="square" lIns="0" tIns="0" rIns="0" bIns="0" rtlCol="0" anchor="ctr"/>
          <a:lstStyle/>
          <a:p>
            <a:pPr indent="0" marL="0">
              <a:lnSpc>
                <a:spcPts val="3465"/>
              </a:lnSpc>
              <a:buNone/>
            </a:pPr>
            <a:r>
              <a:rPr lang="en-US" sz="3300" b="1" dirty="0">
                <a:solidFill>
                  <a:srgbClr val="FFFFFF"/>
                </a:solidFill>
                <a:latin typeface="Cambria" pitchFamily="34" charset="0"/>
                <a:ea typeface="Cambria" pitchFamily="34" charset="-122"/>
                <a:cs typeface="Cambria" pitchFamily="34" charset="-120"/>
              </a:rPr>
              <a:t>La « ligne de tir »</a:t>
            </a:r>
            <a:endParaRPr lang="en-US" sz="3300" dirty="0"/>
          </a:p>
        </p:txBody>
      </p:sp>
      <p:sp>
        <p:nvSpPr>
          <p:cNvPr id="8" name="Text 6"/>
          <p:cNvSpPr/>
          <p:nvPr/>
        </p:nvSpPr>
        <p:spPr>
          <a:xfrm>
            <a:off x="548640" y="1920240"/>
            <a:ext cx="6035040" cy="1280160"/>
          </a:xfrm>
          <a:prstGeom prst="rect">
            <a:avLst/>
          </a:prstGeom>
          <a:noFill/>
          <a:ln/>
        </p:spPr>
        <p:txBody>
          <a:bodyPr wrap="square" lIns="0" tIns="0" rIns="0" bIns="0" rtlCol="0" anchor="ctr"/>
          <a:lstStyle/>
          <a:p>
            <a:pPr indent="0" marL="0">
              <a:lnSpc>
                <a:spcPct val="120000"/>
              </a:lnSpc>
              <a:buNone/>
            </a:pPr>
            <a:r>
              <a:rPr lang="en-US" sz="1800" dirty="0">
                <a:solidFill>
                  <a:srgbClr val="ECE7DD"/>
                </a:solidFill>
                <a:latin typeface="Calibri" pitchFamily="34" charset="0"/>
                <a:ea typeface="Calibri" pitchFamily="34" charset="-122"/>
                <a:cs typeface="Calibri" pitchFamily="34" charset="-120"/>
              </a:rPr>
              <a:t>Toute zone où votre main peut être </a:t>
            </a:r>
            <a:pPr indent="0" marL="0">
              <a:lnSpc>
                <a:spcPct val="120000"/>
              </a:lnSpc>
              <a:buNone/>
            </a:pPr>
            <a:r>
              <a:rPr lang="en-US" sz="1800" b="1" dirty="0">
                <a:solidFill>
                  <a:srgbClr val="F2A93C"/>
                </a:solidFill>
                <a:latin typeface="Calibri" pitchFamily="34" charset="0"/>
                <a:ea typeface="Calibri" pitchFamily="34" charset="-122"/>
                <a:cs typeface="Calibri" pitchFamily="34" charset="-120"/>
              </a:rPr>
              <a:t>happée, écrasée, coupée ou pincée</a:t>
            </a:r>
            <a:pPr indent="0" marL="0">
              <a:lnSpc>
                <a:spcPct val="120000"/>
              </a:lnSpc>
              <a:buNone/>
            </a:pPr>
            <a:r>
              <a:rPr lang="en-US" sz="1800" dirty="0">
                <a:solidFill>
                  <a:srgbClr val="ECE7DD"/>
                </a:solidFill>
                <a:latin typeface="Calibri" pitchFamily="34" charset="0"/>
                <a:ea typeface="Calibri" pitchFamily="34" charset="-122"/>
                <a:cs typeface="Calibri" pitchFamily="34" charset="-120"/>
              </a:rPr>
              <a:t> par une énergie — mécanique, hydraulique, électrique ou gravitaire.</a:t>
            </a:r>
            <a:endParaRPr lang="en-US" sz="1800" dirty="0"/>
          </a:p>
        </p:txBody>
      </p:sp>
      <p:sp>
        <p:nvSpPr>
          <p:cNvPr id="9" name="Text 7"/>
          <p:cNvSpPr/>
          <p:nvPr/>
        </p:nvSpPr>
        <p:spPr>
          <a:xfrm>
            <a:off x="548640" y="3291840"/>
            <a:ext cx="6035040" cy="365760"/>
          </a:xfrm>
          <a:prstGeom prst="rect">
            <a:avLst/>
          </a:prstGeom>
          <a:noFill/>
          <a:ln/>
        </p:spPr>
        <p:txBody>
          <a:bodyPr wrap="square" lIns="0" tIns="0" rIns="0" bIns="0" rtlCol="0" anchor="ctr"/>
          <a:lstStyle/>
          <a:p>
            <a:pPr indent="0" marL="0">
              <a:buNone/>
            </a:pPr>
            <a:r>
              <a:rPr lang="en-US" sz="1300" dirty="0">
                <a:solidFill>
                  <a:srgbClr val="B4AD9F"/>
                </a:solidFill>
                <a:latin typeface="Calibri" pitchFamily="34" charset="0"/>
                <a:ea typeface="Calibri" pitchFamily="34" charset="-122"/>
                <a:cs typeface="Calibri" pitchFamily="34" charset="-120"/>
              </a:rPr>
              <a:t>Avant chaque geste, posez-vous la question :</a:t>
            </a:r>
            <a:endParaRPr lang="en-US" sz="1300" dirty="0"/>
          </a:p>
        </p:txBody>
      </p:sp>
      <p:sp>
        <p:nvSpPr>
          <p:cNvPr id="10" name="Shape 8"/>
          <p:cNvSpPr/>
          <p:nvPr/>
        </p:nvSpPr>
        <p:spPr>
          <a:xfrm>
            <a:off x="548640" y="3703320"/>
            <a:ext cx="6035040" cy="960120"/>
          </a:xfrm>
          <a:prstGeom prst="roundRect">
            <a:avLst>
              <a:gd name="adj" fmla="val 9524"/>
            </a:avLst>
          </a:prstGeom>
          <a:solidFill>
            <a:srgbClr val="2C261D"/>
          </a:solidFill>
          <a:ln w="12700">
            <a:solidFill>
              <a:srgbClr val="F2A93C"/>
            </a:solidFill>
            <a:prstDash val="solid"/>
          </a:ln>
        </p:spPr>
      </p:sp>
      <p:sp>
        <p:nvSpPr>
          <p:cNvPr id="11" name="Text 9"/>
          <p:cNvSpPr/>
          <p:nvPr/>
        </p:nvSpPr>
        <p:spPr>
          <a:xfrm>
            <a:off x="685800" y="3703320"/>
            <a:ext cx="5760720" cy="960120"/>
          </a:xfrm>
          <a:prstGeom prst="rect">
            <a:avLst/>
          </a:prstGeom>
          <a:noFill/>
          <a:ln/>
        </p:spPr>
        <p:txBody>
          <a:bodyPr wrap="square" lIns="0" tIns="0" rIns="0" bIns="0" rtlCol="0" anchor="ctr"/>
          <a:lstStyle/>
          <a:p>
            <a:pPr indent="0" marL="0">
              <a:buNone/>
            </a:pPr>
            <a:r>
              <a:rPr lang="en-US" sz="2100" b="1" i="1" dirty="0">
                <a:solidFill>
                  <a:srgbClr val="F7C775"/>
                </a:solidFill>
                <a:latin typeface="Cambria" pitchFamily="34" charset="0"/>
                <a:ea typeface="Cambria" pitchFamily="34" charset="-122"/>
                <a:cs typeface="Cambria" pitchFamily="34" charset="-120"/>
              </a:rPr>
              <a:t>« Si cette pièce bouge, où va ma main ? »</a:t>
            </a:r>
            <a:endParaRPr lang="en-US" sz="2100" dirty="0"/>
          </a:p>
        </p:txBody>
      </p:sp>
      <p:sp>
        <p:nvSpPr>
          <p:cNvPr id="12" name="Text 10"/>
          <p:cNvSpPr/>
          <p:nvPr/>
        </p:nvSpPr>
        <p:spPr>
          <a:xfrm>
            <a:off x="548640" y="4983480"/>
            <a:ext cx="3017520" cy="365760"/>
          </a:xfrm>
          <a:prstGeom prst="rect">
            <a:avLst/>
          </a:prstGeom>
          <a:noFill/>
          <a:ln/>
        </p:spPr>
        <p:txBody>
          <a:bodyPr wrap="square" lIns="0" tIns="0" rIns="0" bIns="0" rtlCol="0" anchor="ctr"/>
          <a:lstStyle/>
          <a:p>
            <a:pPr indent="0" marL="0">
              <a:buNone/>
            </a:pPr>
            <a:r>
              <a:rPr lang="en-US" sz="1250" dirty="0">
                <a:solidFill>
                  <a:srgbClr val="F2A93C"/>
                </a:solidFill>
                <a:latin typeface="Calibri" pitchFamily="34" charset="0"/>
                <a:ea typeface="Calibri" pitchFamily="34" charset="-122"/>
                <a:cs typeface="Calibri" pitchFamily="34" charset="-120"/>
              </a:rPr>
              <a:t>▪  </a:t>
            </a:r>
            <a:pPr indent="0" marL="0">
              <a:buNone/>
            </a:pPr>
            <a:r>
              <a:rPr lang="en-US" sz="1250" dirty="0">
                <a:solidFill>
                  <a:srgbClr val="B4AD9F"/>
                </a:solidFill>
                <a:latin typeface="Calibri" pitchFamily="34" charset="0"/>
                <a:ea typeface="Calibri" pitchFamily="34" charset="-122"/>
                <a:cs typeface="Calibri" pitchFamily="34" charset="-120"/>
              </a:rPr>
              <a:t>Points de pincement</a:t>
            </a:r>
            <a:endParaRPr lang="en-US" sz="1250" dirty="0"/>
          </a:p>
        </p:txBody>
      </p:sp>
      <p:sp>
        <p:nvSpPr>
          <p:cNvPr id="13" name="Text 11"/>
          <p:cNvSpPr/>
          <p:nvPr/>
        </p:nvSpPr>
        <p:spPr>
          <a:xfrm>
            <a:off x="3611880" y="4983480"/>
            <a:ext cx="3017520" cy="365760"/>
          </a:xfrm>
          <a:prstGeom prst="rect">
            <a:avLst/>
          </a:prstGeom>
          <a:noFill/>
          <a:ln/>
        </p:spPr>
        <p:txBody>
          <a:bodyPr wrap="square" lIns="0" tIns="0" rIns="0" bIns="0" rtlCol="0" anchor="ctr"/>
          <a:lstStyle/>
          <a:p>
            <a:pPr indent="0" marL="0">
              <a:buNone/>
            </a:pPr>
            <a:r>
              <a:rPr lang="en-US" sz="1250" dirty="0">
                <a:solidFill>
                  <a:srgbClr val="F2A93C"/>
                </a:solidFill>
                <a:latin typeface="Calibri" pitchFamily="34" charset="0"/>
                <a:ea typeface="Calibri" pitchFamily="34" charset="-122"/>
                <a:cs typeface="Calibri" pitchFamily="34" charset="-120"/>
              </a:rPr>
              <a:t>▪  </a:t>
            </a:r>
            <a:pPr indent="0" marL="0">
              <a:buNone/>
            </a:pPr>
            <a:r>
              <a:rPr lang="en-US" sz="1250" dirty="0">
                <a:solidFill>
                  <a:srgbClr val="B4AD9F"/>
                </a:solidFill>
                <a:latin typeface="Calibri" pitchFamily="34" charset="0"/>
                <a:ea typeface="Calibri" pitchFamily="34" charset="-122"/>
                <a:cs typeface="Calibri" pitchFamily="34" charset="-120"/>
              </a:rPr>
              <a:t>Pièces en rotation</a:t>
            </a:r>
            <a:endParaRPr lang="en-US" sz="1250" dirty="0"/>
          </a:p>
        </p:txBody>
      </p:sp>
      <p:sp>
        <p:nvSpPr>
          <p:cNvPr id="14" name="Text 12"/>
          <p:cNvSpPr/>
          <p:nvPr/>
        </p:nvSpPr>
        <p:spPr>
          <a:xfrm>
            <a:off x="548640" y="5440680"/>
            <a:ext cx="3017520" cy="365760"/>
          </a:xfrm>
          <a:prstGeom prst="rect">
            <a:avLst/>
          </a:prstGeom>
          <a:noFill/>
          <a:ln/>
        </p:spPr>
        <p:txBody>
          <a:bodyPr wrap="square" lIns="0" tIns="0" rIns="0" bIns="0" rtlCol="0" anchor="ctr"/>
          <a:lstStyle/>
          <a:p>
            <a:pPr indent="0" marL="0">
              <a:buNone/>
            </a:pPr>
            <a:r>
              <a:rPr lang="en-US" sz="1250" dirty="0">
                <a:solidFill>
                  <a:srgbClr val="F2A93C"/>
                </a:solidFill>
                <a:latin typeface="Calibri" pitchFamily="34" charset="0"/>
                <a:ea typeface="Calibri" pitchFamily="34" charset="-122"/>
                <a:cs typeface="Calibri" pitchFamily="34" charset="-120"/>
              </a:rPr>
              <a:t>▪  </a:t>
            </a:r>
            <a:pPr indent="0" marL="0">
              <a:buNone/>
            </a:pPr>
            <a:r>
              <a:rPr lang="en-US" sz="1250" dirty="0">
                <a:solidFill>
                  <a:srgbClr val="B4AD9F"/>
                </a:solidFill>
                <a:latin typeface="Calibri" pitchFamily="34" charset="0"/>
                <a:ea typeface="Calibri" pitchFamily="34" charset="-122"/>
                <a:cs typeface="Calibri" pitchFamily="34" charset="-120"/>
              </a:rPr>
              <a:t>Charges suspendues</a:t>
            </a:r>
            <a:endParaRPr lang="en-US" sz="1250" dirty="0"/>
          </a:p>
        </p:txBody>
      </p:sp>
      <p:sp>
        <p:nvSpPr>
          <p:cNvPr id="15" name="Text 13"/>
          <p:cNvSpPr/>
          <p:nvPr/>
        </p:nvSpPr>
        <p:spPr>
          <a:xfrm>
            <a:off x="3611880" y="5440680"/>
            <a:ext cx="3017520" cy="365760"/>
          </a:xfrm>
          <a:prstGeom prst="rect">
            <a:avLst/>
          </a:prstGeom>
          <a:noFill/>
          <a:ln/>
        </p:spPr>
        <p:txBody>
          <a:bodyPr wrap="square" lIns="0" tIns="0" rIns="0" bIns="0" rtlCol="0" anchor="ctr"/>
          <a:lstStyle/>
          <a:p>
            <a:pPr indent="0" marL="0">
              <a:buNone/>
            </a:pPr>
            <a:r>
              <a:rPr lang="en-US" sz="1250" dirty="0">
                <a:solidFill>
                  <a:srgbClr val="F2A93C"/>
                </a:solidFill>
                <a:latin typeface="Calibri" pitchFamily="34" charset="0"/>
                <a:ea typeface="Calibri" pitchFamily="34" charset="-122"/>
                <a:cs typeface="Calibri" pitchFamily="34" charset="-120"/>
              </a:rPr>
              <a:t>▪  </a:t>
            </a:r>
            <a:pPr indent="0" marL="0">
              <a:buNone/>
            </a:pPr>
            <a:r>
              <a:rPr lang="en-US" sz="1250" dirty="0">
                <a:solidFill>
                  <a:srgbClr val="B4AD9F"/>
                </a:solidFill>
                <a:latin typeface="Calibri" pitchFamily="34" charset="0"/>
                <a:ea typeface="Calibri" pitchFamily="34" charset="-122"/>
                <a:cs typeface="Calibri" pitchFamily="34" charset="-120"/>
              </a:rPr>
              <a:t>Énergie emmagasinée</a:t>
            </a:r>
            <a:endParaRPr lang="en-US" sz="1250" dirty="0"/>
          </a:p>
        </p:txBody>
      </p:sp>
      <p:sp>
        <p:nvSpPr>
          <p:cNvPr id="16" name="Shape 14"/>
          <p:cNvSpPr/>
          <p:nvPr/>
        </p:nvSpPr>
        <p:spPr>
          <a:xfrm>
            <a:off x="7772400" y="1965960"/>
            <a:ext cx="3383280" cy="3383280"/>
          </a:xfrm>
          <a:prstGeom prst="oval">
            <a:avLst/>
          </a:prstGeom>
          <a:ln w="15875">
            <a:solidFill>
              <a:srgbClr val="3C352A"/>
            </a:solidFill>
            <a:prstDash val="solid"/>
          </a:ln>
        </p:spPr>
      </p:sp>
      <p:sp>
        <p:nvSpPr>
          <p:cNvPr id="17" name="Shape 15"/>
          <p:cNvSpPr/>
          <p:nvPr/>
        </p:nvSpPr>
        <p:spPr>
          <a:xfrm>
            <a:off x="8161020" y="2354580"/>
            <a:ext cx="2606040" cy="2606040"/>
          </a:xfrm>
          <a:prstGeom prst="oval">
            <a:avLst/>
          </a:prstGeom>
          <a:ln w="15875">
            <a:solidFill>
              <a:srgbClr val="C9852A"/>
            </a:solidFill>
            <a:prstDash val="solid"/>
          </a:ln>
        </p:spPr>
      </p:sp>
      <p:sp>
        <p:nvSpPr>
          <p:cNvPr id="18" name="Shape 16"/>
          <p:cNvSpPr/>
          <p:nvPr/>
        </p:nvSpPr>
        <p:spPr>
          <a:xfrm>
            <a:off x="8549640" y="2743200"/>
            <a:ext cx="1828800" cy="1828800"/>
          </a:xfrm>
          <a:prstGeom prst="oval">
            <a:avLst/>
          </a:prstGeom>
          <a:ln w="25400">
            <a:solidFill>
              <a:srgbClr val="F2A93C"/>
            </a:solidFill>
            <a:prstDash val="solid"/>
          </a:ln>
        </p:spPr>
      </p:sp>
      <p:sp>
        <p:nvSpPr>
          <p:cNvPr id="19" name="Shape 17"/>
          <p:cNvSpPr/>
          <p:nvPr/>
        </p:nvSpPr>
        <p:spPr>
          <a:xfrm>
            <a:off x="8938260" y="3131820"/>
            <a:ext cx="1051560" cy="1051560"/>
          </a:xfrm>
          <a:prstGeom prst="oval">
            <a:avLst/>
          </a:prstGeom>
          <a:solidFill>
            <a:srgbClr val="2C261D"/>
          </a:solidFill>
          <a:ln w="25400">
            <a:solidFill>
              <a:srgbClr val="E4572E"/>
            </a:solidFill>
            <a:prstDash val="solid"/>
          </a:ln>
        </p:spPr>
      </p:sp>
      <p:pic>
        <p:nvPicPr>
          <p:cNvPr id="20" name="Image 0" descr="preencoded.png">    </p:cNvPr>
          <p:cNvPicPr>
            <a:picLocks noChangeAspect="1"/>
          </p:cNvPicPr>
          <p:nvPr/>
        </p:nvPicPr>
        <p:blipFill>
          <a:blip r:embed="rId1"/>
          <a:stretch>
            <a:fillRect/>
          </a:stretch>
        </p:blipFill>
        <p:spPr>
          <a:xfrm>
            <a:off x="9079992" y="3200400"/>
            <a:ext cx="768096" cy="768096"/>
          </a:xfrm>
          <a:prstGeom prst="rect">
            <a:avLst/>
          </a:prstGeom>
        </p:spPr>
      </p:pic>
      <p:sp>
        <p:nvSpPr>
          <p:cNvPr id="21" name="Text 18"/>
          <p:cNvSpPr/>
          <p:nvPr/>
        </p:nvSpPr>
        <p:spPr>
          <a:xfrm>
            <a:off x="8549640" y="4041648"/>
            <a:ext cx="1828800" cy="274320"/>
          </a:xfrm>
          <a:prstGeom prst="rect">
            <a:avLst/>
          </a:prstGeom>
          <a:noFill/>
          <a:ln/>
        </p:spPr>
        <p:txBody>
          <a:bodyPr wrap="square" lIns="0" tIns="0" rIns="0" bIns="0" rtlCol="0" anchor="ctr"/>
          <a:lstStyle/>
          <a:p>
            <a:pPr algn="ctr" indent="0" marL="0">
              <a:buNone/>
            </a:pPr>
            <a:r>
              <a:rPr lang="en-US" sz="950" b="1" spc="100" kern="0" dirty="0">
                <a:solidFill>
                  <a:srgbClr val="ECE7DD"/>
                </a:solidFill>
                <a:latin typeface="Calibri" pitchFamily="34" charset="0"/>
                <a:ea typeface="Calibri" pitchFamily="34" charset="-122"/>
                <a:cs typeface="Calibri" pitchFamily="34" charset="-120"/>
              </a:rPr>
              <a:t>VOTRE MAIN</a:t>
            </a:r>
            <a:endParaRPr lang="en-US" sz="950" dirty="0"/>
          </a:p>
        </p:txBody>
      </p:sp>
      <p:sp>
        <p:nvSpPr>
          <p:cNvPr id="22" name="Text 19"/>
          <p:cNvSpPr/>
          <p:nvPr/>
        </p:nvSpPr>
        <p:spPr>
          <a:xfrm>
            <a:off x="8458200" y="1554480"/>
            <a:ext cx="2011680" cy="274320"/>
          </a:xfrm>
          <a:prstGeom prst="rect">
            <a:avLst/>
          </a:prstGeom>
          <a:noFill/>
          <a:ln/>
        </p:spPr>
        <p:txBody>
          <a:bodyPr wrap="square" lIns="0" tIns="0" rIns="0" bIns="0" rtlCol="0" anchor="ctr"/>
          <a:lstStyle/>
          <a:p>
            <a:pPr algn="ctr" indent="0" marL="0">
              <a:buNone/>
            </a:pPr>
            <a:r>
              <a:rPr lang="en-US" sz="1000" b="1" spc="100" kern="0" dirty="0">
                <a:solidFill>
                  <a:srgbClr val="F7C775"/>
                </a:solidFill>
                <a:latin typeface="Calibri" pitchFamily="34" charset="0"/>
                <a:ea typeface="Calibri" pitchFamily="34" charset="-122"/>
                <a:cs typeface="Calibri" pitchFamily="34" charset="-120"/>
              </a:rPr>
              <a:t>ÉCRASEMENT</a:t>
            </a:r>
            <a:endParaRPr lang="en-US" sz="1000" dirty="0"/>
          </a:p>
        </p:txBody>
      </p:sp>
      <p:sp>
        <p:nvSpPr>
          <p:cNvPr id="23" name="Text 20"/>
          <p:cNvSpPr/>
          <p:nvPr/>
        </p:nvSpPr>
        <p:spPr>
          <a:xfrm>
            <a:off x="10789920" y="3520440"/>
            <a:ext cx="2011680" cy="274320"/>
          </a:xfrm>
          <a:prstGeom prst="rect">
            <a:avLst/>
          </a:prstGeom>
          <a:noFill/>
          <a:ln/>
        </p:spPr>
        <p:txBody>
          <a:bodyPr wrap="square" lIns="0" tIns="0" rIns="0" bIns="0" rtlCol="0" anchor="ctr"/>
          <a:lstStyle/>
          <a:p>
            <a:pPr algn="ctr" indent="0" marL="0">
              <a:buNone/>
            </a:pPr>
            <a:r>
              <a:rPr lang="en-US" sz="1000" b="1" spc="100" kern="0" dirty="0">
                <a:solidFill>
                  <a:srgbClr val="F7C775"/>
                </a:solidFill>
                <a:latin typeface="Calibri" pitchFamily="34" charset="0"/>
                <a:ea typeface="Calibri" pitchFamily="34" charset="-122"/>
                <a:cs typeface="Calibri" pitchFamily="34" charset="-120"/>
              </a:rPr>
              <a:t>COUPURE</a:t>
            </a:r>
            <a:endParaRPr lang="en-US" sz="1000" dirty="0"/>
          </a:p>
        </p:txBody>
      </p:sp>
      <p:sp>
        <p:nvSpPr>
          <p:cNvPr id="24" name="Text 21"/>
          <p:cNvSpPr/>
          <p:nvPr/>
        </p:nvSpPr>
        <p:spPr>
          <a:xfrm>
            <a:off x="8458200" y="5486400"/>
            <a:ext cx="2011680" cy="274320"/>
          </a:xfrm>
          <a:prstGeom prst="rect">
            <a:avLst/>
          </a:prstGeom>
          <a:noFill/>
          <a:ln/>
        </p:spPr>
        <p:txBody>
          <a:bodyPr wrap="square" lIns="0" tIns="0" rIns="0" bIns="0" rtlCol="0" anchor="ctr"/>
          <a:lstStyle/>
          <a:p>
            <a:pPr algn="ctr" indent="0" marL="0">
              <a:buNone/>
            </a:pPr>
            <a:r>
              <a:rPr lang="en-US" sz="1000" b="1" spc="100" kern="0" dirty="0">
                <a:solidFill>
                  <a:srgbClr val="F7C775"/>
                </a:solidFill>
                <a:latin typeface="Calibri" pitchFamily="34" charset="0"/>
                <a:ea typeface="Calibri" pitchFamily="34" charset="-122"/>
                <a:cs typeface="Calibri" pitchFamily="34" charset="-120"/>
              </a:rPr>
              <a:t>HAPPEMENT</a:t>
            </a:r>
            <a:endParaRPr lang="en-US" sz="1000" dirty="0"/>
          </a:p>
        </p:txBody>
      </p:sp>
      <p:sp>
        <p:nvSpPr>
          <p:cNvPr id="25" name="Text 22"/>
          <p:cNvSpPr/>
          <p:nvPr/>
        </p:nvSpPr>
        <p:spPr>
          <a:xfrm>
            <a:off x="6126480" y="3520440"/>
            <a:ext cx="2011680" cy="274320"/>
          </a:xfrm>
          <a:prstGeom prst="rect">
            <a:avLst/>
          </a:prstGeom>
          <a:noFill/>
          <a:ln/>
        </p:spPr>
        <p:txBody>
          <a:bodyPr wrap="square" lIns="0" tIns="0" rIns="0" bIns="0" rtlCol="0" anchor="ctr"/>
          <a:lstStyle/>
          <a:p>
            <a:pPr algn="ctr" indent="0" marL="0">
              <a:buNone/>
            </a:pPr>
            <a:r>
              <a:rPr lang="en-US" sz="1000" b="1" spc="100" kern="0" dirty="0">
                <a:solidFill>
                  <a:srgbClr val="F7C775"/>
                </a:solidFill>
                <a:latin typeface="Calibri" pitchFamily="34" charset="0"/>
                <a:ea typeface="Calibri" pitchFamily="34" charset="-122"/>
                <a:cs typeface="Calibri" pitchFamily="34" charset="-120"/>
              </a:rPr>
              <a:t>PINCEMENT</a:t>
            </a:r>
            <a:endParaRPr lang="en-US" sz="1000" dirty="0"/>
          </a:p>
        </p:txBody>
      </p:sp>
      <p:sp>
        <p:nvSpPr>
          <p:cNvPr id="26" name="Text 23"/>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850" dirty="0">
                <a:solidFill>
                  <a:srgbClr val="857E70"/>
                </a:solidFill>
                <a:latin typeface="Calibri" pitchFamily="34" charset="0"/>
                <a:ea typeface="Calibri" pitchFamily="34" charset="-122"/>
                <a:cs typeface="Calibri" pitchFamily="34" charset="-120"/>
              </a:rPr>
              <a:t>Santé-Sécurité · Prévention des blessures aux mains</a:t>
            </a:r>
            <a:endParaRPr lang="en-US" sz="850" dirty="0"/>
          </a:p>
        </p:txBody>
      </p:sp>
      <p:sp>
        <p:nvSpPr>
          <p:cNvPr id="27" name="Text 24"/>
          <p:cNvSpPr/>
          <p:nvPr/>
        </p:nvSpPr>
        <p:spPr>
          <a:xfrm>
            <a:off x="11185855" y="6437376"/>
            <a:ext cx="457200" cy="274320"/>
          </a:xfrm>
          <a:prstGeom prst="rect">
            <a:avLst/>
          </a:prstGeom>
          <a:noFill/>
          <a:ln/>
        </p:spPr>
        <p:txBody>
          <a:bodyPr wrap="square" lIns="0" tIns="0" rIns="0" bIns="0" rtlCol="0" anchor="ctr"/>
          <a:lstStyle/>
          <a:p>
            <a:pPr algn="r" indent="0" marL="0">
              <a:buNone/>
            </a:pPr>
            <a:r>
              <a:rPr lang="en-US" sz="1100" dirty="0">
                <a:solidFill>
                  <a:srgbClr val="F2A93C"/>
                </a:solidFill>
                <a:latin typeface="Cambria" pitchFamily="34" charset="0"/>
                <a:ea typeface="Cambria" pitchFamily="34" charset="-122"/>
                <a:cs typeface="Cambria"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210"/>
        </a:solidFill>
      </p:bgPr>
    </p:bg>
    <p:spTree>
      <p:nvGrpSpPr>
        <p:cNvPr id="1" name=""/>
        <p:cNvGrpSpPr/>
        <p:nvPr/>
      </p:nvGrpSpPr>
      <p:grpSpPr>
        <a:xfrm>
          <a:off x="0" y="0"/>
          <a:ext cx="0" cy="0"/>
          <a:chOff x="0" y="0"/>
          <a:chExt cx="0" cy="0"/>
        </a:xfrm>
      </p:grpSpPr>
      <p:sp>
        <p:nvSpPr>
          <p:cNvPr id="2" name="Shape 0"/>
          <p:cNvSpPr/>
          <p:nvPr/>
        </p:nvSpPr>
        <p:spPr>
          <a:xfrm>
            <a:off x="548640" y="384048"/>
            <a:ext cx="310896" cy="310896"/>
          </a:xfrm>
          <a:prstGeom prst="roundRect">
            <a:avLst>
              <a:gd name="adj" fmla="val 17647"/>
            </a:avLst>
          </a:prstGeom>
          <a:solidFill>
            <a:srgbClr val="F2A93C"/>
          </a:solidFill>
          <a:ln/>
        </p:spPr>
      </p:sp>
      <p:sp>
        <p:nvSpPr>
          <p:cNvPr id="3" name="Shape 1"/>
          <p:cNvSpPr/>
          <p:nvPr/>
        </p:nvSpPr>
        <p:spPr>
          <a:xfrm rot="5400000">
            <a:off x="641909" y="464881"/>
            <a:ext cx="136794" cy="149230"/>
          </a:xfrm>
          <a:prstGeom prst="triangle">
            <a:avLst/>
          </a:prstGeom>
          <a:solidFill>
            <a:srgbClr val="141210"/>
          </a:solidFill>
          <a:ln/>
        </p:spPr>
      </p:sp>
      <p:sp>
        <p:nvSpPr>
          <p:cNvPr id="4" name="Text 2"/>
          <p:cNvSpPr/>
          <p:nvPr/>
        </p:nvSpPr>
        <p:spPr>
          <a:xfrm>
            <a:off x="969264" y="338328"/>
            <a:ext cx="2194560" cy="402336"/>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Dhilmar</a:t>
            </a:r>
            <a:endParaRPr lang="en-US" sz="1700" dirty="0"/>
          </a:p>
        </p:txBody>
      </p:sp>
      <p:sp>
        <p:nvSpPr>
          <p:cNvPr id="5" name="Text 3"/>
          <p:cNvSpPr/>
          <p:nvPr/>
        </p:nvSpPr>
        <p:spPr>
          <a:xfrm>
            <a:off x="9265615" y="420624"/>
            <a:ext cx="2377440" cy="274320"/>
          </a:xfrm>
          <a:prstGeom prst="rect">
            <a:avLst/>
          </a:prstGeom>
          <a:noFill/>
          <a:ln/>
        </p:spPr>
        <p:txBody>
          <a:bodyPr wrap="square" lIns="0" tIns="0" rIns="0" bIns="0" rtlCol="0" anchor="ctr"/>
          <a:lstStyle/>
          <a:p>
            <a:pPr algn="r" indent="0" marL="0">
              <a:buNone/>
            </a:pPr>
            <a:r>
              <a:rPr lang="en-US" sz="1050" b="1" spc="200" kern="0" dirty="0">
                <a:solidFill>
                  <a:srgbClr val="857E70"/>
                </a:solidFill>
                <a:latin typeface="Calibri" pitchFamily="34" charset="0"/>
                <a:ea typeface="Calibri" pitchFamily="34" charset="-122"/>
                <a:cs typeface="Calibri" pitchFamily="34" charset="-120"/>
              </a:rPr>
              <a:t>MINE </a:t>
            </a:r>
            <a:pPr algn="r" indent="0" marL="0">
              <a:buNone/>
            </a:pPr>
            <a:r>
              <a:rPr lang="en-US" sz="1050" b="1" spc="200" kern="0" dirty="0">
                <a:solidFill>
                  <a:srgbClr val="F2A93C"/>
                </a:solidFill>
                <a:latin typeface="Calibri" pitchFamily="34" charset="0"/>
                <a:ea typeface="Calibri" pitchFamily="34" charset="-122"/>
                <a:cs typeface="Calibri" pitchFamily="34" charset="-120"/>
              </a:rPr>
              <a:t>ÉLÉONORE</a:t>
            </a:r>
            <a:endParaRPr lang="en-US" sz="1050" dirty="0"/>
          </a:p>
        </p:txBody>
      </p:sp>
      <p:sp>
        <p:nvSpPr>
          <p:cNvPr id="6" name="Text 4"/>
          <p:cNvSpPr/>
          <p:nvPr/>
        </p:nvSpPr>
        <p:spPr>
          <a:xfrm>
            <a:off x="566928" y="475488"/>
            <a:ext cx="9144000" cy="274320"/>
          </a:xfrm>
          <a:prstGeom prst="rect">
            <a:avLst/>
          </a:prstGeom>
          <a:noFill/>
          <a:ln/>
        </p:spPr>
        <p:txBody>
          <a:bodyPr wrap="square" lIns="0" tIns="0" rIns="0" bIns="0" rtlCol="0" anchor="ctr"/>
          <a:lstStyle/>
          <a:p>
            <a:pPr indent="0" marL="0">
              <a:buNone/>
            </a:pPr>
            <a:r>
              <a:rPr lang="en-US" sz="1200" b="1" spc="300" kern="0" dirty="0">
                <a:solidFill>
                  <a:srgbClr val="F2A93C"/>
                </a:solidFill>
                <a:latin typeface="Calibri" pitchFamily="34" charset="0"/>
                <a:ea typeface="Calibri" pitchFamily="34" charset="-122"/>
                <a:cs typeface="Calibri" pitchFamily="34" charset="-120"/>
              </a:rPr>
              <a:t>D'OÙ VIENNENT LES BLESSURES</a:t>
            </a:r>
            <a:endParaRPr lang="en-US" sz="1200" dirty="0"/>
          </a:p>
        </p:txBody>
      </p:sp>
      <p:sp>
        <p:nvSpPr>
          <p:cNvPr id="7" name="Text 5"/>
          <p:cNvSpPr/>
          <p:nvPr/>
        </p:nvSpPr>
        <p:spPr>
          <a:xfrm>
            <a:off x="548640" y="768096"/>
            <a:ext cx="11064240" cy="822960"/>
          </a:xfrm>
          <a:prstGeom prst="rect">
            <a:avLst/>
          </a:prstGeom>
          <a:noFill/>
          <a:ln/>
        </p:spPr>
        <p:txBody>
          <a:bodyPr wrap="square" lIns="0" tIns="0" rIns="0" bIns="0" rtlCol="0" anchor="ctr"/>
          <a:lstStyle/>
          <a:p>
            <a:pPr indent="0" marL="0">
              <a:lnSpc>
                <a:spcPts val="3465"/>
              </a:lnSpc>
              <a:buNone/>
            </a:pPr>
            <a:r>
              <a:rPr lang="en-US" sz="3300" b="1" dirty="0">
                <a:solidFill>
                  <a:srgbClr val="FFFFFF"/>
                </a:solidFill>
                <a:latin typeface="Cambria" pitchFamily="34" charset="0"/>
                <a:ea typeface="Cambria" pitchFamily="34" charset="-122"/>
                <a:cs typeface="Cambria" pitchFamily="34" charset="-120"/>
              </a:rPr>
              <a:t>Les causes principales</a:t>
            </a:r>
            <a:endParaRPr lang="en-US" sz="3300" dirty="0"/>
          </a:p>
        </p:txBody>
      </p:sp>
      <p:sp>
        <p:nvSpPr>
          <p:cNvPr id="8" name="Shape 6"/>
          <p:cNvSpPr/>
          <p:nvPr/>
        </p:nvSpPr>
        <p:spPr>
          <a:xfrm>
            <a:off x="548640" y="1783080"/>
            <a:ext cx="3639312" cy="2084832"/>
          </a:xfrm>
          <a:prstGeom prst="roundRect">
            <a:avLst>
              <a:gd name="adj" fmla="val 3947"/>
            </a:avLst>
          </a:prstGeom>
          <a:solidFill>
            <a:srgbClr val="231E17"/>
          </a:solidFill>
          <a:ln w="12700">
            <a:solidFill>
              <a:srgbClr val="3C352A"/>
            </a:solidFill>
            <a:prstDash val="solid"/>
          </a:ln>
        </p:spPr>
      </p:sp>
      <p:sp>
        <p:nvSpPr>
          <p:cNvPr id="9" name="Shape 7"/>
          <p:cNvSpPr/>
          <p:nvPr/>
        </p:nvSpPr>
        <p:spPr>
          <a:xfrm>
            <a:off x="868680" y="2103120"/>
            <a:ext cx="777240" cy="777240"/>
          </a:xfrm>
          <a:prstGeom prst="oval">
            <a:avLst/>
          </a:prstGeom>
          <a:solidFill>
            <a:srgbClr val="1B1712"/>
          </a:solidFill>
          <a:ln w="19050">
            <a:solidFill>
              <a:srgbClr val="F2A93C"/>
            </a:solidFill>
            <a:prstDash val="solid"/>
          </a:ln>
        </p:spPr>
      </p:sp>
      <p:pic>
        <p:nvPicPr>
          <p:cNvPr id="10" name="Image 0" descr="preencoded.png">    </p:cNvPr>
          <p:cNvPicPr>
            <a:picLocks noChangeAspect="1"/>
          </p:cNvPicPr>
          <p:nvPr/>
        </p:nvPicPr>
        <p:blipFill>
          <a:blip r:embed="rId1"/>
          <a:stretch>
            <a:fillRect/>
          </a:stretch>
        </p:blipFill>
        <p:spPr>
          <a:xfrm>
            <a:off x="1062990" y="2297430"/>
            <a:ext cx="388620" cy="388620"/>
          </a:xfrm>
          <a:prstGeom prst="rect">
            <a:avLst/>
          </a:prstGeom>
        </p:spPr>
      </p:pic>
      <p:sp>
        <p:nvSpPr>
          <p:cNvPr id="11" name="Text 8"/>
          <p:cNvSpPr/>
          <p:nvPr/>
        </p:nvSpPr>
        <p:spPr>
          <a:xfrm>
            <a:off x="868680" y="2953512"/>
            <a:ext cx="3090672" cy="45720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Pincement &amp; happement</a:t>
            </a:r>
            <a:endParaRPr lang="en-US" sz="1600" dirty="0"/>
          </a:p>
        </p:txBody>
      </p:sp>
      <p:sp>
        <p:nvSpPr>
          <p:cNvPr id="12" name="Text 9"/>
          <p:cNvSpPr/>
          <p:nvPr/>
        </p:nvSpPr>
        <p:spPr>
          <a:xfrm>
            <a:off x="868680" y="3355848"/>
            <a:ext cx="3136392" cy="457200"/>
          </a:xfrm>
          <a:prstGeom prst="rect">
            <a:avLst/>
          </a:prstGeom>
          <a:noFill/>
          <a:ln/>
        </p:spPr>
        <p:txBody>
          <a:bodyPr wrap="square" lIns="0" tIns="0" rIns="0" bIns="0" rtlCol="0" anchor="ctr"/>
          <a:lstStyle/>
          <a:p>
            <a:pPr indent="0" marL="0">
              <a:lnSpc>
                <a:spcPct val="102000"/>
              </a:lnSpc>
              <a:buNone/>
            </a:pPr>
            <a:r>
              <a:rPr lang="en-US" sz="1150" dirty="0">
                <a:solidFill>
                  <a:srgbClr val="B4AD9F"/>
                </a:solidFill>
                <a:latin typeface="Calibri" pitchFamily="34" charset="0"/>
                <a:ea typeface="Calibri" pitchFamily="34" charset="-122"/>
                <a:cs typeface="Calibri" pitchFamily="34" charset="-120"/>
              </a:rPr>
              <a:t>Pièces mobiles, engrenages, convoyeurs, points rentrants.</a:t>
            </a:r>
            <a:endParaRPr lang="en-US" sz="1150" dirty="0"/>
          </a:p>
        </p:txBody>
      </p:sp>
      <p:sp>
        <p:nvSpPr>
          <p:cNvPr id="13" name="Shape 10"/>
          <p:cNvSpPr/>
          <p:nvPr/>
        </p:nvSpPr>
        <p:spPr>
          <a:xfrm>
            <a:off x="4297680" y="1783080"/>
            <a:ext cx="3639312" cy="2084832"/>
          </a:xfrm>
          <a:prstGeom prst="roundRect">
            <a:avLst>
              <a:gd name="adj" fmla="val 3947"/>
            </a:avLst>
          </a:prstGeom>
          <a:solidFill>
            <a:srgbClr val="231E17"/>
          </a:solidFill>
          <a:ln w="12700">
            <a:solidFill>
              <a:srgbClr val="3C352A"/>
            </a:solidFill>
            <a:prstDash val="solid"/>
          </a:ln>
        </p:spPr>
      </p:sp>
      <p:sp>
        <p:nvSpPr>
          <p:cNvPr id="14" name="Shape 11"/>
          <p:cNvSpPr/>
          <p:nvPr/>
        </p:nvSpPr>
        <p:spPr>
          <a:xfrm>
            <a:off x="4617720" y="2103120"/>
            <a:ext cx="777240" cy="777240"/>
          </a:xfrm>
          <a:prstGeom prst="oval">
            <a:avLst/>
          </a:prstGeom>
          <a:solidFill>
            <a:srgbClr val="1B1712"/>
          </a:solidFill>
          <a:ln w="19050">
            <a:solidFill>
              <a:srgbClr val="F2A93C"/>
            </a:solidFill>
            <a:prstDash val="solid"/>
          </a:ln>
        </p:spPr>
      </p:sp>
      <p:pic>
        <p:nvPicPr>
          <p:cNvPr id="15" name="Image 1" descr="preencoded.png">    </p:cNvPr>
          <p:cNvPicPr>
            <a:picLocks noChangeAspect="1"/>
          </p:cNvPicPr>
          <p:nvPr/>
        </p:nvPicPr>
        <p:blipFill>
          <a:blip r:embed="rId2"/>
          <a:stretch>
            <a:fillRect/>
          </a:stretch>
        </p:blipFill>
        <p:spPr>
          <a:xfrm>
            <a:off x="4812030" y="2297430"/>
            <a:ext cx="388620" cy="388620"/>
          </a:xfrm>
          <a:prstGeom prst="rect">
            <a:avLst/>
          </a:prstGeom>
        </p:spPr>
      </p:pic>
      <p:sp>
        <p:nvSpPr>
          <p:cNvPr id="16" name="Text 12"/>
          <p:cNvSpPr/>
          <p:nvPr/>
        </p:nvSpPr>
        <p:spPr>
          <a:xfrm>
            <a:off x="4617720" y="2953512"/>
            <a:ext cx="3090672" cy="45720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Outils &amp; lames</a:t>
            </a:r>
            <a:endParaRPr lang="en-US" sz="1600" dirty="0"/>
          </a:p>
        </p:txBody>
      </p:sp>
      <p:sp>
        <p:nvSpPr>
          <p:cNvPr id="17" name="Text 13"/>
          <p:cNvSpPr/>
          <p:nvPr/>
        </p:nvSpPr>
        <p:spPr>
          <a:xfrm>
            <a:off x="4617720" y="3355848"/>
            <a:ext cx="3136392" cy="457200"/>
          </a:xfrm>
          <a:prstGeom prst="rect">
            <a:avLst/>
          </a:prstGeom>
          <a:noFill/>
          <a:ln/>
        </p:spPr>
        <p:txBody>
          <a:bodyPr wrap="square" lIns="0" tIns="0" rIns="0" bIns="0" rtlCol="0" anchor="ctr"/>
          <a:lstStyle/>
          <a:p>
            <a:pPr indent="0" marL="0">
              <a:lnSpc>
                <a:spcPct val="102000"/>
              </a:lnSpc>
              <a:buNone/>
            </a:pPr>
            <a:r>
              <a:rPr lang="en-US" sz="1150" dirty="0">
                <a:solidFill>
                  <a:srgbClr val="B4AD9F"/>
                </a:solidFill>
                <a:latin typeface="Calibri" pitchFamily="34" charset="0"/>
                <a:ea typeface="Calibri" pitchFamily="34" charset="-122"/>
                <a:cs typeface="Calibri" pitchFamily="34" charset="-120"/>
              </a:rPr>
              <a:t>Couteaux, meuleuses, outils à main mal utilisés.</a:t>
            </a:r>
            <a:endParaRPr lang="en-US" sz="1150" dirty="0"/>
          </a:p>
        </p:txBody>
      </p:sp>
      <p:sp>
        <p:nvSpPr>
          <p:cNvPr id="18" name="Shape 14"/>
          <p:cNvSpPr/>
          <p:nvPr/>
        </p:nvSpPr>
        <p:spPr>
          <a:xfrm>
            <a:off x="8046720" y="1783080"/>
            <a:ext cx="3639312" cy="2084832"/>
          </a:xfrm>
          <a:prstGeom prst="roundRect">
            <a:avLst>
              <a:gd name="adj" fmla="val 3947"/>
            </a:avLst>
          </a:prstGeom>
          <a:solidFill>
            <a:srgbClr val="231E17"/>
          </a:solidFill>
          <a:ln w="12700">
            <a:solidFill>
              <a:srgbClr val="3C352A"/>
            </a:solidFill>
            <a:prstDash val="solid"/>
          </a:ln>
        </p:spPr>
      </p:sp>
      <p:sp>
        <p:nvSpPr>
          <p:cNvPr id="19" name="Shape 15"/>
          <p:cNvSpPr/>
          <p:nvPr/>
        </p:nvSpPr>
        <p:spPr>
          <a:xfrm>
            <a:off x="8366760" y="2103120"/>
            <a:ext cx="777240" cy="777240"/>
          </a:xfrm>
          <a:prstGeom prst="oval">
            <a:avLst/>
          </a:prstGeom>
          <a:solidFill>
            <a:srgbClr val="1B1712"/>
          </a:solidFill>
          <a:ln w="19050">
            <a:solidFill>
              <a:srgbClr val="F2A93C"/>
            </a:solidFill>
            <a:prstDash val="solid"/>
          </a:ln>
        </p:spPr>
      </p:sp>
      <p:pic>
        <p:nvPicPr>
          <p:cNvPr id="20" name="Image 2" descr="preencoded.png">    </p:cNvPr>
          <p:cNvPicPr>
            <a:picLocks noChangeAspect="1"/>
          </p:cNvPicPr>
          <p:nvPr/>
        </p:nvPicPr>
        <p:blipFill>
          <a:blip r:embed="rId3"/>
          <a:stretch>
            <a:fillRect/>
          </a:stretch>
        </p:blipFill>
        <p:spPr>
          <a:xfrm>
            <a:off x="8561070" y="2297430"/>
            <a:ext cx="388620" cy="388620"/>
          </a:xfrm>
          <a:prstGeom prst="rect">
            <a:avLst/>
          </a:prstGeom>
        </p:spPr>
      </p:pic>
      <p:sp>
        <p:nvSpPr>
          <p:cNvPr id="21" name="Text 16"/>
          <p:cNvSpPr/>
          <p:nvPr/>
        </p:nvSpPr>
        <p:spPr>
          <a:xfrm>
            <a:off x="8366760" y="2953512"/>
            <a:ext cx="3090672" cy="45720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Manutention &amp; arêtes</a:t>
            </a:r>
            <a:endParaRPr lang="en-US" sz="1600" dirty="0"/>
          </a:p>
        </p:txBody>
      </p:sp>
      <p:sp>
        <p:nvSpPr>
          <p:cNvPr id="22" name="Text 17"/>
          <p:cNvSpPr/>
          <p:nvPr/>
        </p:nvSpPr>
        <p:spPr>
          <a:xfrm>
            <a:off x="8366760" y="3355848"/>
            <a:ext cx="3136392" cy="457200"/>
          </a:xfrm>
          <a:prstGeom prst="rect">
            <a:avLst/>
          </a:prstGeom>
          <a:noFill/>
          <a:ln/>
        </p:spPr>
        <p:txBody>
          <a:bodyPr wrap="square" lIns="0" tIns="0" rIns="0" bIns="0" rtlCol="0" anchor="ctr"/>
          <a:lstStyle/>
          <a:p>
            <a:pPr indent="0" marL="0">
              <a:lnSpc>
                <a:spcPct val="102000"/>
              </a:lnSpc>
              <a:buNone/>
            </a:pPr>
            <a:r>
              <a:rPr lang="en-US" sz="1150" dirty="0">
                <a:solidFill>
                  <a:srgbClr val="B4AD9F"/>
                </a:solidFill>
                <a:latin typeface="Calibri" pitchFamily="34" charset="0"/>
                <a:ea typeface="Calibri" pitchFamily="34" charset="-122"/>
                <a:cs typeface="Calibri" pitchFamily="34" charset="-120"/>
              </a:rPr>
              <a:t>Écrasement, tôle, arêtes vives, charges lourdes.</a:t>
            </a:r>
            <a:endParaRPr lang="en-US" sz="1150" dirty="0"/>
          </a:p>
        </p:txBody>
      </p:sp>
      <p:sp>
        <p:nvSpPr>
          <p:cNvPr id="23" name="Shape 18"/>
          <p:cNvSpPr/>
          <p:nvPr/>
        </p:nvSpPr>
        <p:spPr>
          <a:xfrm>
            <a:off x="548640" y="4014216"/>
            <a:ext cx="3639312" cy="2084832"/>
          </a:xfrm>
          <a:prstGeom prst="roundRect">
            <a:avLst>
              <a:gd name="adj" fmla="val 3947"/>
            </a:avLst>
          </a:prstGeom>
          <a:solidFill>
            <a:srgbClr val="231E17"/>
          </a:solidFill>
          <a:ln w="12700">
            <a:solidFill>
              <a:srgbClr val="3C352A"/>
            </a:solidFill>
            <a:prstDash val="solid"/>
          </a:ln>
        </p:spPr>
      </p:sp>
      <p:sp>
        <p:nvSpPr>
          <p:cNvPr id="24" name="Shape 19"/>
          <p:cNvSpPr/>
          <p:nvPr/>
        </p:nvSpPr>
        <p:spPr>
          <a:xfrm>
            <a:off x="868680" y="4334256"/>
            <a:ext cx="777240" cy="777240"/>
          </a:xfrm>
          <a:prstGeom prst="oval">
            <a:avLst/>
          </a:prstGeom>
          <a:solidFill>
            <a:srgbClr val="1B1712"/>
          </a:solidFill>
          <a:ln w="19050">
            <a:solidFill>
              <a:srgbClr val="F2A93C"/>
            </a:solidFill>
            <a:prstDash val="solid"/>
          </a:ln>
        </p:spPr>
      </p:sp>
      <p:pic>
        <p:nvPicPr>
          <p:cNvPr id="25" name="Image 3" descr="preencoded.png">    </p:cNvPr>
          <p:cNvPicPr>
            <a:picLocks noChangeAspect="1"/>
          </p:cNvPicPr>
          <p:nvPr/>
        </p:nvPicPr>
        <p:blipFill>
          <a:blip r:embed="rId4"/>
          <a:stretch>
            <a:fillRect/>
          </a:stretch>
        </p:blipFill>
        <p:spPr>
          <a:xfrm>
            <a:off x="1062990" y="4528566"/>
            <a:ext cx="388620" cy="388620"/>
          </a:xfrm>
          <a:prstGeom prst="rect">
            <a:avLst/>
          </a:prstGeom>
        </p:spPr>
      </p:pic>
      <p:sp>
        <p:nvSpPr>
          <p:cNvPr id="26" name="Text 20"/>
          <p:cNvSpPr/>
          <p:nvPr/>
        </p:nvSpPr>
        <p:spPr>
          <a:xfrm>
            <a:off x="868680" y="5184648"/>
            <a:ext cx="3090672" cy="45720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Énergie non maîtrisée</a:t>
            </a:r>
            <a:endParaRPr lang="en-US" sz="1600" dirty="0"/>
          </a:p>
        </p:txBody>
      </p:sp>
      <p:sp>
        <p:nvSpPr>
          <p:cNvPr id="27" name="Text 21"/>
          <p:cNvSpPr/>
          <p:nvPr/>
        </p:nvSpPr>
        <p:spPr>
          <a:xfrm>
            <a:off x="868680" y="5586984"/>
            <a:ext cx="3136392" cy="457200"/>
          </a:xfrm>
          <a:prstGeom prst="rect">
            <a:avLst/>
          </a:prstGeom>
          <a:noFill/>
          <a:ln/>
        </p:spPr>
        <p:txBody>
          <a:bodyPr wrap="square" lIns="0" tIns="0" rIns="0" bIns="0" rtlCol="0" anchor="ctr"/>
          <a:lstStyle/>
          <a:p>
            <a:pPr indent="0" marL="0">
              <a:lnSpc>
                <a:spcPct val="102000"/>
              </a:lnSpc>
              <a:buNone/>
            </a:pPr>
            <a:r>
              <a:rPr lang="en-US" sz="1150" dirty="0">
                <a:solidFill>
                  <a:srgbClr val="B4AD9F"/>
                </a:solidFill>
                <a:latin typeface="Calibri" pitchFamily="34" charset="0"/>
                <a:ea typeface="Calibri" pitchFamily="34" charset="-122"/>
                <a:cs typeface="Calibri" pitchFamily="34" charset="-120"/>
              </a:rPr>
              <a:t>Absence de cadenassage; énergie résiduelle.</a:t>
            </a:r>
            <a:endParaRPr lang="en-US" sz="1150" dirty="0"/>
          </a:p>
        </p:txBody>
      </p:sp>
      <p:sp>
        <p:nvSpPr>
          <p:cNvPr id="28" name="Shape 22"/>
          <p:cNvSpPr/>
          <p:nvPr/>
        </p:nvSpPr>
        <p:spPr>
          <a:xfrm>
            <a:off x="4297680" y="4014216"/>
            <a:ext cx="3639312" cy="2084832"/>
          </a:xfrm>
          <a:prstGeom prst="roundRect">
            <a:avLst>
              <a:gd name="adj" fmla="val 3947"/>
            </a:avLst>
          </a:prstGeom>
          <a:solidFill>
            <a:srgbClr val="231E17"/>
          </a:solidFill>
          <a:ln w="12700">
            <a:solidFill>
              <a:srgbClr val="3C352A"/>
            </a:solidFill>
            <a:prstDash val="solid"/>
          </a:ln>
        </p:spPr>
      </p:sp>
      <p:sp>
        <p:nvSpPr>
          <p:cNvPr id="29" name="Shape 23"/>
          <p:cNvSpPr/>
          <p:nvPr/>
        </p:nvSpPr>
        <p:spPr>
          <a:xfrm>
            <a:off x="4617720" y="4334256"/>
            <a:ext cx="777240" cy="777240"/>
          </a:xfrm>
          <a:prstGeom prst="oval">
            <a:avLst/>
          </a:prstGeom>
          <a:solidFill>
            <a:srgbClr val="1B1712"/>
          </a:solidFill>
          <a:ln w="19050">
            <a:solidFill>
              <a:srgbClr val="F2A93C"/>
            </a:solidFill>
            <a:prstDash val="solid"/>
          </a:ln>
        </p:spPr>
      </p:sp>
      <p:pic>
        <p:nvPicPr>
          <p:cNvPr id="30" name="Image 4" descr="preencoded.png">    </p:cNvPr>
          <p:cNvPicPr>
            <a:picLocks noChangeAspect="1"/>
          </p:cNvPicPr>
          <p:nvPr/>
        </p:nvPicPr>
        <p:blipFill>
          <a:blip r:embed="rId5"/>
          <a:stretch>
            <a:fillRect/>
          </a:stretch>
        </p:blipFill>
        <p:spPr>
          <a:xfrm>
            <a:off x="4812030" y="4528566"/>
            <a:ext cx="388620" cy="388620"/>
          </a:xfrm>
          <a:prstGeom prst="rect">
            <a:avLst/>
          </a:prstGeom>
        </p:spPr>
      </p:pic>
      <p:sp>
        <p:nvSpPr>
          <p:cNvPr id="31" name="Text 24"/>
          <p:cNvSpPr/>
          <p:nvPr/>
        </p:nvSpPr>
        <p:spPr>
          <a:xfrm>
            <a:off x="4617720" y="5184648"/>
            <a:ext cx="3090672" cy="45720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Vibrations</a:t>
            </a:r>
            <a:endParaRPr lang="en-US" sz="1600" dirty="0"/>
          </a:p>
        </p:txBody>
      </p:sp>
      <p:sp>
        <p:nvSpPr>
          <p:cNvPr id="32" name="Text 25"/>
          <p:cNvSpPr/>
          <p:nvPr/>
        </p:nvSpPr>
        <p:spPr>
          <a:xfrm>
            <a:off x="4617720" y="5586984"/>
            <a:ext cx="3136392" cy="457200"/>
          </a:xfrm>
          <a:prstGeom prst="rect">
            <a:avLst/>
          </a:prstGeom>
          <a:noFill/>
          <a:ln/>
        </p:spPr>
        <p:txBody>
          <a:bodyPr wrap="square" lIns="0" tIns="0" rIns="0" bIns="0" rtlCol="0" anchor="ctr"/>
          <a:lstStyle/>
          <a:p>
            <a:pPr indent="0" marL="0">
              <a:lnSpc>
                <a:spcPct val="102000"/>
              </a:lnSpc>
              <a:buNone/>
            </a:pPr>
            <a:r>
              <a:rPr lang="en-US" sz="1150" dirty="0">
                <a:solidFill>
                  <a:srgbClr val="B4AD9F"/>
                </a:solidFill>
                <a:latin typeface="Calibri" pitchFamily="34" charset="0"/>
                <a:ea typeface="Calibri" pitchFamily="34" charset="-122"/>
                <a:cs typeface="Calibri" pitchFamily="34" charset="-120"/>
              </a:rPr>
              <a:t>Outils vibrants : foreuse, marteau, meuleuse.</a:t>
            </a:r>
            <a:endParaRPr lang="en-US" sz="1150" dirty="0"/>
          </a:p>
        </p:txBody>
      </p:sp>
      <p:sp>
        <p:nvSpPr>
          <p:cNvPr id="33" name="Shape 26"/>
          <p:cNvSpPr/>
          <p:nvPr/>
        </p:nvSpPr>
        <p:spPr>
          <a:xfrm>
            <a:off x="8046720" y="4014216"/>
            <a:ext cx="3639312" cy="2084832"/>
          </a:xfrm>
          <a:prstGeom prst="roundRect">
            <a:avLst>
              <a:gd name="adj" fmla="val 3947"/>
            </a:avLst>
          </a:prstGeom>
          <a:solidFill>
            <a:srgbClr val="231E17"/>
          </a:solidFill>
          <a:ln w="12700">
            <a:solidFill>
              <a:srgbClr val="3C352A"/>
            </a:solidFill>
            <a:prstDash val="solid"/>
          </a:ln>
        </p:spPr>
      </p:sp>
      <p:sp>
        <p:nvSpPr>
          <p:cNvPr id="34" name="Shape 27"/>
          <p:cNvSpPr/>
          <p:nvPr/>
        </p:nvSpPr>
        <p:spPr>
          <a:xfrm>
            <a:off x="8366760" y="4334256"/>
            <a:ext cx="777240" cy="777240"/>
          </a:xfrm>
          <a:prstGeom prst="oval">
            <a:avLst/>
          </a:prstGeom>
          <a:solidFill>
            <a:srgbClr val="1B1712"/>
          </a:solidFill>
          <a:ln w="19050">
            <a:solidFill>
              <a:srgbClr val="F2A93C"/>
            </a:solidFill>
            <a:prstDash val="solid"/>
          </a:ln>
        </p:spPr>
      </p:sp>
      <p:pic>
        <p:nvPicPr>
          <p:cNvPr id="35" name="Image 5" descr="preencoded.png">    </p:cNvPr>
          <p:cNvPicPr>
            <a:picLocks noChangeAspect="1"/>
          </p:cNvPicPr>
          <p:nvPr/>
        </p:nvPicPr>
        <p:blipFill>
          <a:blip r:embed="rId6"/>
          <a:stretch>
            <a:fillRect/>
          </a:stretch>
        </p:blipFill>
        <p:spPr>
          <a:xfrm>
            <a:off x="8561070" y="4528566"/>
            <a:ext cx="388620" cy="388620"/>
          </a:xfrm>
          <a:prstGeom prst="rect">
            <a:avLst/>
          </a:prstGeom>
        </p:spPr>
      </p:pic>
      <p:sp>
        <p:nvSpPr>
          <p:cNvPr id="36" name="Text 28"/>
          <p:cNvSpPr/>
          <p:nvPr/>
        </p:nvSpPr>
        <p:spPr>
          <a:xfrm>
            <a:off x="8366760" y="5184648"/>
            <a:ext cx="3090672" cy="45720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Gant absent / inadéquat</a:t>
            </a:r>
            <a:endParaRPr lang="en-US" sz="1600" dirty="0"/>
          </a:p>
        </p:txBody>
      </p:sp>
      <p:sp>
        <p:nvSpPr>
          <p:cNvPr id="37" name="Text 29"/>
          <p:cNvSpPr/>
          <p:nvPr/>
        </p:nvSpPr>
        <p:spPr>
          <a:xfrm>
            <a:off x="8366760" y="5586984"/>
            <a:ext cx="3136392" cy="457200"/>
          </a:xfrm>
          <a:prstGeom prst="rect">
            <a:avLst/>
          </a:prstGeom>
          <a:noFill/>
          <a:ln/>
        </p:spPr>
        <p:txBody>
          <a:bodyPr wrap="square" lIns="0" tIns="0" rIns="0" bIns="0" rtlCol="0" anchor="ctr"/>
          <a:lstStyle/>
          <a:p>
            <a:pPr indent="0" marL="0">
              <a:lnSpc>
                <a:spcPct val="102000"/>
              </a:lnSpc>
              <a:buNone/>
            </a:pPr>
            <a:r>
              <a:rPr lang="en-US" sz="1150" dirty="0">
                <a:solidFill>
                  <a:srgbClr val="B4AD9F"/>
                </a:solidFill>
                <a:latin typeface="Calibri" pitchFamily="34" charset="0"/>
                <a:ea typeface="Calibri" pitchFamily="34" charset="-122"/>
                <a:cs typeface="Calibri" pitchFamily="34" charset="-120"/>
              </a:rPr>
              <a:t>Aucun gant, ou gant non adapté à la tâche.</a:t>
            </a:r>
            <a:endParaRPr lang="en-US" sz="1150" dirty="0"/>
          </a:p>
        </p:txBody>
      </p:sp>
      <p:sp>
        <p:nvSpPr>
          <p:cNvPr id="38" name="Text 30"/>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850" dirty="0">
                <a:solidFill>
                  <a:srgbClr val="857E70"/>
                </a:solidFill>
                <a:latin typeface="Calibri" pitchFamily="34" charset="0"/>
                <a:ea typeface="Calibri" pitchFamily="34" charset="-122"/>
                <a:cs typeface="Calibri" pitchFamily="34" charset="-120"/>
              </a:rPr>
              <a:t>Santé-Sécurité · Prévention des blessures aux mains</a:t>
            </a:r>
            <a:endParaRPr lang="en-US" sz="850" dirty="0"/>
          </a:p>
        </p:txBody>
      </p:sp>
      <p:sp>
        <p:nvSpPr>
          <p:cNvPr id="39" name="Text 31"/>
          <p:cNvSpPr/>
          <p:nvPr/>
        </p:nvSpPr>
        <p:spPr>
          <a:xfrm>
            <a:off x="11185855" y="6437376"/>
            <a:ext cx="457200" cy="274320"/>
          </a:xfrm>
          <a:prstGeom prst="rect">
            <a:avLst/>
          </a:prstGeom>
          <a:noFill/>
          <a:ln/>
        </p:spPr>
        <p:txBody>
          <a:bodyPr wrap="square" lIns="0" tIns="0" rIns="0" bIns="0" rtlCol="0" anchor="ctr"/>
          <a:lstStyle/>
          <a:p>
            <a:pPr algn="r" indent="0" marL="0">
              <a:buNone/>
            </a:pPr>
            <a:r>
              <a:rPr lang="en-US" sz="1100" dirty="0">
                <a:solidFill>
                  <a:srgbClr val="F2A93C"/>
                </a:solidFill>
                <a:latin typeface="Cambria" pitchFamily="34" charset="0"/>
                <a:ea typeface="Cambria" pitchFamily="34" charset="-122"/>
                <a:cs typeface="Cambria"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210"/>
        </a:solidFill>
      </p:bgPr>
    </p:bg>
    <p:spTree>
      <p:nvGrpSpPr>
        <p:cNvPr id="1" name=""/>
        <p:cNvGrpSpPr/>
        <p:nvPr/>
      </p:nvGrpSpPr>
      <p:grpSpPr>
        <a:xfrm>
          <a:off x="0" y="0"/>
          <a:ext cx="0" cy="0"/>
          <a:chOff x="0" y="0"/>
          <a:chExt cx="0" cy="0"/>
        </a:xfrm>
      </p:grpSpPr>
      <p:sp>
        <p:nvSpPr>
          <p:cNvPr id="2" name="Shape 0"/>
          <p:cNvSpPr/>
          <p:nvPr/>
        </p:nvSpPr>
        <p:spPr>
          <a:xfrm>
            <a:off x="548640" y="384048"/>
            <a:ext cx="310896" cy="310896"/>
          </a:xfrm>
          <a:prstGeom prst="roundRect">
            <a:avLst>
              <a:gd name="adj" fmla="val 17647"/>
            </a:avLst>
          </a:prstGeom>
          <a:solidFill>
            <a:srgbClr val="F2A93C"/>
          </a:solidFill>
          <a:ln/>
        </p:spPr>
      </p:sp>
      <p:sp>
        <p:nvSpPr>
          <p:cNvPr id="3" name="Shape 1"/>
          <p:cNvSpPr/>
          <p:nvPr/>
        </p:nvSpPr>
        <p:spPr>
          <a:xfrm rot="5400000">
            <a:off x="641909" y="464881"/>
            <a:ext cx="136794" cy="149230"/>
          </a:xfrm>
          <a:prstGeom prst="triangle">
            <a:avLst/>
          </a:prstGeom>
          <a:solidFill>
            <a:srgbClr val="141210"/>
          </a:solidFill>
          <a:ln/>
        </p:spPr>
      </p:sp>
      <p:sp>
        <p:nvSpPr>
          <p:cNvPr id="4" name="Text 2"/>
          <p:cNvSpPr/>
          <p:nvPr/>
        </p:nvSpPr>
        <p:spPr>
          <a:xfrm>
            <a:off x="969264" y="338328"/>
            <a:ext cx="2194560" cy="402336"/>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Dhilmar</a:t>
            </a:r>
            <a:endParaRPr lang="en-US" sz="1700" dirty="0"/>
          </a:p>
        </p:txBody>
      </p:sp>
      <p:sp>
        <p:nvSpPr>
          <p:cNvPr id="5" name="Text 3"/>
          <p:cNvSpPr/>
          <p:nvPr/>
        </p:nvSpPr>
        <p:spPr>
          <a:xfrm>
            <a:off x="9265615" y="420624"/>
            <a:ext cx="2377440" cy="274320"/>
          </a:xfrm>
          <a:prstGeom prst="rect">
            <a:avLst/>
          </a:prstGeom>
          <a:noFill/>
          <a:ln/>
        </p:spPr>
        <p:txBody>
          <a:bodyPr wrap="square" lIns="0" tIns="0" rIns="0" bIns="0" rtlCol="0" anchor="ctr"/>
          <a:lstStyle/>
          <a:p>
            <a:pPr algn="r" indent="0" marL="0">
              <a:buNone/>
            </a:pPr>
            <a:r>
              <a:rPr lang="en-US" sz="1050" b="1" spc="200" kern="0" dirty="0">
                <a:solidFill>
                  <a:srgbClr val="857E70"/>
                </a:solidFill>
                <a:latin typeface="Calibri" pitchFamily="34" charset="0"/>
                <a:ea typeface="Calibri" pitchFamily="34" charset="-122"/>
                <a:cs typeface="Calibri" pitchFamily="34" charset="-120"/>
              </a:rPr>
              <a:t>MINE </a:t>
            </a:r>
            <a:pPr algn="r" indent="0" marL="0">
              <a:buNone/>
            </a:pPr>
            <a:r>
              <a:rPr lang="en-US" sz="1050" b="1" spc="200" kern="0" dirty="0">
                <a:solidFill>
                  <a:srgbClr val="F2A93C"/>
                </a:solidFill>
                <a:latin typeface="Calibri" pitchFamily="34" charset="0"/>
                <a:ea typeface="Calibri" pitchFamily="34" charset="-122"/>
                <a:cs typeface="Calibri" pitchFamily="34" charset="-120"/>
              </a:rPr>
              <a:t>ÉLÉONORE</a:t>
            </a:r>
            <a:endParaRPr lang="en-US" sz="1050" dirty="0"/>
          </a:p>
        </p:txBody>
      </p:sp>
      <p:sp>
        <p:nvSpPr>
          <p:cNvPr id="6" name="Text 4"/>
          <p:cNvSpPr/>
          <p:nvPr/>
        </p:nvSpPr>
        <p:spPr>
          <a:xfrm>
            <a:off x="566928" y="475488"/>
            <a:ext cx="9144000" cy="274320"/>
          </a:xfrm>
          <a:prstGeom prst="rect">
            <a:avLst/>
          </a:prstGeom>
          <a:noFill/>
          <a:ln/>
        </p:spPr>
        <p:txBody>
          <a:bodyPr wrap="square" lIns="0" tIns="0" rIns="0" bIns="0" rtlCol="0" anchor="ctr"/>
          <a:lstStyle/>
          <a:p>
            <a:pPr indent="0" marL="0">
              <a:buNone/>
            </a:pPr>
            <a:r>
              <a:rPr lang="en-US" sz="1200" b="1" spc="300" kern="0" dirty="0">
                <a:solidFill>
                  <a:srgbClr val="F2A93C"/>
                </a:solidFill>
                <a:latin typeface="Calibri" pitchFamily="34" charset="0"/>
                <a:ea typeface="Calibri" pitchFamily="34" charset="-122"/>
                <a:cs typeface="Calibri" pitchFamily="34" charset="-120"/>
              </a:rPr>
              <a:t>VIDÉO — LA LIGNE DE TIR</a:t>
            </a:r>
            <a:endParaRPr lang="en-US" sz="1200" dirty="0"/>
          </a:p>
        </p:txBody>
      </p:sp>
      <p:sp>
        <p:nvSpPr>
          <p:cNvPr id="7" name="Text 5"/>
          <p:cNvSpPr/>
          <p:nvPr/>
        </p:nvSpPr>
        <p:spPr>
          <a:xfrm>
            <a:off x="548640" y="768096"/>
            <a:ext cx="11064240" cy="822960"/>
          </a:xfrm>
          <a:prstGeom prst="rect">
            <a:avLst/>
          </a:prstGeom>
          <a:noFill/>
          <a:ln/>
        </p:spPr>
        <p:txBody>
          <a:bodyPr wrap="square" lIns="0" tIns="0" rIns="0" bIns="0" rtlCol="0" anchor="ctr"/>
          <a:lstStyle/>
          <a:p>
            <a:pPr indent="0" marL="0">
              <a:lnSpc>
                <a:spcPts val="3465"/>
              </a:lnSpc>
              <a:buNone/>
            </a:pPr>
            <a:r>
              <a:rPr lang="en-US" sz="3300" b="1" dirty="0">
                <a:solidFill>
                  <a:srgbClr val="FFFFFF"/>
                </a:solidFill>
                <a:latin typeface="Cambria" pitchFamily="34" charset="0"/>
                <a:ea typeface="Cambria" pitchFamily="34" charset="-122"/>
                <a:cs typeface="Cambria" pitchFamily="34" charset="-120"/>
              </a:rPr>
              <a:t>Le danger en un instant</a:t>
            </a:r>
            <a:endParaRPr lang="en-US" sz="3300" dirty="0"/>
          </a:p>
        </p:txBody>
      </p:sp>
      <p:sp>
        <p:nvSpPr>
          <p:cNvPr id="8" name="Shape 6"/>
          <p:cNvSpPr/>
          <p:nvPr/>
        </p:nvSpPr>
        <p:spPr>
          <a:xfrm>
            <a:off x="548640" y="1828800"/>
            <a:ext cx="7315200" cy="4114800"/>
          </a:xfrm>
          <a:prstGeom prst="roundRect">
            <a:avLst>
              <a:gd name="adj" fmla="val 2667"/>
            </a:avLst>
          </a:prstGeom>
          <a:solidFill>
            <a:srgbClr val="0C0A08"/>
          </a:solidFill>
          <a:ln w="15875">
            <a:solidFill>
              <a:srgbClr val="C9852A"/>
            </a:solidFill>
            <a:prstDash val="solid"/>
          </a:ln>
        </p:spPr>
      </p:sp>
      <p:sp>
        <p:nvSpPr>
          <p:cNvPr id="9" name="Shape 7"/>
          <p:cNvSpPr/>
          <p:nvPr/>
        </p:nvSpPr>
        <p:spPr>
          <a:xfrm>
            <a:off x="3520440" y="3200400"/>
            <a:ext cx="1371600" cy="1371600"/>
          </a:xfrm>
          <a:prstGeom prst="oval">
            <a:avLst/>
          </a:prstGeom>
          <a:ln w="31750">
            <a:solidFill>
              <a:srgbClr val="F2A93C"/>
            </a:solidFill>
            <a:prstDash val="solid"/>
          </a:ln>
        </p:spPr>
      </p:sp>
      <p:sp>
        <p:nvSpPr>
          <p:cNvPr id="10" name="Shape 8"/>
          <p:cNvSpPr/>
          <p:nvPr/>
        </p:nvSpPr>
        <p:spPr>
          <a:xfrm rot="5400000">
            <a:off x="4023360" y="3575304"/>
            <a:ext cx="548640" cy="621792"/>
          </a:xfrm>
          <a:prstGeom prst="triangle">
            <a:avLst/>
          </a:prstGeom>
          <a:solidFill>
            <a:srgbClr val="F2A93C"/>
          </a:solidFill>
          <a:ln/>
        </p:spPr>
      </p:sp>
      <p:sp>
        <p:nvSpPr>
          <p:cNvPr id="11" name="Shape 9"/>
          <p:cNvSpPr/>
          <p:nvPr/>
        </p:nvSpPr>
        <p:spPr>
          <a:xfrm>
            <a:off x="822960" y="2103120"/>
            <a:ext cx="1371600" cy="402336"/>
          </a:xfrm>
          <a:prstGeom prst="roundRect">
            <a:avLst>
              <a:gd name="adj" fmla="val 18182"/>
            </a:avLst>
          </a:prstGeom>
          <a:solidFill>
            <a:srgbClr val="F2A93C"/>
          </a:solidFill>
          <a:ln/>
        </p:spPr>
      </p:sp>
      <p:sp>
        <p:nvSpPr>
          <p:cNvPr id="12" name="Text 10"/>
          <p:cNvSpPr/>
          <p:nvPr/>
        </p:nvSpPr>
        <p:spPr>
          <a:xfrm>
            <a:off x="822960" y="2103120"/>
            <a:ext cx="1371600" cy="402336"/>
          </a:xfrm>
          <a:prstGeom prst="rect">
            <a:avLst/>
          </a:prstGeom>
          <a:noFill/>
          <a:ln/>
        </p:spPr>
        <p:txBody>
          <a:bodyPr wrap="square" lIns="0" tIns="0" rIns="0" bIns="0" rtlCol="0" anchor="ctr"/>
          <a:lstStyle/>
          <a:p>
            <a:pPr algn="ctr" indent="0" marL="0">
              <a:buNone/>
            </a:pPr>
            <a:r>
              <a:rPr lang="en-US" sz="1100" b="1" dirty="0">
                <a:solidFill>
                  <a:srgbClr val="141210"/>
                </a:solidFill>
                <a:latin typeface="Calibri" pitchFamily="34" charset="0"/>
                <a:ea typeface="Calibri" pitchFamily="34" charset="-122"/>
                <a:cs typeface="Calibri" pitchFamily="34" charset="-120"/>
              </a:rPr>
              <a:t>● VIDÉO</a:t>
            </a:r>
            <a:endParaRPr lang="en-US" sz="1100" dirty="0"/>
          </a:p>
        </p:txBody>
      </p:sp>
      <p:sp>
        <p:nvSpPr>
          <p:cNvPr id="13" name="Text 11"/>
          <p:cNvSpPr/>
          <p:nvPr/>
        </p:nvSpPr>
        <p:spPr>
          <a:xfrm>
            <a:off x="5577840" y="2121408"/>
            <a:ext cx="2011680" cy="365760"/>
          </a:xfrm>
          <a:prstGeom prst="rect">
            <a:avLst/>
          </a:prstGeom>
          <a:noFill/>
          <a:ln/>
        </p:spPr>
        <p:txBody>
          <a:bodyPr wrap="square" lIns="0" tIns="0" rIns="0" bIns="0" rtlCol="0" anchor="ctr"/>
          <a:lstStyle/>
          <a:p>
            <a:pPr algn="r" indent="0" marL="0">
              <a:buNone/>
            </a:pPr>
            <a:r>
              <a:rPr lang="en-US" sz="1050" dirty="0">
                <a:solidFill>
                  <a:srgbClr val="B4AD9F"/>
                </a:solidFill>
                <a:latin typeface="Calibri" pitchFamily="34" charset="0"/>
                <a:ea typeface="Calibri" pitchFamily="34" charset="-122"/>
                <a:cs typeface="Calibri" pitchFamily="34" charset="-120"/>
              </a:rPr>
              <a:t>Clip Higgsfield · 5 s</a:t>
            </a:r>
            <a:endParaRPr lang="en-US" sz="1050" dirty="0"/>
          </a:p>
        </p:txBody>
      </p:sp>
      <p:sp>
        <p:nvSpPr>
          <p:cNvPr id="14" name="Text 12"/>
          <p:cNvSpPr/>
          <p:nvPr/>
        </p:nvSpPr>
        <p:spPr>
          <a:xfrm>
            <a:off x="1005840" y="5029200"/>
            <a:ext cx="6400800" cy="640080"/>
          </a:xfrm>
          <a:prstGeom prst="rect">
            <a:avLst/>
          </a:prstGeom>
          <a:noFill/>
          <a:ln/>
        </p:spPr>
        <p:txBody>
          <a:bodyPr wrap="square" lIns="0" tIns="0" rIns="0" bIns="0" rtlCol="0" anchor="ctr"/>
          <a:lstStyle/>
          <a:p>
            <a:pPr algn="ctr" indent="0" marL="0">
              <a:buNone/>
            </a:pPr>
            <a:r>
              <a:rPr lang="en-US" sz="1800" b="1" i="1" dirty="0">
                <a:solidFill>
                  <a:srgbClr val="F7C775"/>
                </a:solidFill>
                <a:latin typeface="Cambria" pitchFamily="34" charset="0"/>
                <a:ea typeface="Cambria" pitchFamily="34" charset="-122"/>
                <a:cs typeface="Cambria" pitchFamily="34" charset="-120"/>
              </a:rPr>
              <a:t>Une main dans la ligne de tir : ça va vite.</a:t>
            </a:r>
            <a:endParaRPr lang="en-US" sz="1800" dirty="0"/>
          </a:p>
        </p:txBody>
      </p:sp>
      <p:sp>
        <p:nvSpPr>
          <p:cNvPr id="15" name="Text 13"/>
          <p:cNvSpPr/>
          <p:nvPr/>
        </p:nvSpPr>
        <p:spPr>
          <a:xfrm>
            <a:off x="8092440" y="1874520"/>
            <a:ext cx="3566160" cy="274320"/>
          </a:xfrm>
          <a:prstGeom prst="rect">
            <a:avLst/>
          </a:prstGeom>
          <a:noFill/>
          <a:ln/>
        </p:spPr>
        <p:txBody>
          <a:bodyPr wrap="square" lIns="0" tIns="0" rIns="0" bIns="0" rtlCol="0" anchor="ctr"/>
          <a:lstStyle/>
          <a:p>
            <a:pPr indent="0" marL="0">
              <a:buNone/>
            </a:pPr>
            <a:r>
              <a:rPr lang="en-US" sz="1100" b="1" spc="200" kern="0" dirty="0">
                <a:solidFill>
                  <a:srgbClr val="F2A93C"/>
                </a:solidFill>
                <a:latin typeface="Calibri" pitchFamily="34" charset="0"/>
                <a:ea typeface="Calibri" pitchFamily="34" charset="-122"/>
                <a:cs typeface="Calibri" pitchFamily="34" charset="-120"/>
              </a:rPr>
              <a:t>À OBSERVER</a:t>
            </a:r>
            <a:endParaRPr lang="en-US" sz="1100" dirty="0"/>
          </a:p>
        </p:txBody>
      </p:sp>
      <p:sp>
        <p:nvSpPr>
          <p:cNvPr id="16" name="Shape 14"/>
          <p:cNvSpPr/>
          <p:nvPr/>
        </p:nvSpPr>
        <p:spPr>
          <a:xfrm>
            <a:off x="8092440" y="2331720"/>
            <a:ext cx="457200" cy="457200"/>
          </a:xfrm>
          <a:prstGeom prst="oval">
            <a:avLst/>
          </a:prstGeom>
          <a:solidFill>
            <a:srgbClr val="1B1712"/>
          </a:solidFill>
          <a:ln w="19050">
            <a:solidFill>
              <a:srgbClr val="F2A93C"/>
            </a:solidFill>
            <a:prstDash val="solid"/>
          </a:ln>
        </p:spPr>
      </p:sp>
      <p:pic>
        <p:nvPicPr>
          <p:cNvPr id="17" name="Image 0" descr="preencoded.png">    </p:cNvPr>
          <p:cNvPicPr>
            <a:picLocks noChangeAspect="1"/>
          </p:cNvPicPr>
          <p:nvPr/>
        </p:nvPicPr>
        <p:blipFill>
          <a:blip r:embed="rId1"/>
          <a:stretch>
            <a:fillRect/>
          </a:stretch>
        </p:blipFill>
        <p:spPr>
          <a:xfrm>
            <a:off x="8206740" y="2446020"/>
            <a:ext cx="228600" cy="228600"/>
          </a:xfrm>
          <a:prstGeom prst="rect">
            <a:avLst/>
          </a:prstGeom>
        </p:spPr>
      </p:pic>
      <p:sp>
        <p:nvSpPr>
          <p:cNvPr id="18" name="Text 15"/>
          <p:cNvSpPr/>
          <p:nvPr/>
        </p:nvSpPr>
        <p:spPr>
          <a:xfrm>
            <a:off x="8695944" y="2276856"/>
            <a:ext cx="2962656" cy="777240"/>
          </a:xfrm>
          <a:prstGeom prst="rect">
            <a:avLst/>
          </a:prstGeom>
          <a:noFill/>
          <a:ln/>
        </p:spPr>
        <p:txBody>
          <a:bodyPr wrap="square" lIns="0" tIns="0" rIns="0" bIns="0" rtlCol="0" anchor="ctr"/>
          <a:lstStyle/>
          <a:p>
            <a:pPr indent="0" marL="0">
              <a:lnSpc>
                <a:spcPct val="103000"/>
              </a:lnSpc>
              <a:buNone/>
            </a:pPr>
            <a:r>
              <a:rPr lang="en-US" sz="1350" dirty="0">
                <a:solidFill>
                  <a:srgbClr val="ECE7DD"/>
                </a:solidFill>
                <a:latin typeface="Calibri" pitchFamily="34" charset="0"/>
                <a:ea typeface="Calibri" pitchFamily="34" charset="-122"/>
                <a:cs typeface="Calibri" pitchFamily="34" charset="-120"/>
              </a:rPr>
              <a:t>Où sont les mains par rapport aux pièces mobiles ?</a:t>
            </a:r>
            <a:endParaRPr lang="en-US" sz="1350" dirty="0"/>
          </a:p>
        </p:txBody>
      </p:sp>
      <p:sp>
        <p:nvSpPr>
          <p:cNvPr id="19" name="Shape 16"/>
          <p:cNvSpPr/>
          <p:nvPr/>
        </p:nvSpPr>
        <p:spPr>
          <a:xfrm>
            <a:off x="8092440" y="3172968"/>
            <a:ext cx="457200" cy="457200"/>
          </a:xfrm>
          <a:prstGeom prst="oval">
            <a:avLst/>
          </a:prstGeom>
          <a:solidFill>
            <a:srgbClr val="1B1712"/>
          </a:solidFill>
          <a:ln w="19050">
            <a:solidFill>
              <a:srgbClr val="F2A93C"/>
            </a:solidFill>
            <a:prstDash val="solid"/>
          </a:ln>
        </p:spPr>
      </p:sp>
      <p:pic>
        <p:nvPicPr>
          <p:cNvPr id="20" name="Image 1" descr="preencoded.png">    </p:cNvPr>
          <p:cNvPicPr>
            <a:picLocks noChangeAspect="1"/>
          </p:cNvPicPr>
          <p:nvPr/>
        </p:nvPicPr>
        <p:blipFill>
          <a:blip r:embed="rId2"/>
          <a:stretch>
            <a:fillRect/>
          </a:stretch>
        </p:blipFill>
        <p:spPr>
          <a:xfrm>
            <a:off x="8206740" y="3287268"/>
            <a:ext cx="228600" cy="228600"/>
          </a:xfrm>
          <a:prstGeom prst="rect">
            <a:avLst/>
          </a:prstGeom>
        </p:spPr>
      </p:pic>
      <p:sp>
        <p:nvSpPr>
          <p:cNvPr id="21" name="Text 17"/>
          <p:cNvSpPr/>
          <p:nvPr/>
        </p:nvSpPr>
        <p:spPr>
          <a:xfrm>
            <a:off x="8695944" y="3118104"/>
            <a:ext cx="2962656" cy="777240"/>
          </a:xfrm>
          <a:prstGeom prst="rect">
            <a:avLst/>
          </a:prstGeom>
          <a:noFill/>
          <a:ln/>
        </p:spPr>
        <p:txBody>
          <a:bodyPr wrap="square" lIns="0" tIns="0" rIns="0" bIns="0" rtlCol="0" anchor="ctr"/>
          <a:lstStyle/>
          <a:p>
            <a:pPr indent="0" marL="0">
              <a:lnSpc>
                <a:spcPct val="103000"/>
              </a:lnSpc>
              <a:buNone/>
            </a:pPr>
            <a:r>
              <a:rPr lang="en-US" sz="1350" dirty="0">
                <a:solidFill>
                  <a:srgbClr val="ECE7DD"/>
                </a:solidFill>
                <a:latin typeface="Calibri" pitchFamily="34" charset="0"/>
                <a:ea typeface="Calibri" pitchFamily="34" charset="-122"/>
                <a:cs typeface="Calibri" pitchFamily="34" charset="-120"/>
              </a:rPr>
              <a:t>Le point de pincement était-il visible ?</a:t>
            </a:r>
            <a:endParaRPr lang="en-US" sz="1350" dirty="0"/>
          </a:p>
        </p:txBody>
      </p:sp>
      <p:sp>
        <p:nvSpPr>
          <p:cNvPr id="22" name="Shape 18"/>
          <p:cNvSpPr/>
          <p:nvPr/>
        </p:nvSpPr>
        <p:spPr>
          <a:xfrm>
            <a:off x="8092440" y="4014216"/>
            <a:ext cx="457200" cy="457200"/>
          </a:xfrm>
          <a:prstGeom prst="oval">
            <a:avLst/>
          </a:prstGeom>
          <a:solidFill>
            <a:srgbClr val="1B1712"/>
          </a:solidFill>
          <a:ln w="19050">
            <a:solidFill>
              <a:srgbClr val="F2A93C"/>
            </a:solidFill>
            <a:prstDash val="solid"/>
          </a:ln>
        </p:spPr>
      </p:sp>
      <p:pic>
        <p:nvPicPr>
          <p:cNvPr id="23" name="Image 2" descr="preencoded.png">    </p:cNvPr>
          <p:cNvPicPr>
            <a:picLocks noChangeAspect="1"/>
          </p:cNvPicPr>
          <p:nvPr/>
        </p:nvPicPr>
        <p:blipFill>
          <a:blip r:embed="rId3"/>
          <a:stretch>
            <a:fillRect/>
          </a:stretch>
        </p:blipFill>
        <p:spPr>
          <a:xfrm>
            <a:off x="8206740" y="4128516"/>
            <a:ext cx="228600" cy="228600"/>
          </a:xfrm>
          <a:prstGeom prst="rect">
            <a:avLst/>
          </a:prstGeom>
        </p:spPr>
      </p:pic>
      <p:sp>
        <p:nvSpPr>
          <p:cNvPr id="24" name="Text 19"/>
          <p:cNvSpPr/>
          <p:nvPr/>
        </p:nvSpPr>
        <p:spPr>
          <a:xfrm>
            <a:off x="8695944" y="3959352"/>
            <a:ext cx="2962656" cy="777240"/>
          </a:xfrm>
          <a:prstGeom prst="rect">
            <a:avLst/>
          </a:prstGeom>
          <a:noFill/>
          <a:ln/>
        </p:spPr>
        <p:txBody>
          <a:bodyPr wrap="square" lIns="0" tIns="0" rIns="0" bIns="0" rtlCol="0" anchor="ctr"/>
          <a:lstStyle/>
          <a:p>
            <a:pPr indent="0" marL="0">
              <a:lnSpc>
                <a:spcPct val="103000"/>
              </a:lnSpc>
              <a:buNone/>
            </a:pPr>
            <a:r>
              <a:rPr lang="en-US" sz="1350" dirty="0">
                <a:solidFill>
                  <a:srgbClr val="ECE7DD"/>
                </a:solidFill>
                <a:latin typeface="Calibri" pitchFamily="34" charset="0"/>
                <a:ea typeface="Calibri" pitchFamily="34" charset="-122"/>
                <a:cs typeface="Calibri" pitchFamily="34" charset="-120"/>
              </a:rPr>
              <a:t>Qu'est-ce qui aurait éliminé le risque ?</a:t>
            </a:r>
            <a:endParaRPr lang="en-US" sz="1350" dirty="0"/>
          </a:p>
        </p:txBody>
      </p:sp>
      <p:sp>
        <p:nvSpPr>
          <p:cNvPr id="25" name="Shape 20"/>
          <p:cNvSpPr/>
          <p:nvPr/>
        </p:nvSpPr>
        <p:spPr>
          <a:xfrm>
            <a:off x="8092440" y="5120640"/>
            <a:ext cx="3566160" cy="777240"/>
          </a:xfrm>
          <a:prstGeom prst="roundRect">
            <a:avLst>
              <a:gd name="adj" fmla="val 9412"/>
            </a:avLst>
          </a:prstGeom>
          <a:solidFill>
            <a:srgbClr val="231E17"/>
          </a:solidFill>
          <a:ln w="9525">
            <a:solidFill>
              <a:srgbClr val="3C352A"/>
            </a:solidFill>
            <a:prstDash val="solid"/>
          </a:ln>
        </p:spPr>
      </p:sp>
      <p:sp>
        <p:nvSpPr>
          <p:cNvPr id="26" name="Text 21"/>
          <p:cNvSpPr/>
          <p:nvPr/>
        </p:nvSpPr>
        <p:spPr>
          <a:xfrm>
            <a:off x="8229600" y="5120640"/>
            <a:ext cx="3291840" cy="777240"/>
          </a:xfrm>
          <a:prstGeom prst="rect">
            <a:avLst/>
          </a:prstGeom>
          <a:noFill/>
          <a:ln/>
        </p:spPr>
        <p:txBody>
          <a:bodyPr wrap="square" lIns="0" tIns="0" rIns="0" bIns="0" rtlCol="0" anchor="ctr"/>
          <a:lstStyle/>
          <a:p>
            <a:pPr indent="0" marL="0">
              <a:lnSpc>
                <a:spcPct val="100000"/>
              </a:lnSpc>
              <a:buNone/>
            </a:pPr>
            <a:r>
              <a:rPr lang="en-US" sz="1050" dirty="0">
                <a:solidFill>
                  <a:srgbClr val="F2A93C"/>
                </a:solidFill>
                <a:latin typeface="Calibri" pitchFamily="34" charset="0"/>
                <a:ea typeface="Calibri" pitchFamily="34" charset="-122"/>
                <a:cs typeface="Calibri" pitchFamily="34" charset="-120"/>
              </a:rPr>
              <a:t>▶  </a:t>
            </a:r>
            <a:pPr indent="0" marL="0">
              <a:lnSpc>
                <a:spcPct val="100000"/>
              </a:lnSpc>
              <a:buNone/>
            </a:pPr>
            <a:r>
              <a:rPr lang="en-US" sz="1050" dirty="0">
                <a:solidFill>
                  <a:srgbClr val="B4AD9F"/>
                </a:solidFill>
                <a:latin typeface="Calibri" pitchFamily="34" charset="0"/>
                <a:ea typeface="Calibri" pitchFamily="34" charset="-122"/>
                <a:cs typeface="Calibri" pitchFamily="34" charset="-120"/>
              </a:rPr>
              <a:t>Clip fourni : insérez-le dans le cadre.</a:t>
            </a:r>
            <a:endParaRPr lang="en-US" sz="1050" dirty="0"/>
          </a:p>
        </p:txBody>
      </p:sp>
      <p:sp>
        <p:nvSpPr>
          <p:cNvPr id="27" name="Text 2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850" dirty="0">
                <a:solidFill>
                  <a:srgbClr val="857E70"/>
                </a:solidFill>
                <a:latin typeface="Calibri" pitchFamily="34" charset="0"/>
                <a:ea typeface="Calibri" pitchFamily="34" charset="-122"/>
                <a:cs typeface="Calibri" pitchFamily="34" charset="-120"/>
              </a:rPr>
              <a:t>Santé-Sécurité · Prévention des blessures aux mains</a:t>
            </a:r>
            <a:endParaRPr lang="en-US" sz="850" dirty="0"/>
          </a:p>
        </p:txBody>
      </p:sp>
      <p:sp>
        <p:nvSpPr>
          <p:cNvPr id="28" name="Text 23"/>
          <p:cNvSpPr/>
          <p:nvPr/>
        </p:nvSpPr>
        <p:spPr>
          <a:xfrm>
            <a:off x="11185855" y="6437376"/>
            <a:ext cx="457200" cy="274320"/>
          </a:xfrm>
          <a:prstGeom prst="rect">
            <a:avLst/>
          </a:prstGeom>
          <a:noFill/>
          <a:ln/>
        </p:spPr>
        <p:txBody>
          <a:bodyPr wrap="square" lIns="0" tIns="0" rIns="0" bIns="0" rtlCol="0" anchor="ctr"/>
          <a:lstStyle/>
          <a:p>
            <a:pPr algn="r" indent="0" marL="0">
              <a:buNone/>
            </a:pPr>
            <a:r>
              <a:rPr lang="en-US" sz="1100" dirty="0">
                <a:solidFill>
                  <a:srgbClr val="F2A93C"/>
                </a:solidFill>
                <a:latin typeface="Cambria" pitchFamily="34" charset="0"/>
                <a:ea typeface="Cambria" pitchFamily="34" charset="-122"/>
                <a:cs typeface="Cambria"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210"/>
        </a:solidFill>
      </p:bgPr>
    </p:bg>
    <p:spTree>
      <p:nvGrpSpPr>
        <p:cNvPr id="1" name=""/>
        <p:cNvGrpSpPr/>
        <p:nvPr/>
      </p:nvGrpSpPr>
      <p:grpSpPr>
        <a:xfrm>
          <a:off x="0" y="0"/>
          <a:ext cx="0" cy="0"/>
          <a:chOff x="0" y="0"/>
          <a:chExt cx="0" cy="0"/>
        </a:xfrm>
      </p:grpSpPr>
      <p:sp>
        <p:nvSpPr>
          <p:cNvPr id="2" name="Shape 0"/>
          <p:cNvSpPr/>
          <p:nvPr/>
        </p:nvSpPr>
        <p:spPr>
          <a:xfrm>
            <a:off x="548640" y="384048"/>
            <a:ext cx="310896" cy="310896"/>
          </a:xfrm>
          <a:prstGeom prst="roundRect">
            <a:avLst>
              <a:gd name="adj" fmla="val 17647"/>
            </a:avLst>
          </a:prstGeom>
          <a:solidFill>
            <a:srgbClr val="F2A93C"/>
          </a:solidFill>
          <a:ln/>
        </p:spPr>
      </p:sp>
      <p:sp>
        <p:nvSpPr>
          <p:cNvPr id="3" name="Shape 1"/>
          <p:cNvSpPr/>
          <p:nvPr/>
        </p:nvSpPr>
        <p:spPr>
          <a:xfrm rot="5400000">
            <a:off x="641909" y="464881"/>
            <a:ext cx="136794" cy="149230"/>
          </a:xfrm>
          <a:prstGeom prst="triangle">
            <a:avLst/>
          </a:prstGeom>
          <a:solidFill>
            <a:srgbClr val="141210"/>
          </a:solidFill>
          <a:ln/>
        </p:spPr>
      </p:sp>
      <p:sp>
        <p:nvSpPr>
          <p:cNvPr id="4" name="Text 2"/>
          <p:cNvSpPr/>
          <p:nvPr/>
        </p:nvSpPr>
        <p:spPr>
          <a:xfrm>
            <a:off x="969264" y="338328"/>
            <a:ext cx="2194560" cy="402336"/>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Dhilmar</a:t>
            </a:r>
            <a:endParaRPr lang="en-US" sz="1700" dirty="0"/>
          </a:p>
        </p:txBody>
      </p:sp>
      <p:sp>
        <p:nvSpPr>
          <p:cNvPr id="5" name="Text 3"/>
          <p:cNvSpPr/>
          <p:nvPr/>
        </p:nvSpPr>
        <p:spPr>
          <a:xfrm>
            <a:off x="9265615" y="420624"/>
            <a:ext cx="2377440" cy="274320"/>
          </a:xfrm>
          <a:prstGeom prst="rect">
            <a:avLst/>
          </a:prstGeom>
          <a:noFill/>
          <a:ln/>
        </p:spPr>
        <p:txBody>
          <a:bodyPr wrap="square" lIns="0" tIns="0" rIns="0" bIns="0" rtlCol="0" anchor="ctr"/>
          <a:lstStyle/>
          <a:p>
            <a:pPr algn="r" indent="0" marL="0">
              <a:buNone/>
            </a:pPr>
            <a:r>
              <a:rPr lang="en-US" sz="1050" b="1" spc="200" kern="0" dirty="0">
                <a:solidFill>
                  <a:srgbClr val="857E70"/>
                </a:solidFill>
                <a:latin typeface="Calibri" pitchFamily="34" charset="0"/>
                <a:ea typeface="Calibri" pitchFamily="34" charset="-122"/>
                <a:cs typeface="Calibri" pitchFamily="34" charset="-120"/>
              </a:rPr>
              <a:t>MINE </a:t>
            </a:r>
            <a:pPr algn="r" indent="0" marL="0">
              <a:buNone/>
            </a:pPr>
            <a:r>
              <a:rPr lang="en-US" sz="1050" b="1" spc="200" kern="0" dirty="0">
                <a:solidFill>
                  <a:srgbClr val="F2A93C"/>
                </a:solidFill>
                <a:latin typeface="Calibri" pitchFamily="34" charset="0"/>
                <a:ea typeface="Calibri" pitchFamily="34" charset="-122"/>
                <a:cs typeface="Calibri" pitchFamily="34" charset="-120"/>
              </a:rPr>
              <a:t>ÉLÉONORE</a:t>
            </a:r>
            <a:endParaRPr lang="en-US" sz="1050" dirty="0"/>
          </a:p>
        </p:txBody>
      </p:sp>
      <p:sp>
        <p:nvSpPr>
          <p:cNvPr id="6" name="Text 4"/>
          <p:cNvSpPr/>
          <p:nvPr/>
        </p:nvSpPr>
        <p:spPr>
          <a:xfrm>
            <a:off x="566928" y="475488"/>
            <a:ext cx="9144000" cy="274320"/>
          </a:xfrm>
          <a:prstGeom prst="rect">
            <a:avLst/>
          </a:prstGeom>
          <a:noFill/>
          <a:ln/>
        </p:spPr>
        <p:txBody>
          <a:bodyPr wrap="square" lIns="0" tIns="0" rIns="0" bIns="0" rtlCol="0" anchor="ctr"/>
          <a:lstStyle/>
          <a:p>
            <a:pPr indent="0" marL="0">
              <a:buNone/>
            </a:pPr>
            <a:r>
              <a:rPr lang="en-US" sz="1200" b="1" spc="300" kern="0" dirty="0">
                <a:solidFill>
                  <a:srgbClr val="F2A93C"/>
                </a:solidFill>
                <a:latin typeface="Calibri" pitchFamily="34" charset="0"/>
                <a:ea typeface="Calibri" pitchFamily="34" charset="-122"/>
                <a:cs typeface="Calibri" pitchFamily="34" charset="-120"/>
              </a:rPr>
              <a:t>L'ORDRE DES PRIORITÉS</a:t>
            </a:r>
            <a:endParaRPr lang="en-US" sz="1200" dirty="0"/>
          </a:p>
        </p:txBody>
      </p:sp>
      <p:sp>
        <p:nvSpPr>
          <p:cNvPr id="7" name="Text 5"/>
          <p:cNvSpPr/>
          <p:nvPr/>
        </p:nvSpPr>
        <p:spPr>
          <a:xfrm>
            <a:off x="548640" y="768096"/>
            <a:ext cx="11064240" cy="822960"/>
          </a:xfrm>
          <a:prstGeom prst="rect">
            <a:avLst/>
          </a:prstGeom>
          <a:noFill/>
          <a:ln/>
        </p:spPr>
        <p:txBody>
          <a:bodyPr wrap="square" lIns="0" tIns="0" rIns="0" bIns="0" rtlCol="0" anchor="ctr"/>
          <a:lstStyle/>
          <a:p>
            <a:pPr indent="0" marL="0">
              <a:lnSpc>
                <a:spcPts val="3465"/>
              </a:lnSpc>
              <a:buNone/>
            </a:pPr>
            <a:r>
              <a:rPr lang="en-US" sz="3300" b="1" dirty="0">
                <a:solidFill>
                  <a:srgbClr val="FFFFFF"/>
                </a:solidFill>
                <a:latin typeface="Cambria" pitchFamily="34" charset="0"/>
                <a:ea typeface="Cambria" pitchFamily="34" charset="-122"/>
                <a:cs typeface="Cambria" pitchFamily="34" charset="-120"/>
              </a:rPr>
              <a:t>La hiérarchie des moyens de prévention</a:t>
            </a:r>
            <a:endParaRPr lang="en-US" sz="3300" dirty="0"/>
          </a:p>
        </p:txBody>
      </p:sp>
      <p:sp>
        <p:nvSpPr>
          <p:cNvPr id="8" name="Shape 6"/>
          <p:cNvSpPr/>
          <p:nvPr/>
        </p:nvSpPr>
        <p:spPr>
          <a:xfrm>
            <a:off x="548640" y="1783080"/>
            <a:ext cx="7498080" cy="786384"/>
          </a:xfrm>
          <a:prstGeom prst="roundRect">
            <a:avLst>
              <a:gd name="adj" fmla="val 6977"/>
            </a:avLst>
          </a:prstGeom>
          <a:solidFill>
            <a:srgbClr val="231E17"/>
          </a:solidFill>
          <a:ln w="12700">
            <a:solidFill>
              <a:srgbClr val="3C352A"/>
            </a:solidFill>
            <a:prstDash val="solid"/>
          </a:ln>
        </p:spPr>
      </p:sp>
      <p:sp>
        <p:nvSpPr>
          <p:cNvPr id="9" name="Text 7"/>
          <p:cNvSpPr/>
          <p:nvPr/>
        </p:nvSpPr>
        <p:spPr>
          <a:xfrm>
            <a:off x="749808" y="1783080"/>
            <a:ext cx="548640" cy="786384"/>
          </a:xfrm>
          <a:prstGeom prst="rect">
            <a:avLst/>
          </a:prstGeom>
          <a:noFill/>
          <a:ln/>
        </p:spPr>
        <p:txBody>
          <a:bodyPr wrap="square" lIns="0" tIns="0" rIns="0" bIns="0" rtlCol="0" anchor="ctr"/>
          <a:lstStyle/>
          <a:p>
            <a:pPr algn="ctr" indent="0" marL="0">
              <a:buNone/>
            </a:pPr>
            <a:r>
              <a:rPr lang="en-US" sz="2400" b="1" dirty="0">
                <a:solidFill>
                  <a:srgbClr val="F2A93C"/>
                </a:solidFill>
                <a:latin typeface="Cambria" pitchFamily="34" charset="0"/>
                <a:ea typeface="Cambria" pitchFamily="34" charset="-122"/>
                <a:cs typeface="Cambria" pitchFamily="34" charset="-120"/>
              </a:rPr>
              <a:t>1</a:t>
            </a:r>
            <a:endParaRPr lang="en-US" sz="2400" dirty="0"/>
          </a:p>
        </p:txBody>
      </p:sp>
      <p:sp>
        <p:nvSpPr>
          <p:cNvPr id="10" name="Text 8"/>
          <p:cNvSpPr/>
          <p:nvPr/>
        </p:nvSpPr>
        <p:spPr>
          <a:xfrm>
            <a:off x="1417320" y="1783080"/>
            <a:ext cx="6492240" cy="786384"/>
          </a:xfrm>
          <a:prstGeom prst="rect">
            <a:avLst/>
          </a:prstGeom>
          <a:noFill/>
          <a:ln/>
        </p:spPr>
        <p:txBody>
          <a:bodyPr wrap="square" lIns="0" tIns="0" rIns="0" bIns="0" rtlCol="0" anchor="ctr"/>
          <a:lstStyle/>
          <a:p>
            <a:pPr indent="0" marL="0">
              <a:lnSpc>
                <a:spcPct val="100000"/>
              </a:lnSpc>
              <a:buNone/>
            </a:pPr>
            <a:r>
              <a:rPr lang="en-US" sz="1600" b="1" dirty="0">
                <a:solidFill>
                  <a:srgbClr val="FFFFFF"/>
                </a:solidFill>
                <a:latin typeface="Cambria" pitchFamily="34" charset="0"/>
                <a:ea typeface="Cambria" pitchFamily="34" charset="-122"/>
                <a:cs typeface="Cambria" pitchFamily="34" charset="-120"/>
              </a:rPr>
              <a:t>Élimination</a:t>
            </a:r>
            <a:endParaRPr lang="en-US" sz="1600" dirty="0"/>
          </a:p>
          <a:p>
            <a:pPr indent="0" marL="0">
              <a:lnSpc>
                <a:spcPct val="100000"/>
              </a:lnSpc>
              <a:buNone/>
            </a:pPr>
            <a:r>
              <a:rPr lang="en-US" sz="1150" dirty="0">
                <a:solidFill>
                  <a:srgbClr val="B4AD9F"/>
                </a:solidFill>
                <a:latin typeface="Calibri" pitchFamily="34" charset="0"/>
                <a:ea typeface="Calibri" pitchFamily="34" charset="-122"/>
                <a:cs typeface="Calibri" pitchFamily="34" charset="-120"/>
              </a:rPr>
              <a:t>Retirer complètement le danger.</a:t>
            </a:r>
            <a:endParaRPr lang="en-US" sz="1600" dirty="0"/>
          </a:p>
        </p:txBody>
      </p:sp>
      <p:sp>
        <p:nvSpPr>
          <p:cNvPr id="11" name="Shape 9"/>
          <p:cNvSpPr/>
          <p:nvPr/>
        </p:nvSpPr>
        <p:spPr>
          <a:xfrm>
            <a:off x="548640" y="2679192"/>
            <a:ext cx="6675120" cy="786384"/>
          </a:xfrm>
          <a:prstGeom prst="roundRect">
            <a:avLst>
              <a:gd name="adj" fmla="val 6977"/>
            </a:avLst>
          </a:prstGeom>
          <a:solidFill>
            <a:srgbClr val="231E17"/>
          </a:solidFill>
          <a:ln w="12700">
            <a:solidFill>
              <a:srgbClr val="3C352A"/>
            </a:solidFill>
            <a:prstDash val="solid"/>
          </a:ln>
        </p:spPr>
      </p:sp>
      <p:sp>
        <p:nvSpPr>
          <p:cNvPr id="12" name="Text 10"/>
          <p:cNvSpPr/>
          <p:nvPr/>
        </p:nvSpPr>
        <p:spPr>
          <a:xfrm>
            <a:off x="749808" y="2679192"/>
            <a:ext cx="548640" cy="786384"/>
          </a:xfrm>
          <a:prstGeom prst="rect">
            <a:avLst/>
          </a:prstGeom>
          <a:noFill/>
          <a:ln/>
        </p:spPr>
        <p:txBody>
          <a:bodyPr wrap="square" lIns="0" tIns="0" rIns="0" bIns="0" rtlCol="0" anchor="ctr"/>
          <a:lstStyle/>
          <a:p>
            <a:pPr algn="ctr" indent="0" marL="0">
              <a:buNone/>
            </a:pPr>
            <a:r>
              <a:rPr lang="en-US" sz="2400" b="1" dirty="0">
                <a:solidFill>
                  <a:srgbClr val="F2A93C"/>
                </a:solidFill>
                <a:latin typeface="Cambria" pitchFamily="34" charset="0"/>
                <a:ea typeface="Cambria" pitchFamily="34" charset="-122"/>
                <a:cs typeface="Cambria" pitchFamily="34" charset="-120"/>
              </a:rPr>
              <a:t>2</a:t>
            </a:r>
            <a:endParaRPr lang="en-US" sz="2400" dirty="0"/>
          </a:p>
        </p:txBody>
      </p:sp>
      <p:sp>
        <p:nvSpPr>
          <p:cNvPr id="13" name="Text 11"/>
          <p:cNvSpPr/>
          <p:nvPr/>
        </p:nvSpPr>
        <p:spPr>
          <a:xfrm>
            <a:off x="1417320" y="2679192"/>
            <a:ext cx="5669280" cy="786384"/>
          </a:xfrm>
          <a:prstGeom prst="rect">
            <a:avLst/>
          </a:prstGeom>
          <a:noFill/>
          <a:ln/>
        </p:spPr>
        <p:txBody>
          <a:bodyPr wrap="square" lIns="0" tIns="0" rIns="0" bIns="0" rtlCol="0" anchor="ctr"/>
          <a:lstStyle/>
          <a:p>
            <a:pPr indent="0" marL="0">
              <a:lnSpc>
                <a:spcPct val="100000"/>
              </a:lnSpc>
              <a:buNone/>
            </a:pPr>
            <a:r>
              <a:rPr lang="en-US" sz="1600" b="1" dirty="0">
                <a:solidFill>
                  <a:srgbClr val="FFFFFF"/>
                </a:solidFill>
                <a:latin typeface="Cambria" pitchFamily="34" charset="0"/>
                <a:ea typeface="Cambria" pitchFamily="34" charset="-122"/>
                <a:cs typeface="Cambria" pitchFamily="34" charset="-120"/>
              </a:rPr>
              <a:t>Substitution</a:t>
            </a:r>
            <a:endParaRPr lang="en-US" sz="1600" dirty="0"/>
          </a:p>
          <a:p>
            <a:pPr indent="0" marL="0">
              <a:lnSpc>
                <a:spcPct val="100000"/>
              </a:lnSpc>
              <a:buNone/>
            </a:pPr>
            <a:r>
              <a:rPr lang="en-US" sz="1150" dirty="0">
                <a:solidFill>
                  <a:srgbClr val="B4AD9F"/>
                </a:solidFill>
                <a:latin typeface="Calibri" pitchFamily="34" charset="0"/>
                <a:ea typeface="Calibri" pitchFamily="34" charset="-122"/>
                <a:cs typeface="Calibri" pitchFamily="34" charset="-120"/>
              </a:rPr>
              <a:t>Remplacer ou réduire l'énergie en jeu.</a:t>
            </a:r>
            <a:endParaRPr lang="en-US" sz="1600" dirty="0"/>
          </a:p>
        </p:txBody>
      </p:sp>
      <p:sp>
        <p:nvSpPr>
          <p:cNvPr id="14" name="Shape 12"/>
          <p:cNvSpPr/>
          <p:nvPr/>
        </p:nvSpPr>
        <p:spPr>
          <a:xfrm>
            <a:off x="548640" y="3575304"/>
            <a:ext cx="5852160" cy="786384"/>
          </a:xfrm>
          <a:prstGeom prst="roundRect">
            <a:avLst>
              <a:gd name="adj" fmla="val 6977"/>
            </a:avLst>
          </a:prstGeom>
          <a:solidFill>
            <a:srgbClr val="231E17"/>
          </a:solidFill>
          <a:ln w="12700">
            <a:solidFill>
              <a:srgbClr val="3C352A"/>
            </a:solidFill>
            <a:prstDash val="solid"/>
          </a:ln>
        </p:spPr>
      </p:sp>
      <p:sp>
        <p:nvSpPr>
          <p:cNvPr id="15" name="Text 13"/>
          <p:cNvSpPr/>
          <p:nvPr/>
        </p:nvSpPr>
        <p:spPr>
          <a:xfrm>
            <a:off x="749808" y="3575304"/>
            <a:ext cx="548640" cy="786384"/>
          </a:xfrm>
          <a:prstGeom prst="rect">
            <a:avLst/>
          </a:prstGeom>
          <a:noFill/>
          <a:ln/>
        </p:spPr>
        <p:txBody>
          <a:bodyPr wrap="square" lIns="0" tIns="0" rIns="0" bIns="0" rtlCol="0" anchor="ctr"/>
          <a:lstStyle/>
          <a:p>
            <a:pPr algn="ctr" indent="0" marL="0">
              <a:buNone/>
            </a:pPr>
            <a:r>
              <a:rPr lang="en-US" sz="2400" b="1" dirty="0">
                <a:solidFill>
                  <a:srgbClr val="F2A93C"/>
                </a:solidFill>
                <a:latin typeface="Cambria" pitchFamily="34" charset="0"/>
                <a:ea typeface="Cambria" pitchFamily="34" charset="-122"/>
                <a:cs typeface="Cambria" pitchFamily="34" charset="-120"/>
              </a:rPr>
              <a:t>3</a:t>
            </a:r>
            <a:endParaRPr lang="en-US" sz="2400" dirty="0"/>
          </a:p>
        </p:txBody>
      </p:sp>
      <p:sp>
        <p:nvSpPr>
          <p:cNvPr id="16" name="Text 14"/>
          <p:cNvSpPr/>
          <p:nvPr/>
        </p:nvSpPr>
        <p:spPr>
          <a:xfrm>
            <a:off x="1417320" y="3575304"/>
            <a:ext cx="4846320" cy="786384"/>
          </a:xfrm>
          <a:prstGeom prst="rect">
            <a:avLst/>
          </a:prstGeom>
          <a:noFill/>
          <a:ln/>
        </p:spPr>
        <p:txBody>
          <a:bodyPr wrap="square" lIns="0" tIns="0" rIns="0" bIns="0" rtlCol="0" anchor="ctr"/>
          <a:lstStyle/>
          <a:p>
            <a:pPr indent="0" marL="0">
              <a:lnSpc>
                <a:spcPct val="100000"/>
              </a:lnSpc>
              <a:buNone/>
            </a:pPr>
            <a:r>
              <a:rPr lang="en-US" sz="1600" b="1" dirty="0">
                <a:solidFill>
                  <a:srgbClr val="FFFFFF"/>
                </a:solidFill>
                <a:latin typeface="Cambria" pitchFamily="34" charset="0"/>
                <a:ea typeface="Cambria" pitchFamily="34" charset="-122"/>
                <a:cs typeface="Cambria" pitchFamily="34" charset="-120"/>
              </a:rPr>
              <a:t>Ingénierie</a:t>
            </a:r>
            <a:endParaRPr lang="en-US" sz="1600" dirty="0"/>
          </a:p>
          <a:p>
            <a:pPr indent="0" marL="0">
              <a:lnSpc>
                <a:spcPct val="100000"/>
              </a:lnSpc>
              <a:buNone/>
            </a:pPr>
            <a:r>
              <a:rPr lang="en-US" sz="1150" dirty="0">
                <a:solidFill>
                  <a:srgbClr val="B4AD9F"/>
                </a:solidFill>
                <a:latin typeface="Calibri" pitchFamily="34" charset="0"/>
                <a:ea typeface="Calibri" pitchFamily="34" charset="-122"/>
                <a:cs typeface="Calibri" pitchFamily="34" charset="-120"/>
              </a:rPr>
              <a:t>Protecteurs, gardes, outils à distance.</a:t>
            </a:r>
            <a:endParaRPr lang="en-US" sz="1600" dirty="0"/>
          </a:p>
        </p:txBody>
      </p:sp>
      <p:sp>
        <p:nvSpPr>
          <p:cNvPr id="17" name="Shape 15"/>
          <p:cNvSpPr/>
          <p:nvPr/>
        </p:nvSpPr>
        <p:spPr>
          <a:xfrm>
            <a:off x="548640" y="4471416"/>
            <a:ext cx="5029200" cy="786384"/>
          </a:xfrm>
          <a:prstGeom prst="roundRect">
            <a:avLst>
              <a:gd name="adj" fmla="val 6977"/>
            </a:avLst>
          </a:prstGeom>
          <a:solidFill>
            <a:srgbClr val="231E17"/>
          </a:solidFill>
          <a:ln w="12700">
            <a:solidFill>
              <a:srgbClr val="3C352A"/>
            </a:solidFill>
            <a:prstDash val="solid"/>
          </a:ln>
        </p:spPr>
      </p:sp>
      <p:sp>
        <p:nvSpPr>
          <p:cNvPr id="18" name="Text 16"/>
          <p:cNvSpPr/>
          <p:nvPr/>
        </p:nvSpPr>
        <p:spPr>
          <a:xfrm>
            <a:off x="749808" y="4471416"/>
            <a:ext cx="548640" cy="786384"/>
          </a:xfrm>
          <a:prstGeom prst="rect">
            <a:avLst/>
          </a:prstGeom>
          <a:noFill/>
          <a:ln/>
        </p:spPr>
        <p:txBody>
          <a:bodyPr wrap="square" lIns="0" tIns="0" rIns="0" bIns="0" rtlCol="0" anchor="ctr"/>
          <a:lstStyle/>
          <a:p>
            <a:pPr algn="ctr" indent="0" marL="0">
              <a:buNone/>
            </a:pPr>
            <a:r>
              <a:rPr lang="en-US" sz="2400" b="1" dirty="0">
                <a:solidFill>
                  <a:srgbClr val="F2A93C"/>
                </a:solidFill>
                <a:latin typeface="Cambria" pitchFamily="34" charset="0"/>
                <a:ea typeface="Cambria" pitchFamily="34" charset="-122"/>
                <a:cs typeface="Cambria" pitchFamily="34" charset="-120"/>
              </a:rPr>
              <a:t>4</a:t>
            </a:r>
            <a:endParaRPr lang="en-US" sz="2400" dirty="0"/>
          </a:p>
        </p:txBody>
      </p:sp>
      <p:sp>
        <p:nvSpPr>
          <p:cNvPr id="19" name="Text 17"/>
          <p:cNvSpPr/>
          <p:nvPr/>
        </p:nvSpPr>
        <p:spPr>
          <a:xfrm>
            <a:off x="1417320" y="4471416"/>
            <a:ext cx="4023360" cy="786384"/>
          </a:xfrm>
          <a:prstGeom prst="rect">
            <a:avLst/>
          </a:prstGeom>
          <a:noFill/>
          <a:ln/>
        </p:spPr>
        <p:txBody>
          <a:bodyPr wrap="square" lIns="0" tIns="0" rIns="0" bIns="0" rtlCol="0" anchor="ctr"/>
          <a:lstStyle/>
          <a:p>
            <a:pPr indent="0" marL="0">
              <a:lnSpc>
                <a:spcPct val="100000"/>
              </a:lnSpc>
              <a:buNone/>
            </a:pPr>
            <a:r>
              <a:rPr lang="en-US" sz="1600" b="1" dirty="0">
                <a:solidFill>
                  <a:srgbClr val="FFFFFF"/>
                </a:solidFill>
                <a:latin typeface="Cambria" pitchFamily="34" charset="0"/>
                <a:ea typeface="Cambria" pitchFamily="34" charset="-122"/>
                <a:cs typeface="Cambria" pitchFamily="34" charset="-120"/>
              </a:rPr>
              <a:t>Administratif</a:t>
            </a:r>
            <a:endParaRPr lang="en-US" sz="1600" dirty="0"/>
          </a:p>
          <a:p>
            <a:pPr indent="0" marL="0">
              <a:lnSpc>
                <a:spcPct val="100000"/>
              </a:lnSpc>
              <a:buNone/>
            </a:pPr>
            <a:r>
              <a:rPr lang="en-US" sz="1150" dirty="0">
                <a:solidFill>
                  <a:srgbClr val="B4AD9F"/>
                </a:solidFill>
                <a:latin typeface="Calibri" pitchFamily="34" charset="0"/>
                <a:ea typeface="Calibri" pitchFamily="34" charset="-122"/>
                <a:cs typeface="Calibri" pitchFamily="34" charset="-120"/>
              </a:rPr>
              <a:t>Procédures, cadenassage, formation.</a:t>
            </a:r>
            <a:endParaRPr lang="en-US" sz="1600" dirty="0"/>
          </a:p>
        </p:txBody>
      </p:sp>
      <p:sp>
        <p:nvSpPr>
          <p:cNvPr id="20" name="Shape 18"/>
          <p:cNvSpPr/>
          <p:nvPr/>
        </p:nvSpPr>
        <p:spPr>
          <a:xfrm>
            <a:off x="548640" y="5367528"/>
            <a:ext cx="4206240" cy="786384"/>
          </a:xfrm>
          <a:prstGeom prst="roundRect">
            <a:avLst>
              <a:gd name="adj" fmla="val 6977"/>
            </a:avLst>
          </a:prstGeom>
          <a:solidFill>
            <a:srgbClr val="F2A93C"/>
          </a:solidFill>
          <a:ln w="12700">
            <a:solidFill>
              <a:srgbClr val="F2A93C"/>
            </a:solidFill>
            <a:prstDash val="solid"/>
          </a:ln>
        </p:spPr>
      </p:sp>
      <p:sp>
        <p:nvSpPr>
          <p:cNvPr id="21" name="Text 19"/>
          <p:cNvSpPr/>
          <p:nvPr/>
        </p:nvSpPr>
        <p:spPr>
          <a:xfrm>
            <a:off x="749808" y="5367528"/>
            <a:ext cx="548640" cy="786384"/>
          </a:xfrm>
          <a:prstGeom prst="rect">
            <a:avLst/>
          </a:prstGeom>
          <a:noFill/>
          <a:ln/>
        </p:spPr>
        <p:txBody>
          <a:bodyPr wrap="square" lIns="0" tIns="0" rIns="0" bIns="0" rtlCol="0" anchor="ctr"/>
          <a:lstStyle/>
          <a:p>
            <a:pPr algn="ctr" indent="0" marL="0">
              <a:buNone/>
            </a:pPr>
            <a:r>
              <a:rPr lang="en-US" sz="2400" b="1" dirty="0">
                <a:solidFill>
                  <a:srgbClr val="141210"/>
                </a:solidFill>
                <a:latin typeface="Cambria" pitchFamily="34" charset="0"/>
                <a:ea typeface="Cambria" pitchFamily="34" charset="-122"/>
                <a:cs typeface="Cambria" pitchFamily="34" charset="-120"/>
              </a:rPr>
              <a:t>5</a:t>
            </a:r>
            <a:endParaRPr lang="en-US" sz="2400" dirty="0"/>
          </a:p>
        </p:txBody>
      </p:sp>
      <p:sp>
        <p:nvSpPr>
          <p:cNvPr id="22" name="Text 20"/>
          <p:cNvSpPr/>
          <p:nvPr/>
        </p:nvSpPr>
        <p:spPr>
          <a:xfrm>
            <a:off x="1417320" y="5367528"/>
            <a:ext cx="3200400" cy="786384"/>
          </a:xfrm>
          <a:prstGeom prst="rect">
            <a:avLst/>
          </a:prstGeom>
          <a:noFill/>
          <a:ln/>
        </p:spPr>
        <p:txBody>
          <a:bodyPr wrap="square" lIns="0" tIns="0" rIns="0" bIns="0" rtlCol="0" anchor="ctr"/>
          <a:lstStyle/>
          <a:p>
            <a:pPr indent="0" marL="0">
              <a:lnSpc>
                <a:spcPct val="100000"/>
              </a:lnSpc>
              <a:buNone/>
            </a:pPr>
            <a:r>
              <a:rPr lang="en-US" sz="1600" b="1" dirty="0">
                <a:solidFill>
                  <a:srgbClr val="141210"/>
                </a:solidFill>
                <a:latin typeface="Cambria" pitchFamily="34" charset="0"/>
                <a:ea typeface="Cambria" pitchFamily="34" charset="-122"/>
                <a:cs typeface="Cambria" pitchFamily="34" charset="-120"/>
              </a:rPr>
              <a:t>ÉPI — les gants</a:t>
            </a:r>
            <a:endParaRPr lang="en-US" sz="1600" dirty="0"/>
          </a:p>
          <a:p>
            <a:pPr indent="0" marL="0">
              <a:lnSpc>
                <a:spcPct val="100000"/>
              </a:lnSpc>
              <a:buNone/>
            </a:pPr>
            <a:r>
              <a:rPr lang="en-US" sz="1150" dirty="0">
                <a:solidFill>
                  <a:srgbClr val="3A2A10"/>
                </a:solidFill>
                <a:latin typeface="Calibri" pitchFamily="34" charset="0"/>
                <a:ea typeface="Calibri" pitchFamily="34" charset="-122"/>
                <a:cs typeface="Calibri" pitchFamily="34" charset="-120"/>
              </a:rPr>
              <a:t>La dernière barrière, jamais la première.</a:t>
            </a:r>
            <a:endParaRPr lang="en-US" sz="1600" dirty="0"/>
          </a:p>
        </p:txBody>
      </p:sp>
      <p:sp>
        <p:nvSpPr>
          <p:cNvPr id="23" name="Shape 21"/>
          <p:cNvSpPr/>
          <p:nvPr/>
        </p:nvSpPr>
        <p:spPr>
          <a:xfrm>
            <a:off x="8366760" y="1965960"/>
            <a:ext cx="0" cy="4206240"/>
          </a:xfrm>
          <a:prstGeom prst="line">
            <a:avLst/>
          </a:prstGeom>
          <a:noFill/>
          <a:ln w="19050">
            <a:solidFill>
              <a:srgbClr val="C9852A"/>
            </a:solidFill>
            <a:prstDash val="solid"/>
            <a:tailEnd type="triangle"/>
          </a:ln>
        </p:spPr>
      </p:sp>
      <p:sp>
        <p:nvSpPr>
          <p:cNvPr id="24" name="Text 22"/>
          <p:cNvSpPr/>
          <p:nvPr/>
        </p:nvSpPr>
        <p:spPr>
          <a:xfrm>
            <a:off x="8503920" y="1874520"/>
            <a:ext cx="1463040" cy="731520"/>
          </a:xfrm>
          <a:prstGeom prst="rect">
            <a:avLst/>
          </a:prstGeom>
          <a:noFill/>
          <a:ln/>
        </p:spPr>
        <p:txBody>
          <a:bodyPr wrap="square" lIns="0" tIns="0" rIns="0" bIns="0" rtlCol="0" anchor="ctr"/>
          <a:lstStyle/>
          <a:p>
            <a:pPr indent="0" marL="0">
              <a:lnSpc>
                <a:spcPct val="95000"/>
              </a:lnSpc>
              <a:buNone/>
            </a:pPr>
            <a:r>
              <a:rPr lang="en-US" sz="1100" b="1" dirty="0">
                <a:solidFill>
                  <a:srgbClr val="F2A93C"/>
                </a:solidFill>
                <a:latin typeface="Calibri" pitchFamily="34" charset="0"/>
                <a:ea typeface="Calibri" pitchFamily="34" charset="-122"/>
                <a:cs typeface="Calibri" pitchFamily="34" charset="-120"/>
              </a:rPr>
              <a:t>Efficacité</a:t>
            </a:r>
            <a:endParaRPr lang="en-US" sz="1100" dirty="0"/>
          </a:p>
          <a:p>
            <a:pPr indent="0" marL="0">
              <a:lnSpc>
                <a:spcPct val="95000"/>
              </a:lnSpc>
              <a:buNone/>
            </a:pPr>
            <a:r>
              <a:rPr lang="en-US" sz="1100" b="1" dirty="0">
                <a:solidFill>
                  <a:srgbClr val="F2A93C"/>
                </a:solidFill>
                <a:latin typeface="Calibri" pitchFamily="34" charset="0"/>
                <a:ea typeface="Calibri" pitchFamily="34" charset="-122"/>
                <a:cs typeface="Calibri" pitchFamily="34" charset="-120"/>
              </a:rPr>
              <a:t>décroissante</a:t>
            </a:r>
            <a:endParaRPr lang="en-US" sz="1100" dirty="0"/>
          </a:p>
        </p:txBody>
      </p:sp>
      <p:sp>
        <p:nvSpPr>
          <p:cNvPr id="25" name="Shape 23"/>
          <p:cNvSpPr/>
          <p:nvPr/>
        </p:nvSpPr>
        <p:spPr>
          <a:xfrm>
            <a:off x="8549640" y="4251960"/>
            <a:ext cx="3108960" cy="1920240"/>
          </a:xfrm>
          <a:prstGeom prst="roundRect">
            <a:avLst>
              <a:gd name="adj" fmla="val 4762"/>
            </a:avLst>
          </a:prstGeom>
          <a:solidFill>
            <a:srgbClr val="2C261D"/>
          </a:solidFill>
          <a:ln w="12700">
            <a:solidFill>
              <a:srgbClr val="F2A93C"/>
            </a:solidFill>
            <a:prstDash val="solid"/>
          </a:ln>
        </p:spPr>
      </p:sp>
      <p:sp>
        <p:nvSpPr>
          <p:cNvPr id="26" name="Shape 24"/>
          <p:cNvSpPr/>
          <p:nvPr/>
        </p:nvSpPr>
        <p:spPr>
          <a:xfrm>
            <a:off x="8778240" y="4480560"/>
            <a:ext cx="548640" cy="548640"/>
          </a:xfrm>
          <a:prstGeom prst="oval">
            <a:avLst/>
          </a:prstGeom>
          <a:solidFill>
            <a:srgbClr val="141210"/>
          </a:solidFill>
          <a:ln w="19050">
            <a:solidFill>
              <a:srgbClr val="F2A93C"/>
            </a:solidFill>
            <a:prstDash val="solid"/>
          </a:ln>
        </p:spPr>
      </p:sp>
      <p:pic>
        <p:nvPicPr>
          <p:cNvPr id="27" name="Image 0" descr="preencoded.png">    </p:cNvPr>
          <p:cNvPicPr>
            <a:picLocks noChangeAspect="1"/>
          </p:cNvPicPr>
          <p:nvPr/>
        </p:nvPicPr>
        <p:blipFill>
          <a:blip r:embed="rId1"/>
          <a:stretch>
            <a:fillRect/>
          </a:stretch>
        </p:blipFill>
        <p:spPr>
          <a:xfrm>
            <a:off x="8901684" y="4604004"/>
            <a:ext cx="301752" cy="301752"/>
          </a:xfrm>
          <a:prstGeom prst="rect">
            <a:avLst/>
          </a:prstGeom>
        </p:spPr>
      </p:pic>
      <p:sp>
        <p:nvSpPr>
          <p:cNvPr id="28" name="Text 25"/>
          <p:cNvSpPr/>
          <p:nvPr/>
        </p:nvSpPr>
        <p:spPr>
          <a:xfrm>
            <a:off x="8778240" y="5120640"/>
            <a:ext cx="265176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Le gant protège —</a:t>
            </a:r>
            <a:endParaRPr lang="en-US" sz="1600" dirty="0"/>
          </a:p>
        </p:txBody>
      </p:sp>
      <p:sp>
        <p:nvSpPr>
          <p:cNvPr id="29" name="Text 26"/>
          <p:cNvSpPr/>
          <p:nvPr/>
        </p:nvSpPr>
        <p:spPr>
          <a:xfrm>
            <a:off x="8778240" y="5468112"/>
            <a:ext cx="2697480" cy="640080"/>
          </a:xfrm>
          <a:prstGeom prst="rect">
            <a:avLst/>
          </a:prstGeom>
          <a:noFill/>
          <a:ln/>
        </p:spPr>
        <p:txBody>
          <a:bodyPr wrap="square" lIns="0" tIns="0" rIns="0" bIns="0" rtlCol="0" anchor="ctr"/>
          <a:lstStyle/>
          <a:p>
            <a:pPr indent="0" marL="0">
              <a:lnSpc>
                <a:spcPct val="105000"/>
              </a:lnSpc>
              <a:buNone/>
            </a:pPr>
            <a:r>
              <a:rPr lang="en-US" sz="1200" dirty="0">
                <a:solidFill>
                  <a:srgbClr val="B4AD9F"/>
                </a:solidFill>
                <a:latin typeface="Calibri" pitchFamily="34" charset="0"/>
                <a:ea typeface="Calibri" pitchFamily="34" charset="-122"/>
                <a:cs typeface="Calibri" pitchFamily="34" charset="-120"/>
              </a:rPr>
              <a:t>il ne remplace jamais </a:t>
            </a:r>
            <a:pPr indent="0" marL="0">
              <a:lnSpc>
                <a:spcPct val="105000"/>
              </a:lnSpc>
              <a:buNone/>
            </a:pPr>
            <a:r>
              <a:rPr lang="en-US" sz="1200" b="1" dirty="0">
                <a:solidFill>
                  <a:srgbClr val="F7C775"/>
                </a:solidFill>
                <a:latin typeface="Calibri" pitchFamily="34" charset="0"/>
                <a:ea typeface="Calibri" pitchFamily="34" charset="-122"/>
                <a:cs typeface="Calibri" pitchFamily="34" charset="-120"/>
              </a:rPr>
              <a:t>un protecteur ou un cadenassage.</a:t>
            </a:r>
            <a:endParaRPr lang="en-US" sz="1200" dirty="0"/>
          </a:p>
        </p:txBody>
      </p:sp>
      <p:sp>
        <p:nvSpPr>
          <p:cNvPr id="30" name="Text 27"/>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850" dirty="0">
                <a:solidFill>
                  <a:srgbClr val="857E70"/>
                </a:solidFill>
                <a:latin typeface="Calibri" pitchFamily="34" charset="0"/>
                <a:ea typeface="Calibri" pitchFamily="34" charset="-122"/>
                <a:cs typeface="Calibri" pitchFamily="34" charset="-120"/>
              </a:rPr>
              <a:t>Santé-Sécurité · Prévention des blessures aux mains</a:t>
            </a:r>
            <a:endParaRPr lang="en-US" sz="850" dirty="0"/>
          </a:p>
        </p:txBody>
      </p:sp>
      <p:sp>
        <p:nvSpPr>
          <p:cNvPr id="31" name="Text 28"/>
          <p:cNvSpPr/>
          <p:nvPr/>
        </p:nvSpPr>
        <p:spPr>
          <a:xfrm>
            <a:off x="11185855" y="6437376"/>
            <a:ext cx="457200" cy="274320"/>
          </a:xfrm>
          <a:prstGeom prst="rect">
            <a:avLst/>
          </a:prstGeom>
          <a:noFill/>
          <a:ln/>
        </p:spPr>
        <p:txBody>
          <a:bodyPr wrap="square" lIns="0" tIns="0" rIns="0" bIns="0" rtlCol="0" anchor="ctr"/>
          <a:lstStyle/>
          <a:p>
            <a:pPr algn="r" indent="0" marL="0">
              <a:buNone/>
            </a:pPr>
            <a:r>
              <a:rPr lang="en-US" sz="1100" dirty="0">
                <a:solidFill>
                  <a:srgbClr val="F2A93C"/>
                </a:solidFill>
                <a:latin typeface="Cambria" pitchFamily="34" charset="0"/>
                <a:ea typeface="Cambria" pitchFamily="34" charset="-122"/>
                <a:cs typeface="Cambria"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210"/>
        </a:solidFill>
      </p:bgPr>
    </p:bg>
    <p:spTree>
      <p:nvGrpSpPr>
        <p:cNvPr id="1" name=""/>
        <p:cNvGrpSpPr/>
        <p:nvPr/>
      </p:nvGrpSpPr>
      <p:grpSpPr>
        <a:xfrm>
          <a:off x="0" y="0"/>
          <a:ext cx="0" cy="0"/>
          <a:chOff x="0" y="0"/>
          <a:chExt cx="0" cy="0"/>
        </a:xfrm>
      </p:grpSpPr>
      <p:sp>
        <p:nvSpPr>
          <p:cNvPr id="2" name="Shape 0"/>
          <p:cNvSpPr/>
          <p:nvPr/>
        </p:nvSpPr>
        <p:spPr>
          <a:xfrm>
            <a:off x="548640" y="384048"/>
            <a:ext cx="310896" cy="310896"/>
          </a:xfrm>
          <a:prstGeom prst="roundRect">
            <a:avLst>
              <a:gd name="adj" fmla="val 17647"/>
            </a:avLst>
          </a:prstGeom>
          <a:solidFill>
            <a:srgbClr val="F2A93C"/>
          </a:solidFill>
          <a:ln/>
        </p:spPr>
      </p:sp>
      <p:sp>
        <p:nvSpPr>
          <p:cNvPr id="3" name="Shape 1"/>
          <p:cNvSpPr/>
          <p:nvPr/>
        </p:nvSpPr>
        <p:spPr>
          <a:xfrm rot="5400000">
            <a:off x="641909" y="464881"/>
            <a:ext cx="136794" cy="149230"/>
          </a:xfrm>
          <a:prstGeom prst="triangle">
            <a:avLst/>
          </a:prstGeom>
          <a:solidFill>
            <a:srgbClr val="141210"/>
          </a:solidFill>
          <a:ln/>
        </p:spPr>
      </p:sp>
      <p:sp>
        <p:nvSpPr>
          <p:cNvPr id="4" name="Text 2"/>
          <p:cNvSpPr/>
          <p:nvPr/>
        </p:nvSpPr>
        <p:spPr>
          <a:xfrm>
            <a:off x="969264" y="338328"/>
            <a:ext cx="2194560" cy="402336"/>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Dhilmar</a:t>
            </a:r>
            <a:endParaRPr lang="en-US" sz="1700" dirty="0"/>
          </a:p>
        </p:txBody>
      </p:sp>
      <p:sp>
        <p:nvSpPr>
          <p:cNvPr id="5" name="Text 3"/>
          <p:cNvSpPr/>
          <p:nvPr/>
        </p:nvSpPr>
        <p:spPr>
          <a:xfrm>
            <a:off x="9265615" y="420624"/>
            <a:ext cx="2377440" cy="274320"/>
          </a:xfrm>
          <a:prstGeom prst="rect">
            <a:avLst/>
          </a:prstGeom>
          <a:noFill/>
          <a:ln/>
        </p:spPr>
        <p:txBody>
          <a:bodyPr wrap="square" lIns="0" tIns="0" rIns="0" bIns="0" rtlCol="0" anchor="ctr"/>
          <a:lstStyle/>
          <a:p>
            <a:pPr algn="r" indent="0" marL="0">
              <a:buNone/>
            </a:pPr>
            <a:r>
              <a:rPr lang="en-US" sz="1050" b="1" spc="200" kern="0" dirty="0">
                <a:solidFill>
                  <a:srgbClr val="857E70"/>
                </a:solidFill>
                <a:latin typeface="Calibri" pitchFamily="34" charset="0"/>
                <a:ea typeface="Calibri" pitchFamily="34" charset="-122"/>
                <a:cs typeface="Calibri" pitchFamily="34" charset="-120"/>
              </a:rPr>
              <a:t>MINE </a:t>
            </a:r>
            <a:pPr algn="r" indent="0" marL="0">
              <a:buNone/>
            </a:pPr>
            <a:r>
              <a:rPr lang="en-US" sz="1050" b="1" spc="200" kern="0" dirty="0">
                <a:solidFill>
                  <a:srgbClr val="F2A93C"/>
                </a:solidFill>
                <a:latin typeface="Calibri" pitchFamily="34" charset="0"/>
                <a:ea typeface="Calibri" pitchFamily="34" charset="-122"/>
                <a:cs typeface="Calibri" pitchFamily="34" charset="-120"/>
              </a:rPr>
              <a:t>ÉLÉONORE</a:t>
            </a:r>
            <a:endParaRPr lang="en-US" sz="1050" dirty="0"/>
          </a:p>
        </p:txBody>
      </p:sp>
      <p:sp>
        <p:nvSpPr>
          <p:cNvPr id="6" name="Text 4"/>
          <p:cNvSpPr/>
          <p:nvPr/>
        </p:nvSpPr>
        <p:spPr>
          <a:xfrm>
            <a:off x="566928" y="475488"/>
            <a:ext cx="9144000" cy="274320"/>
          </a:xfrm>
          <a:prstGeom prst="rect">
            <a:avLst/>
          </a:prstGeom>
          <a:noFill/>
          <a:ln/>
        </p:spPr>
        <p:txBody>
          <a:bodyPr wrap="square" lIns="0" tIns="0" rIns="0" bIns="0" rtlCol="0" anchor="ctr"/>
          <a:lstStyle/>
          <a:p>
            <a:pPr indent="0" marL="0">
              <a:buNone/>
            </a:pPr>
            <a:r>
              <a:rPr lang="en-US" sz="1200" b="1" spc="300" kern="0" dirty="0">
                <a:solidFill>
                  <a:srgbClr val="F2A93C"/>
                </a:solidFill>
                <a:latin typeface="Calibri" pitchFamily="34" charset="0"/>
                <a:ea typeface="Calibri" pitchFamily="34" charset="-122"/>
                <a:cs typeface="Calibri" pitchFamily="34" charset="-120"/>
              </a:rPr>
              <a:t>AU QUOTIDIEN</a:t>
            </a:r>
            <a:endParaRPr lang="en-US" sz="1200" dirty="0"/>
          </a:p>
        </p:txBody>
      </p:sp>
      <p:sp>
        <p:nvSpPr>
          <p:cNvPr id="7" name="Text 5"/>
          <p:cNvSpPr/>
          <p:nvPr/>
        </p:nvSpPr>
        <p:spPr>
          <a:xfrm>
            <a:off x="548640" y="768096"/>
            <a:ext cx="11064240" cy="822960"/>
          </a:xfrm>
          <a:prstGeom prst="rect">
            <a:avLst/>
          </a:prstGeom>
          <a:noFill/>
          <a:ln/>
        </p:spPr>
        <p:txBody>
          <a:bodyPr wrap="square" lIns="0" tIns="0" rIns="0" bIns="0" rtlCol="0" anchor="ctr"/>
          <a:lstStyle/>
          <a:p>
            <a:pPr indent="0" marL="0">
              <a:lnSpc>
                <a:spcPts val="3465"/>
              </a:lnSpc>
              <a:buNone/>
            </a:pPr>
            <a:r>
              <a:rPr lang="en-US" sz="3300" b="1" dirty="0">
                <a:solidFill>
                  <a:srgbClr val="FFFFFF"/>
                </a:solidFill>
                <a:latin typeface="Cambria" pitchFamily="34" charset="0"/>
                <a:ea typeface="Cambria" pitchFamily="34" charset="-122"/>
                <a:cs typeface="Cambria" pitchFamily="34" charset="-120"/>
              </a:rPr>
              <a:t>Les bons réflexes</a:t>
            </a:r>
            <a:endParaRPr lang="en-US" sz="3300" dirty="0"/>
          </a:p>
        </p:txBody>
      </p:sp>
      <p:sp>
        <p:nvSpPr>
          <p:cNvPr id="8" name="Shape 6"/>
          <p:cNvSpPr/>
          <p:nvPr/>
        </p:nvSpPr>
        <p:spPr>
          <a:xfrm>
            <a:off x="548640" y="1828800"/>
            <a:ext cx="475488" cy="475488"/>
          </a:xfrm>
          <a:prstGeom prst="oval">
            <a:avLst/>
          </a:prstGeom>
          <a:solidFill>
            <a:srgbClr val="1B1712"/>
          </a:solidFill>
          <a:ln w="19050">
            <a:solidFill>
              <a:srgbClr val="8FB35A"/>
            </a:solidFill>
            <a:prstDash val="solid"/>
          </a:ln>
        </p:spPr>
      </p:sp>
      <p:pic>
        <p:nvPicPr>
          <p:cNvPr id="9" name="Image 0" descr="preencoded.png">    </p:cNvPr>
          <p:cNvPicPr>
            <a:picLocks noChangeAspect="1"/>
          </p:cNvPicPr>
          <p:nvPr/>
        </p:nvPicPr>
        <p:blipFill>
          <a:blip r:embed="rId1"/>
          <a:stretch>
            <a:fillRect/>
          </a:stretch>
        </p:blipFill>
        <p:spPr>
          <a:xfrm>
            <a:off x="638983" y="1919143"/>
            <a:ext cx="294803" cy="294803"/>
          </a:xfrm>
          <a:prstGeom prst="rect">
            <a:avLst/>
          </a:prstGeom>
        </p:spPr>
      </p:pic>
      <p:sp>
        <p:nvSpPr>
          <p:cNvPr id="10" name="Text 7"/>
          <p:cNvSpPr/>
          <p:nvPr/>
        </p:nvSpPr>
        <p:spPr>
          <a:xfrm>
            <a:off x="1207008" y="1783080"/>
            <a:ext cx="6291072" cy="566928"/>
          </a:xfrm>
          <a:prstGeom prst="rect">
            <a:avLst/>
          </a:prstGeom>
          <a:noFill/>
          <a:ln/>
        </p:spPr>
        <p:txBody>
          <a:bodyPr wrap="square" lIns="0" tIns="0" rIns="0" bIns="0" rtlCol="0" anchor="ctr"/>
          <a:lstStyle/>
          <a:p>
            <a:pPr indent="0" marL="0">
              <a:lnSpc>
                <a:spcPct val="100000"/>
              </a:lnSpc>
              <a:buNone/>
            </a:pPr>
            <a:r>
              <a:rPr lang="en-US" sz="1500" dirty="0">
                <a:solidFill>
                  <a:srgbClr val="ECE7DD"/>
                </a:solidFill>
                <a:latin typeface="Calibri" pitchFamily="34" charset="0"/>
                <a:ea typeface="Calibri" pitchFamily="34" charset="-122"/>
                <a:cs typeface="Calibri" pitchFamily="34" charset="-120"/>
              </a:rPr>
              <a:t>Gardez vos mains hors de la ligne de tir.</a:t>
            </a:r>
            <a:endParaRPr lang="en-US" sz="1500" dirty="0"/>
          </a:p>
        </p:txBody>
      </p:sp>
      <p:sp>
        <p:nvSpPr>
          <p:cNvPr id="11" name="Shape 8"/>
          <p:cNvSpPr/>
          <p:nvPr/>
        </p:nvSpPr>
        <p:spPr>
          <a:xfrm>
            <a:off x="548640" y="2514600"/>
            <a:ext cx="475488" cy="475488"/>
          </a:xfrm>
          <a:prstGeom prst="oval">
            <a:avLst/>
          </a:prstGeom>
          <a:solidFill>
            <a:srgbClr val="1B1712"/>
          </a:solidFill>
          <a:ln w="19050">
            <a:solidFill>
              <a:srgbClr val="8FB35A"/>
            </a:solidFill>
            <a:prstDash val="solid"/>
          </a:ln>
        </p:spPr>
      </p:sp>
      <p:pic>
        <p:nvPicPr>
          <p:cNvPr id="12" name="Image 1" descr="preencoded.png">    </p:cNvPr>
          <p:cNvPicPr>
            <a:picLocks noChangeAspect="1"/>
          </p:cNvPicPr>
          <p:nvPr/>
        </p:nvPicPr>
        <p:blipFill>
          <a:blip r:embed="rId2"/>
          <a:stretch>
            <a:fillRect/>
          </a:stretch>
        </p:blipFill>
        <p:spPr>
          <a:xfrm>
            <a:off x="638983" y="2604943"/>
            <a:ext cx="294803" cy="294803"/>
          </a:xfrm>
          <a:prstGeom prst="rect">
            <a:avLst/>
          </a:prstGeom>
        </p:spPr>
      </p:pic>
      <p:sp>
        <p:nvSpPr>
          <p:cNvPr id="13" name="Text 9"/>
          <p:cNvSpPr/>
          <p:nvPr/>
        </p:nvSpPr>
        <p:spPr>
          <a:xfrm>
            <a:off x="1207008" y="2468880"/>
            <a:ext cx="6291072" cy="566928"/>
          </a:xfrm>
          <a:prstGeom prst="rect">
            <a:avLst/>
          </a:prstGeom>
          <a:noFill/>
          <a:ln/>
        </p:spPr>
        <p:txBody>
          <a:bodyPr wrap="square" lIns="0" tIns="0" rIns="0" bIns="0" rtlCol="0" anchor="ctr"/>
          <a:lstStyle/>
          <a:p>
            <a:pPr indent="0" marL="0">
              <a:lnSpc>
                <a:spcPct val="100000"/>
              </a:lnSpc>
              <a:buNone/>
            </a:pPr>
            <a:r>
              <a:rPr lang="en-US" sz="1500" dirty="0">
                <a:solidFill>
                  <a:srgbClr val="ECE7DD"/>
                </a:solidFill>
                <a:latin typeface="Calibri" pitchFamily="34" charset="0"/>
                <a:ea typeface="Calibri" pitchFamily="34" charset="-122"/>
                <a:cs typeface="Calibri" pitchFamily="34" charset="-120"/>
              </a:rPr>
              <a:t>Cadenassez et déchargez l'énergie avant d'intervenir.</a:t>
            </a:r>
            <a:endParaRPr lang="en-US" sz="1500" dirty="0"/>
          </a:p>
        </p:txBody>
      </p:sp>
      <p:sp>
        <p:nvSpPr>
          <p:cNvPr id="14" name="Shape 10"/>
          <p:cNvSpPr/>
          <p:nvPr/>
        </p:nvSpPr>
        <p:spPr>
          <a:xfrm>
            <a:off x="548640" y="3200400"/>
            <a:ext cx="475488" cy="475488"/>
          </a:xfrm>
          <a:prstGeom prst="oval">
            <a:avLst/>
          </a:prstGeom>
          <a:solidFill>
            <a:srgbClr val="1B1712"/>
          </a:solidFill>
          <a:ln w="19050">
            <a:solidFill>
              <a:srgbClr val="8FB35A"/>
            </a:solidFill>
            <a:prstDash val="solid"/>
          </a:ln>
        </p:spPr>
      </p:sp>
      <p:pic>
        <p:nvPicPr>
          <p:cNvPr id="15" name="Image 2" descr="preencoded.png">    </p:cNvPr>
          <p:cNvPicPr>
            <a:picLocks noChangeAspect="1"/>
          </p:cNvPicPr>
          <p:nvPr/>
        </p:nvPicPr>
        <p:blipFill>
          <a:blip r:embed="rId3"/>
          <a:stretch>
            <a:fillRect/>
          </a:stretch>
        </p:blipFill>
        <p:spPr>
          <a:xfrm>
            <a:off x="638983" y="3290743"/>
            <a:ext cx="294803" cy="294803"/>
          </a:xfrm>
          <a:prstGeom prst="rect">
            <a:avLst/>
          </a:prstGeom>
        </p:spPr>
      </p:pic>
      <p:sp>
        <p:nvSpPr>
          <p:cNvPr id="16" name="Text 11"/>
          <p:cNvSpPr/>
          <p:nvPr/>
        </p:nvSpPr>
        <p:spPr>
          <a:xfrm>
            <a:off x="1207008" y="3154680"/>
            <a:ext cx="6291072" cy="566928"/>
          </a:xfrm>
          <a:prstGeom prst="rect">
            <a:avLst/>
          </a:prstGeom>
          <a:noFill/>
          <a:ln/>
        </p:spPr>
        <p:txBody>
          <a:bodyPr wrap="square" lIns="0" tIns="0" rIns="0" bIns="0" rtlCol="0" anchor="ctr"/>
          <a:lstStyle/>
          <a:p>
            <a:pPr indent="0" marL="0">
              <a:lnSpc>
                <a:spcPct val="100000"/>
              </a:lnSpc>
              <a:buNone/>
            </a:pPr>
            <a:r>
              <a:rPr lang="en-US" sz="1500" dirty="0">
                <a:solidFill>
                  <a:srgbClr val="ECE7DD"/>
                </a:solidFill>
                <a:latin typeface="Calibri" pitchFamily="34" charset="0"/>
                <a:ea typeface="Calibri" pitchFamily="34" charset="-122"/>
                <a:cs typeface="Calibri" pitchFamily="34" charset="-120"/>
              </a:rPr>
              <a:t>Utilisez poussoirs, crochets et outils — jamais les doigts.</a:t>
            </a:r>
            <a:endParaRPr lang="en-US" sz="1500" dirty="0"/>
          </a:p>
        </p:txBody>
      </p:sp>
      <p:sp>
        <p:nvSpPr>
          <p:cNvPr id="17" name="Shape 12"/>
          <p:cNvSpPr/>
          <p:nvPr/>
        </p:nvSpPr>
        <p:spPr>
          <a:xfrm>
            <a:off x="548640" y="3886200"/>
            <a:ext cx="475488" cy="475488"/>
          </a:xfrm>
          <a:prstGeom prst="oval">
            <a:avLst/>
          </a:prstGeom>
          <a:solidFill>
            <a:srgbClr val="1B1712"/>
          </a:solidFill>
          <a:ln w="19050">
            <a:solidFill>
              <a:srgbClr val="8FB35A"/>
            </a:solidFill>
            <a:prstDash val="solid"/>
          </a:ln>
        </p:spPr>
      </p:sp>
      <p:pic>
        <p:nvPicPr>
          <p:cNvPr id="18" name="Image 3" descr="preencoded.png">    </p:cNvPr>
          <p:cNvPicPr>
            <a:picLocks noChangeAspect="1"/>
          </p:cNvPicPr>
          <p:nvPr/>
        </p:nvPicPr>
        <p:blipFill>
          <a:blip r:embed="rId4"/>
          <a:stretch>
            <a:fillRect/>
          </a:stretch>
        </p:blipFill>
        <p:spPr>
          <a:xfrm>
            <a:off x="638983" y="3976543"/>
            <a:ext cx="294803" cy="294803"/>
          </a:xfrm>
          <a:prstGeom prst="rect">
            <a:avLst/>
          </a:prstGeom>
        </p:spPr>
      </p:pic>
      <p:sp>
        <p:nvSpPr>
          <p:cNvPr id="19" name="Text 13"/>
          <p:cNvSpPr/>
          <p:nvPr/>
        </p:nvSpPr>
        <p:spPr>
          <a:xfrm>
            <a:off x="1207008" y="3840480"/>
            <a:ext cx="6291072" cy="566928"/>
          </a:xfrm>
          <a:prstGeom prst="rect">
            <a:avLst/>
          </a:prstGeom>
          <a:noFill/>
          <a:ln/>
        </p:spPr>
        <p:txBody>
          <a:bodyPr wrap="square" lIns="0" tIns="0" rIns="0" bIns="0" rtlCol="0" anchor="ctr"/>
          <a:lstStyle/>
          <a:p>
            <a:pPr indent="0" marL="0">
              <a:lnSpc>
                <a:spcPct val="100000"/>
              </a:lnSpc>
              <a:buNone/>
            </a:pPr>
            <a:r>
              <a:rPr lang="en-US" sz="1500" dirty="0">
                <a:solidFill>
                  <a:srgbClr val="ECE7DD"/>
                </a:solidFill>
                <a:latin typeface="Calibri" pitchFamily="34" charset="0"/>
                <a:ea typeface="Calibri" pitchFamily="34" charset="-122"/>
                <a:cs typeface="Calibri" pitchFamily="34" charset="-120"/>
              </a:rPr>
              <a:t>Inspectez vos gants; remplacez-les dès qu'ils sont usés.</a:t>
            </a:r>
            <a:endParaRPr lang="en-US" sz="1500" dirty="0"/>
          </a:p>
        </p:txBody>
      </p:sp>
      <p:sp>
        <p:nvSpPr>
          <p:cNvPr id="20" name="Shape 14"/>
          <p:cNvSpPr/>
          <p:nvPr/>
        </p:nvSpPr>
        <p:spPr>
          <a:xfrm>
            <a:off x="548640" y="4572000"/>
            <a:ext cx="475488" cy="475488"/>
          </a:xfrm>
          <a:prstGeom prst="oval">
            <a:avLst/>
          </a:prstGeom>
          <a:solidFill>
            <a:srgbClr val="1B1712"/>
          </a:solidFill>
          <a:ln w="19050">
            <a:solidFill>
              <a:srgbClr val="8FB35A"/>
            </a:solidFill>
            <a:prstDash val="solid"/>
          </a:ln>
        </p:spPr>
      </p:sp>
      <p:pic>
        <p:nvPicPr>
          <p:cNvPr id="21" name="Image 4" descr="preencoded.png">    </p:cNvPr>
          <p:cNvPicPr>
            <a:picLocks noChangeAspect="1"/>
          </p:cNvPicPr>
          <p:nvPr/>
        </p:nvPicPr>
        <p:blipFill>
          <a:blip r:embed="rId5"/>
          <a:stretch>
            <a:fillRect/>
          </a:stretch>
        </p:blipFill>
        <p:spPr>
          <a:xfrm>
            <a:off x="638983" y="4662343"/>
            <a:ext cx="294803" cy="294803"/>
          </a:xfrm>
          <a:prstGeom prst="rect">
            <a:avLst/>
          </a:prstGeom>
        </p:spPr>
      </p:pic>
      <p:sp>
        <p:nvSpPr>
          <p:cNvPr id="22" name="Text 15"/>
          <p:cNvSpPr/>
          <p:nvPr/>
        </p:nvSpPr>
        <p:spPr>
          <a:xfrm>
            <a:off x="1207008" y="4526280"/>
            <a:ext cx="6291072" cy="566928"/>
          </a:xfrm>
          <a:prstGeom prst="rect">
            <a:avLst/>
          </a:prstGeom>
          <a:noFill/>
          <a:ln/>
        </p:spPr>
        <p:txBody>
          <a:bodyPr wrap="square" lIns="0" tIns="0" rIns="0" bIns="0" rtlCol="0" anchor="ctr"/>
          <a:lstStyle/>
          <a:p>
            <a:pPr indent="0" marL="0">
              <a:lnSpc>
                <a:spcPct val="100000"/>
              </a:lnSpc>
              <a:buNone/>
            </a:pPr>
            <a:r>
              <a:rPr lang="en-US" sz="1500" dirty="0">
                <a:solidFill>
                  <a:srgbClr val="ECE7DD"/>
                </a:solidFill>
                <a:latin typeface="Calibri" pitchFamily="34" charset="0"/>
                <a:ea typeface="Calibri" pitchFamily="34" charset="-122"/>
                <a:cs typeface="Calibri" pitchFamily="34" charset="-120"/>
              </a:rPr>
              <a:t>Ne retirez jamais un gant près d'une pièce en rotation.</a:t>
            </a:r>
            <a:endParaRPr lang="en-US" sz="1500" dirty="0"/>
          </a:p>
        </p:txBody>
      </p:sp>
      <p:sp>
        <p:nvSpPr>
          <p:cNvPr id="23" name="Shape 16"/>
          <p:cNvSpPr/>
          <p:nvPr/>
        </p:nvSpPr>
        <p:spPr>
          <a:xfrm>
            <a:off x="548640" y="5257800"/>
            <a:ext cx="475488" cy="475488"/>
          </a:xfrm>
          <a:prstGeom prst="oval">
            <a:avLst/>
          </a:prstGeom>
          <a:solidFill>
            <a:srgbClr val="1B1712"/>
          </a:solidFill>
          <a:ln w="19050">
            <a:solidFill>
              <a:srgbClr val="8FB35A"/>
            </a:solidFill>
            <a:prstDash val="solid"/>
          </a:ln>
        </p:spPr>
      </p:sp>
      <p:pic>
        <p:nvPicPr>
          <p:cNvPr id="24" name="Image 5" descr="preencoded.png">    </p:cNvPr>
          <p:cNvPicPr>
            <a:picLocks noChangeAspect="1"/>
          </p:cNvPicPr>
          <p:nvPr/>
        </p:nvPicPr>
        <p:blipFill>
          <a:blip r:embed="rId6"/>
          <a:stretch>
            <a:fillRect/>
          </a:stretch>
        </p:blipFill>
        <p:spPr>
          <a:xfrm>
            <a:off x="638983" y="5348143"/>
            <a:ext cx="294803" cy="294803"/>
          </a:xfrm>
          <a:prstGeom prst="rect">
            <a:avLst/>
          </a:prstGeom>
        </p:spPr>
      </p:pic>
      <p:sp>
        <p:nvSpPr>
          <p:cNvPr id="25" name="Text 17"/>
          <p:cNvSpPr/>
          <p:nvPr/>
        </p:nvSpPr>
        <p:spPr>
          <a:xfrm>
            <a:off x="1207008" y="5212080"/>
            <a:ext cx="6291072" cy="566928"/>
          </a:xfrm>
          <a:prstGeom prst="rect">
            <a:avLst/>
          </a:prstGeom>
          <a:noFill/>
          <a:ln/>
        </p:spPr>
        <p:txBody>
          <a:bodyPr wrap="square" lIns="0" tIns="0" rIns="0" bIns="0" rtlCol="0" anchor="ctr"/>
          <a:lstStyle/>
          <a:p>
            <a:pPr indent="0" marL="0">
              <a:lnSpc>
                <a:spcPct val="100000"/>
              </a:lnSpc>
              <a:buNone/>
            </a:pPr>
            <a:r>
              <a:rPr lang="en-US" sz="1500" dirty="0">
                <a:solidFill>
                  <a:srgbClr val="ECE7DD"/>
                </a:solidFill>
                <a:latin typeface="Calibri" pitchFamily="34" charset="0"/>
                <a:ea typeface="Calibri" pitchFamily="34" charset="-122"/>
                <a:cs typeface="Calibri" pitchFamily="34" charset="-120"/>
              </a:rPr>
              <a:t>Signalez et neutralisez les points de pincement.</a:t>
            </a:r>
            <a:endParaRPr lang="en-US" sz="1500" dirty="0"/>
          </a:p>
        </p:txBody>
      </p:sp>
      <p:sp>
        <p:nvSpPr>
          <p:cNvPr id="26" name="Shape 18"/>
          <p:cNvSpPr/>
          <p:nvPr/>
        </p:nvSpPr>
        <p:spPr>
          <a:xfrm>
            <a:off x="7818120" y="1828800"/>
            <a:ext cx="3840480" cy="4023360"/>
          </a:xfrm>
          <a:prstGeom prst="roundRect">
            <a:avLst>
              <a:gd name="adj" fmla="val 2857"/>
            </a:avLst>
          </a:prstGeom>
          <a:solidFill>
            <a:srgbClr val="2C261D"/>
          </a:solidFill>
          <a:ln w="15875">
            <a:solidFill>
              <a:srgbClr val="F2A93C"/>
            </a:solidFill>
            <a:prstDash val="solid"/>
          </a:ln>
        </p:spPr>
      </p:sp>
      <p:sp>
        <p:nvSpPr>
          <p:cNvPr id="27" name="Shape 19"/>
          <p:cNvSpPr/>
          <p:nvPr/>
        </p:nvSpPr>
        <p:spPr>
          <a:xfrm>
            <a:off x="9326880" y="2148840"/>
            <a:ext cx="822960" cy="822960"/>
          </a:xfrm>
          <a:prstGeom prst="oval">
            <a:avLst/>
          </a:prstGeom>
          <a:solidFill>
            <a:srgbClr val="141210"/>
          </a:solidFill>
          <a:ln w="19050">
            <a:solidFill>
              <a:srgbClr val="F2A93C"/>
            </a:solidFill>
            <a:prstDash val="solid"/>
          </a:ln>
        </p:spPr>
      </p:sp>
      <p:pic>
        <p:nvPicPr>
          <p:cNvPr id="28" name="Image 6" descr="preencoded.png">    </p:cNvPr>
          <p:cNvPicPr>
            <a:picLocks noChangeAspect="1"/>
          </p:cNvPicPr>
          <p:nvPr/>
        </p:nvPicPr>
        <p:blipFill>
          <a:blip r:embed="rId7"/>
          <a:stretch>
            <a:fillRect/>
          </a:stretch>
        </p:blipFill>
        <p:spPr>
          <a:xfrm>
            <a:off x="9512046" y="2334006"/>
            <a:ext cx="452628" cy="452628"/>
          </a:xfrm>
          <a:prstGeom prst="rect">
            <a:avLst/>
          </a:prstGeom>
        </p:spPr>
      </p:pic>
      <p:sp>
        <p:nvSpPr>
          <p:cNvPr id="29" name="Text 20"/>
          <p:cNvSpPr/>
          <p:nvPr/>
        </p:nvSpPr>
        <p:spPr>
          <a:xfrm>
            <a:off x="7818120" y="3108960"/>
            <a:ext cx="3840480" cy="320040"/>
          </a:xfrm>
          <a:prstGeom prst="rect">
            <a:avLst/>
          </a:prstGeom>
          <a:noFill/>
          <a:ln/>
        </p:spPr>
        <p:txBody>
          <a:bodyPr wrap="square" lIns="0" tIns="0" rIns="0" bIns="0" rtlCol="0" anchor="ctr"/>
          <a:lstStyle/>
          <a:p>
            <a:pPr algn="ctr" indent="0" marL="0">
              <a:buNone/>
            </a:pPr>
            <a:r>
              <a:rPr lang="en-US" sz="1200" b="1" spc="300" kern="0" dirty="0">
                <a:solidFill>
                  <a:srgbClr val="F2A93C"/>
                </a:solidFill>
                <a:latin typeface="Calibri" pitchFamily="34" charset="0"/>
                <a:ea typeface="Calibri" pitchFamily="34" charset="-122"/>
                <a:cs typeface="Calibri" pitchFamily="34" charset="-120"/>
              </a:rPr>
              <a:t>RÈGLE D'OR</a:t>
            </a:r>
            <a:endParaRPr lang="en-US" sz="1200" dirty="0"/>
          </a:p>
        </p:txBody>
      </p:sp>
      <p:sp>
        <p:nvSpPr>
          <p:cNvPr id="30" name="Text 21"/>
          <p:cNvSpPr/>
          <p:nvPr/>
        </p:nvSpPr>
        <p:spPr>
          <a:xfrm>
            <a:off x="8138160" y="3520440"/>
            <a:ext cx="3200400" cy="914400"/>
          </a:xfrm>
          <a:prstGeom prst="rect">
            <a:avLst/>
          </a:prstGeom>
          <a:noFill/>
          <a:ln/>
        </p:spPr>
        <p:txBody>
          <a:bodyPr wrap="square" lIns="0" tIns="0" rIns="0" bIns="0" rtlCol="0" anchor="ctr"/>
          <a:lstStyle/>
          <a:p>
            <a:pPr algn="ctr" indent="0" marL="0">
              <a:lnSpc>
                <a:spcPct val="105000"/>
              </a:lnSpc>
              <a:buNone/>
            </a:pPr>
            <a:r>
              <a:rPr lang="en-US" sz="1900" b="1" dirty="0">
                <a:solidFill>
                  <a:srgbClr val="FFFFFF"/>
                </a:solidFill>
                <a:latin typeface="Cambria" pitchFamily="34" charset="0"/>
                <a:ea typeface="Cambria" pitchFamily="34" charset="-122"/>
                <a:cs typeface="Cambria" pitchFamily="34" charset="-120"/>
              </a:rPr>
              <a:t>Si vous ne voyez pas vos mains en sécurité,</a:t>
            </a:r>
            <a:endParaRPr lang="en-US" sz="1900" dirty="0"/>
          </a:p>
        </p:txBody>
      </p:sp>
      <p:sp>
        <p:nvSpPr>
          <p:cNvPr id="31" name="Text 22"/>
          <p:cNvSpPr/>
          <p:nvPr/>
        </p:nvSpPr>
        <p:spPr>
          <a:xfrm>
            <a:off x="8138160" y="4526280"/>
            <a:ext cx="3200400" cy="640080"/>
          </a:xfrm>
          <a:prstGeom prst="rect">
            <a:avLst/>
          </a:prstGeom>
          <a:noFill/>
          <a:ln/>
        </p:spPr>
        <p:txBody>
          <a:bodyPr wrap="square" lIns="0" tIns="0" rIns="0" bIns="0" rtlCol="0" anchor="ctr"/>
          <a:lstStyle/>
          <a:p>
            <a:pPr algn="ctr" indent="0" marL="0">
              <a:buNone/>
            </a:pPr>
            <a:r>
              <a:rPr lang="en-US" sz="3400" b="1" dirty="0">
                <a:solidFill>
                  <a:srgbClr val="F2A93C"/>
                </a:solidFill>
                <a:latin typeface="Cambria" pitchFamily="34" charset="0"/>
                <a:ea typeface="Cambria" pitchFamily="34" charset="-122"/>
                <a:cs typeface="Cambria" pitchFamily="34" charset="-120"/>
              </a:rPr>
              <a:t>ARRÊTEZ.</a:t>
            </a:r>
            <a:endParaRPr lang="en-US" sz="3400" dirty="0"/>
          </a:p>
        </p:txBody>
      </p:sp>
      <p:sp>
        <p:nvSpPr>
          <p:cNvPr id="32" name="Text 23"/>
          <p:cNvSpPr/>
          <p:nvPr/>
        </p:nvSpPr>
        <p:spPr>
          <a:xfrm>
            <a:off x="8183880" y="5257800"/>
            <a:ext cx="3108960" cy="502920"/>
          </a:xfrm>
          <a:prstGeom prst="rect">
            <a:avLst/>
          </a:prstGeom>
          <a:noFill/>
          <a:ln/>
        </p:spPr>
        <p:txBody>
          <a:bodyPr wrap="square" lIns="0" tIns="0" rIns="0" bIns="0" rtlCol="0" anchor="ctr"/>
          <a:lstStyle/>
          <a:p>
            <a:pPr algn="ctr" indent="0" marL="0">
              <a:lnSpc>
                <a:spcPct val="105000"/>
              </a:lnSpc>
              <a:buNone/>
            </a:pPr>
            <a:r>
              <a:rPr lang="en-US" sz="1150" i="1" dirty="0">
                <a:solidFill>
                  <a:srgbClr val="B4AD9F"/>
                </a:solidFill>
                <a:latin typeface="Calibri" pitchFamily="34" charset="0"/>
                <a:ea typeface="Calibri" pitchFamily="34" charset="-122"/>
                <a:cs typeface="Calibri" pitchFamily="34" charset="-120"/>
              </a:rPr>
              <a:t>Aucune tâche n'est urgente au point de risquer une main.</a:t>
            </a:r>
            <a:endParaRPr lang="en-US" sz="1150" dirty="0"/>
          </a:p>
        </p:txBody>
      </p:sp>
      <p:sp>
        <p:nvSpPr>
          <p:cNvPr id="33" name="Text 2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850" dirty="0">
                <a:solidFill>
                  <a:srgbClr val="857E70"/>
                </a:solidFill>
                <a:latin typeface="Calibri" pitchFamily="34" charset="0"/>
                <a:ea typeface="Calibri" pitchFamily="34" charset="-122"/>
                <a:cs typeface="Calibri" pitchFamily="34" charset="-120"/>
              </a:rPr>
              <a:t>Santé-Sécurité · Prévention des blessures aux mains</a:t>
            </a:r>
            <a:endParaRPr lang="en-US" sz="850" dirty="0"/>
          </a:p>
        </p:txBody>
      </p:sp>
      <p:sp>
        <p:nvSpPr>
          <p:cNvPr id="34" name="Text 25"/>
          <p:cNvSpPr/>
          <p:nvPr/>
        </p:nvSpPr>
        <p:spPr>
          <a:xfrm>
            <a:off x="11185855" y="6437376"/>
            <a:ext cx="457200" cy="274320"/>
          </a:xfrm>
          <a:prstGeom prst="rect">
            <a:avLst/>
          </a:prstGeom>
          <a:noFill/>
          <a:ln/>
        </p:spPr>
        <p:txBody>
          <a:bodyPr wrap="square" lIns="0" tIns="0" rIns="0" bIns="0" rtlCol="0" anchor="ctr"/>
          <a:lstStyle/>
          <a:p>
            <a:pPr algn="r" indent="0" marL="0">
              <a:buNone/>
            </a:pPr>
            <a:r>
              <a:rPr lang="en-US" sz="1100" dirty="0">
                <a:solidFill>
                  <a:srgbClr val="F2A93C"/>
                </a:solidFill>
                <a:latin typeface="Cambria" pitchFamily="34" charset="0"/>
                <a:ea typeface="Cambria" pitchFamily="34" charset="-122"/>
                <a:cs typeface="Cambria"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210"/>
        </a:solidFill>
      </p:bgPr>
    </p:bg>
    <p:spTree>
      <p:nvGrpSpPr>
        <p:cNvPr id="1" name=""/>
        <p:cNvGrpSpPr/>
        <p:nvPr/>
      </p:nvGrpSpPr>
      <p:grpSpPr>
        <a:xfrm>
          <a:off x="0" y="0"/>
          <a:ext cx="0" cy="0"/>
          <a:chOff x="0" y="0"/>
          <a:chExt cx="0" cy="0"/>
        </a:xfrm>
      </p:grpSpPr>
      <p:sp>
        <p:nvSpPr>
          <p:cNvPr id="2" name="Shape 0"/>
          <p:cNvSpPr/>
          <p:nvPr/>
        </p:nvSpPr>
        <p:spPr>
          <a:xfrm>
            <a:off x="548640" y="384048"/>
            <a:ext cx="310896" cy="310896"/>
          </a:xfrm>
          <a:prstGeom prst="roundRect">
            <a:avLst>
              <a:gd name="adj" fmla="val 17647"/>
            </a:avLst>
          </a:prstGeom>
          <a:solidFill>
            <a:srgbClr val="F2A93C"/>
          </a:solidFill>
          <a:ln/>
        </p:spPr>
      </p:sp>
      <p:sp>
        <p:nvSpPr>
          <p:cNvPr id="3" name="Shape 1"/>
          <p:cNvSpPr/>
          <p:nvPr/>
        </p:nvSpPr>
        <p:spPr>
          <a:xfrm rot="5400000">
            <a:off x="641909" y="464881"/>
            <a:ext cx="136794" cy="149230"/>
          </a:xfrm>
          <a:prstGeom prst="triangle">
            <a:avLst/>
          </a:prstGeom>
          <a:solidFill>
            <a:srgbClr val="141210"/>
          </a:solidFill>
          <a:ln/>
        </p:spPr>
      </p:sp>
      <p:sp>
        <p:nvSpPr>
          <p:cNvPr id="4" name="Text 2"/>
          <p:cNvSpPr/>
          <p:nvPr/>
        </p:nvSpPr>
        <p:spPr>
          <a:xfrm>
            <a:off x="969264" y="338328"/>
            <a:ext cx="2194560" cy="402336"/>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Dhilmar</a:t>
            </a:r>
            <a:endParaRPr lang="en-US" sz="1700" dirty="0"/>
          </a:p>
        </p:txBody>
      </p:sp>
      <p:sp>
        <p:nvSpPr>
          <p:cNvPr id="5" name="Text 3"/>
          <p:cNvSpPr/>
          <p:nvPr/>
        </p:nvSpPr>
        <p:spPr>
          <a:xfrm>
            <a:off x="9265615" y="420624"/>
            <a:ext cx="2377440" cy="274320"/>
          </a:xfrm>
          <a:prstGeom prst="rect">
            <a:avLst/>
          </a:prstGeom>
          <a:noFill/>
          <a:ln/>
        </p:spPr>
        <p:txBody>
          <a:bodyPr wrap="square" lIns="0" tIns="0" rIns="0" bIns="0" rtlCol="0" anchor="ctr"/>
          <a:lstStyle/>
          <a:p>
            <a:pPr algn="r" indent="0" marL="0">
              <a:buNone/>
            </a:pPr>
            <a:r>
              <a:rPr lang="en-US" sz="1050" b="1" spc="200" kern="0" dirty="0">
                <a:solidFill>
                  <a:srgbClr val="857E70"/>
                </a:solidFill>
                <a:latin typeface="Calibri" pitchFamily="34" charset="0"/>
                <a:ea typeface="Calibri" pitchFamily="34" charset="-122"/>
                <a:cs typeface="Calibri" pitchFamily="34" charset="-120"/>
              </a:rPr>
              <a:t>MINE </a:t>
            </a:r>
            <a:pPr algn="r" indent="0" marL="0">
              <a:buNone/>
            </a:pPr>
            <a:r>
              <a:rPr lang="en-US" sz="1050" b="1" spc="200" kern="0" dirty="0">
                <a:solidFill>
                  <a:srgbClr val="F2A93C"/>
                </a:solidFill>
                <a:latin typeface="Calibri" pitchFamily="34" charset="0"/>
                <a:ea typeface="Calibri" pitchFamily="34" charset="-122"/>
                <a:cs typeface="Calibri" pitchFamily="34" charset="-120"/>
              </a:rPr>
              <a:t>ÉLÉONORE</a:t>
            </a:r>
            <a:endParaRPr lang="en-US" sz="1050" dirty="0"/>
          </a:p>
        </p:txBody>
      </p:sp>
      <p:sp>
        <p:nvSpPr>
          <p:cNvPr id="6" name="Text 4"/>
          <p:cNvSpPr/>
          <p:nvPr/>
        </p:nvSpPr>
        <p:spPr>
          <a:xfrm>
            <a:off x="566928" y="475488"/>
            <a:ext cx="9144000" cy="274320"/>
          </a:xfrm>
          <a:prstGeom prst="rect">
            <a:avLst/>
          </a:prstGeom>
          <a:noFill/>
          <a:ln/>
        </p:spPr>
        <p:txBody>
          <a:bodyPr wrap="square" lIns="0" tIns="0" rIns="0" bIns="0" rtlCol="0" anchor="ctr"/>
          <a:lstStyle/>
          <a:p>
            <a:pPr indent="0" marL="0">
              <a:buNone/>
            </a:pPr>
            <a:r>
              <a:rPr lang="en-US" sz="1200" b="1" spc="300" kern="0" dirty="0">
                <a:solidFill>
                  <a:srgbClr val="F2A93C"/>
                </a:solidFill>
                <a:latin typeface="Calibri" pitchFamily="34" charset="0"/>
                <a:ea typeface="Calibri" pitchFamily="34" charset="-122"/>
                <a:cs typeface="Calibri" pitchFamily="34" charset="-120"/>
              </a:rPr>
              <a:t>LE BON OUTIL POUR LA MAIN</a:t>
            </a:r>
            <a:endParaRPr lang="en-US" sz="1200" dirty="0"/>
          </a:p>
        </p:txBody>
      </p:sp>
      <p:sp>
        <p:nvSpPr>
          <p:cNvPr id="7" name="Text 5"/>
          <p:cNvSpPr/>
          <p:nvPr/>
        </p:nvSpPr>
        <p:spPr>
          <a:xfrm>
            <a:off x="548640" y="768096"/>
            <a:ext cx="11064240" cy="822960"/>
          </a:xfrm>
          <a:prstGeom prst="rect">
            <a:avLst/>
          </a:prstGeom>
          <a:noFill/>
          <a:ln/>
        </p:spPr>
        <p:txBody>
          <a:bodyPr wrap="square" lIns="0" tIns="0" rIns="0" bIns="0" rtlCol="0" anchor="ctr"/>
          <a:lstStyle/>
          <a:p>
            <a:pPr indent="0" marL="0">
              <a:lnSpc>
                <a:spcPts val="3465"/>
              </a:lnSpc>
              <a:buNone/>
            </a:pPr>
            <a:r>
              <a:rPr lang="en-US" sz="3300" b="1" dirty="0">
                <a:solidFill>
                  <a:srgbClr val="FFFFFF"/>
                </a:solidFill>
                <a:latin typeface="Cambria" pitchFamily="34" charset="0"/>
                <a:ea typeface="Cambria" pitchFamily="34" charset="-122"/>
                <a:cs typeface="Cambria" pitchFamily="34" charset="-120"/>
              </a:rPr>
              <a:t>Choisir le bon gant</a:t>
            </a:r>
            <a:endParaRPr lang="en-US" sz="3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8412480" cy="914400"/>
        </p:xfrm>
        <a:graphic>
          <a:graphicData uri="http://schemas.openxmlformats.org/drawingml/2006/table">
            <a:tbl>
              <a:tblPr/>
              <a:tblGrid>
                <a:gridCol w="3017520"/>
                <a:gridCol w="3520440"/>
                <a:gridCol w="1874520"/>
              </a:tblGrid>
              <a:tr h="566928">
                <a:tc>
                  <a:txBody>
                    <a:bodyPr/>
                    <a:lstStyle/>
                    <a:p>
                      <a:pPr algn="l" indent="0" marL="0">
                        <a:buNone/>
                      </a:pPr>
                      <a:r>
                        <a:rPr lang="en-US" sz="1300" b="1" dirty="0">
                          <a:solidFill>
                            <a:srgbClr val="141210"/>
                          </a:solidFill>
                          <a:latin typeface="Calibri" pitchFamily="34" charset="0"/>
                          <a:ea typeface="Calibri" pitchFamily="34" charset="-122"/>
                          <a:cs typeface="Calibri" pitchFamily="34" charset="-120"/>
                        </a:rPr>
                        <a:t>Tâche / risque</a:t>
                      </a:r>
                      <a:endParaRPr lang="en-US" sz="1300" dirty="0">
                        <a:latin typeface="Calibri" charset="0"/>
                        <a:ea typeface="Calibri" charset="0"/>
                        <a:cs typeface="Calibri" charset="0"/>
                      </a:endParaRPr>
                    </a:p>
                  </a:txBody>
                  <a:tcPr marL="76200" marR="76200" marT="38100" marB="38100" anchor="ctr">
                    <a:lnL w="12700" cap="flat" cmpd="sng" algn="ctr">
                      <a:solidFill>
                        <a:srgbClr val="3C352A"/>
                      </a:solidFill>
                      <a:prstDash val="solid"/>
                      <a:round/>
                      <a:headEnd type="none" w="med" len="med"/>
                      <a:tailEnd type="none" w="med" len="med"/>
                    </a:lnL>
                    <a:lnR w="12700" cap="flat" cmpd="sng" algn="ctr">
                      <a:solidFill>
                        <a:srgbClr val="3C352A"/>
                      </a:solidFill>
                      <a:prstDash val="solid"/>
                      <a:round/>
                      <a:headEnd type="none" w="med" len="med"/>
                      <a:tailEnd type="none" w="med" len="med"/>
                    </a:lnR>
                    <a:lnT w="12700" cap="flat" cmpd="sng" algn="ctr">
                      <a:solidFill>
                        <a:srgbClr val="3C352A"/>
                      </a:solidFill>
                      <a:prstDash val="solid"/>
                      <a:round/>
                      <a:headEnd type="none" w="med" len="med"/>
                      <a:tailEnd type="none" w="med" len="med"/>
                    </a:lnT>
                    <a:lnB w="12700" cap="flat" cmpd="sng" algn="ctr">
                      <a:solidFill>
                        <a:srgbClr val="3C352A"/>
                      </a:solidFill>
                      <a:prstDash val="solid"/>
                      <a:round/>
                      <a:headEnd type="none" w="med" len="med"/>
                      <a:tailEnd type="none" w="med" len="med"/>
                    </a:lnB>
                    <a:solidFill>
                      <a:srgbClr val="F2A93C"/>
                    </a:solidFill>
                  </a:tcPr>
                </a:tc>
                <a:tc>
                  <a:txBody>
                    <a:bodyPr/>
                    <a:lstStyle/>
                    <a:p>
                      <a:pPr algn="l" indent="0" marL="0">
                        <a:buNone/>
                      </a:pPr>
                      <a:r>
                        <a:rPr lang="en-US" sz="1300" b="1" dirty="0">
                          <a:solidFill>
                            <a:srgbClr val="141210"/>
                          </a:solidFill>
                          <a:latin typeface="Calibri" pitchFamily="34" charset="0"/>
                          <a:ea typeface="Calibri" pitchFamily="34" charset="-122"/>
                          <a:cs typeface="Calibri" pitchFamily="34" charset="-120"/>
                        </a:rPr>
                        <a:t>Type de gant recommandé</a:t>
                      </a:r>
                      <a:endParaRPr lang="en-US" sz="1300" dirty="0">
                        <a:latin typeface="Calibri" charset="0"/>
                        <a:ea typeface="Calibri" charset="0"/>
                        <a:cs typeface="Calibri" charset="0"/>
                      </a:endParaRPr>
                    </a:p>
                  </a:txBody>
                  <a:tcPr marL="76200" marR="76200" marT="38100" marB="38100" anchor="ctr">
                    <a:lnL w="12700" cap="flat" cmpd="sng" algn="ctr">
                      <a:solidFill>
                        <a:srgbClr val="3C352A"/>
                      </a:solidFill>
                      <a:prstDash val="solid"/>
                      <a:round/>
                      <a:headEnd type="none" w="med" len="med"/>
                      <a:tailEnd type="none" w="med" len="med"/>
                    </a:lnL>
                    <a:lnR w="12700" cap="flat" cmpd="sng" algn="ctr">
                      <a:solidFill>
                        <a:srgbClr val="3C352A"/>
                      </a:solidFill>
                      <a:prstDash val="solid"/>
                      <a:round/>
                      <a:headEnd type="none" w="med" len="med"/>
                      <a:tailEnd type="none" w="med" len="med"/>
                    </a:lnR>
                    <a:lnT w="12700" cap="flat" cmpd="sng" algn="ctr">
                      <a:solidFill>
                        <a:srgbClr val="3C352A"/>
                      </a:solidFill>
                      <a:prstDash val="solid"/>
                      <a:round/>
                      <a:headEnd type="none" w="med" len="med"/>
                      <a:tailEnd type="none" w="med" len="med"/>
                    </a:lnT>
                    <a:lnB w="12700" cap="flat" cmpd="sng" algn="ctr">
                      <a:solidFill>
                        <a:srgbClr val="3C352A"/>
                      </a:solidFill>
                      <a:prstDash val="solid"/>
                      <a:round/>
                      <a:headEnd type="none" w="med" len="med"/>
                      <a:tailEnd type="none" w="med" len="med"/>
                    </a:lnB>
                    <a:solidFill>
                      <a:srgbClr val="F2A93C"/>
                    </a:solidFill>
                  </a:tcPr>
                </a:tc>
                <a:tc>
                  <a:txBody>
                    <a:bodyPr/>
                    <a:lstStyle/>
                    <a:p>
                      <a:pPr algn="l" indent="0" marL="0">
                        <a:buNone/>
                      </a:pPr>
                      <a:r>
                        <a:rPr lang="en-US" sz="1300" b="1" dirty="0">
                          <a:solidFill>
                            <a:srgbClr val="141210"/>
                          </a:solidFill>
                          <a:latin typeface="Calibri" pitchFamily="34" charset="0"/>
                          <a:ea typeface="Calibri" pitchFamily="34" charset="-122"/>
                          <a:cs typeface="Calibri" pitchFamily="34" charset="-120"/>
                        </a:rPr>
                        <a:t>Norme</a:t>
                      </a:r>
                      <a:endParaRPr lang="en-US" sz="1300" dirty="0">
                        <a:latin typeface="Calibri" charset="0"/>
                        <a:ea typeface="Calibri" charset="0"/>
                        <a:cs typeface="Calibri" charset="0"/>
                      </a:endParaRPr>
                    </a:p>
                  </a:txBody>
                  <a:tcPr marL="76200" marR="76200" marT="38100" marB="38100" anchor="ctr">
                    <a:lnL w="12700" cap="flat" cmpd="sng" algn="ctr">
                      <a:solidFill>
                        <a:srgbClr val="3C352A"/>
                      </a:solidFill>
                      <a:prstDash val="solid"/>
                      <a:round/>
                      <a:headEnd type="none" w="med" len="med"/>
                      <a:tailEnd type="none" w="med" len="med"/>
                    </a:lnL>
                    <a:lnR w="12700" cap="flat" cmpd="sng" algn="ctr">
                      <a:solidFill>
                        <a:srgbClr val="3C352A"/>
                      </a:solidFill>
                      <a:prstDash val="solid"/>
                      <a:round/>
                      <a:headEnd type="none" w="med" len="med"/>
                      <a:tailEnd type="none" w="med" len="med"/>
                    </a:lnR>
                    <a:lnT w="12700" cap="flat" cmpd="sng" algn="ctr">
                      <a:solidFill>
                        <a:srgbClr val="3C352A"/>
                      </a:solidFill>
                      <a:prstDash val="solid"/>
                      <a:round/>
                      <a:headEnd type="none" w="med" len="med"/>
                      <a:tailEnd type="none" w="med" len="med"/>
                    </a:lnT>
                    <a:lnB w="12700" cap="flat" cmpd="sng" algn="ctr">
                      <a:solidFill>
                        <a:srgbClr val="3C352A"/>
                      </a:solidFill>
                      <a:prstDash val="solid"/>
                      <a:round/>
                      <a:headEnd type="none" w="med" len="med"/>
                      <a:tailEnd type="none" w="med" len="med"/>
                    </a:lnB>
                    <a:solidFill>
                      <a:srgbClr val="F2A93C"/>
                    </a:solidFill>
                  </a:tcPr>
                </a:tc>
              </a:tr>
              <a:tr h="566928">
                <a:tc>
                  <a:txBody>
                    <a:bodyPr/>
                    <a:lstStyle/>
                    <a:p>
                      <a:pPr algn="l" indent="0" marL="0">
                        <a:buNone/>
                      </a:pPr>
                      <a:r>
                        <a:rPr lang="en-US" sz="1250" dirty="0">
                          <a:solidFill>
                            <a:srgbClr val="ECE7DD"/>
                          </a:solidFill>
                          <a:latin typeface="Calibri" pitchFamily="34" charset="0"/>
                          <a:ea typeface="Calibri" pitchFamily="34" charset="-122"/>
                          <a:cs typeface="Calibri" pitchFamily="34" charset="-120"/>
                        </a:rPr>
                        <a:t>Manutention, arêtes vives, tôle</a:t>
                      </a:r>
                      <a:endParaRPr lang="en-US" sz="1250" dirty="0">
                        <a:latin typeface="Calibri" charset="0"/>
                        <a:ea typeface="Calibri" charset="0"/>
                        <a:cs typeface="Calibri" charset="0"/>
                      </a:endParaRPr>
                    </a:p>
                  </a:txBody>
                  <a:tcPr marL="76200" marR="76200" marT="38100" marB="38100" anchor="ctr">
                    <a:lnL w="12700" cap="flat" cmpd="sng" algn="ctr">
                      <a:solidFill>
                        <a:srgbClr val="3C352A"/>
                      </a:solidFill>
                      <a:prstDash val="solid"/>
                      <a:round/>
                      <a:headEnd type="none" w="med" len="med"/>
                      <a:tailEnd type="none" w="med" len="med"/>
                    </a:lnL>
                    <a:lnR w="12700" cap="flat" cmpd="sng" algn="ctr">
                      <a:solidFill>
                        <a:srgbClr val="3C352A"/>
                      </a:solidFill>
                      <a:prstDash val="solid"/>
                      <a:round/>
                      <a:headEnd type="none" w="med" len="med"/>
                      <a:tailEnd type="none" w="med" len="med"/>
                    </a:lnR>
                    <a:lnT w="12700" cap="flat" cmpd="sng" algn="ctr">
                      <a:solidFill>
                        <a:srgbClr val="3C352A"/>
                      </a:solidFill>
                      <a:prstDash val="solid"/>
                      <a:round/>
                      <a:headEnd type="none" w="med" len="med"/>
                      <a:tailEnd type="none" w="med" len="med"/>
                    </a:lnT>
                    <a:lnB w="12700" cap="flat" cmpd="sng" algn="ctr">
                      <a:solidFill>
                        <a:srgbClr val="3C352A"/>
                      </a:solidFill>
                      <a:prstDash val="solid"/>
                      <a:round/>
                      <a:headEnd type="none" w="med" len="med"/>
                      <a:tailEnd type="none" w="med" len="med"/>
                    </a:lnB>
                    <a:solidFill>
                      <a:srgbClr val="231E17"/>
                    </a:solidFill>
                  </a:tcPr>
                </a:tc>
                <a:tc>
                  <a:txBody>
                    <a:bodyPr/>
                    <a:lstStyle/>
                    <a:p>
                      <a:pPr algn="l" indent="0" marL="0">
                        <a:buNone/>
                      </a:pPr>
                      <a:r>
                        <a:rPr lang="en-US" sz="1250" dirty="0">
                          <a:solidFill>
                            <a:srgbClr val="ECE7DD"/>
                          </a:solidFill>
                          <a:latin typeface="Calibri" pitchFamily="34" charset="0"/>
                          <a:ea typeface="Calibri" pitchFamily="34" charset="-122"/>
                          <a:cs typeface="Calibri" pitchFamily="34" charset="-120"/>
                        </a:rPr>
                        <a:t>Anti-coupure (HPPE / para-aramide) enduit</a:t>
                      </a:r>
                      <a:endParaRPr lang="en-US" sz="1250" dirty="0">
                        <a:latin typeface="Calibri" charset="0"/>
                        <a:ea typeface="Calibri" charset="0"/>
                        <a:cs typeface="Calibri" charset="0"/>
                      </a:endParaRPr>
                    </a:p>
                  </a:txBody>
                  <a:tcPr marL="76200" marR="76200" marT="38100" marB="38100" anchor="ctr">
                    <a:lnL w="12700" cap="flat" cmpd="sng" algn="ctr">
                      <a:solidFill>
                        <a:srgbClr val="3C352A"/>
                      </a:solidFill>
                      <a:prstDash val="solid"/>
                      <a:round/>
                      <a:headEnd type="none" w="med" len="med"/>
                      <a:tailEnd type="none" w="med" len="med"/>
                    </a:lnL>
                    <a:lnR w="12700" cap="flat" cmpd="sng" algn="ctr">
                      <a:solidFill>
                        <a:srgbClr val="3C352A"/>
                      </a:solidFill>
                      <a:prstDash val="solid"/>
                      <a:round/>
                      <a:headEnd type="none" w="med" len="med"/>
                      <a:tailEnd type="none" w="med" len="med"/>
                    </a:lnR>
                    <a:lnT w="12700" cap="flat" cmpd="sng" algn="ctr">
                      <a:solidFill>
                        <a:srgbClr val="3C352A"/>
                      </a:solidFill>
                      <a:prstDash val="solid"/>
                      <a:round/>
                      <a:headEnd type="none" w="med" len="med"/>
                      <a:tailEnd type="none" w="med" len="med"/>
                    </a:lnT>
                    <a:lnB w="12700" cap="flat" cmpd="sng" algn="ctr">
                      <a:solidFill>
                        <a:srgbClr val="3C352A"/>
                      </a:solidFill>
                      <a:prstDash val="solid"/>
                      <a:round/>
                      <a:headEnd type="none" w="med" len="med"/>
                      <a:tailEnd type="none" w="med" len="med"/>
                    </a:lnB>
                    <a:solidFill>
                      <a:srgbClr val="231E17"/>
                    </a:solidFill>
                  </a:tcPr>
                </a:tc>
                <a:tc>
                  <a:txBody>
                    <a:bodyPr/>
                    <a:lstStyle/>
                    <a:p>
                      <a:pPr algn="l" indent="0" marL="0">
                        <a:buNone/>
                      </a:pPr>
                      <a:r>
                        <a:rPr lang="en-US" sz="1250" dirty="0">
                          <a:solidFill>
                            <a:srgbClr val="F2A93C"/>
                          </a:solidFill>
                          <a:latin typeface="Calibri" pitchFamily="34" charset="0"/>
                          <a:ea typeface="Calibri" pitchFamily="34" charset="-122"/>
                          <a:cs typeface="Calibri" pitchFamily="34" charset="-120"/>
                        </a:rPr>
                        <a:t>EN 388 (C–F) / ANSI A4–A6</a:t>
                      </a:r>
                      <a:endParaRPr lang="en-US" sz="1250" dirty="0">
                        <a:latin typeface="Calibri" charset="0"/>
                        <a:ea typeface="Calibri" charset="0"/>
                        <a:cs typeface="Calibri" charset="0"/>
                      </a:endParaRPr>
                    </a:p>
                  </a:txBody>
                  <a:tcPr marL="76200" marR="76200" marT="38100" marB="38100" anchor="ctr">
                    <a:lnL w="12700" cap="flat" cmpd="sng" algn="ctr">
                      <a:solidFill>
                        <a:srgbClr val="3C352A"/>
                      </a:solidFill>
                      <a:prstDash val="solid"/>
                      <a:round/>
                      <a:headEnd type="none" w="med" len="med"/>
                      <a:tailEnd type="none" w="med" len="med"/>
                    </a:lnL>
                    <a:lnR w="12700" cap="flat" cmpd="sng" algn="ctr">
                      <a:solidFill>
                        <a:srgbClr val="3C352A"/>
                      </a:solidFill>
                      <a:prstDash val="solid"/>
                      <a:round/>
                      <a:headEnd type="none" w="med" len="med"/>
                      <a:tailEnd type="none" w="med" len="med"/>
                    </a:lnR>
                    <a:lnT w="12700" cap="flat" cmpd="sng" algn="ctr">
                      <a:solidFill>
                        <a:srgbClr val="3C352A"/>
                      </a:solidFill>
                      <a:prstDash val="solid"/>
                      <a:round/>
                      <a:headEnd type="none" w="med" len="med"/>
                      <a:tailEnd type="none" w="med" len="med"/>
                    </a:lnT>
                    <a:lnB w="12700" cap="flat" cmpd="sng" algn="ctr">
                      <a:solidFill>
                        <a:srgbClr val="3C352A"/>
                      </a:solidFill>
                      <a:prstDash val="solid"/>
                      <a:round/>
                      <a:headEnd type="none" w="med" len="med"/>
                      <a:tailEnd type="none" w="med" len="med"/>
                    </a:lnB>
                    <a:solidFill>
                      <a:srgbClr val="231E17"/>
                    </a:solidFill>
                  </a:tcPr>
                </a:tc>
              </a:tr>
              <a:tr h="566928">
                <a:tc>
                  <a:txBody>
                    <a:bodyPr/>
                    <a:lstStyle/>
                    <a:p>
                      <a:pPr algn="l" indent="0" marL="0">
                        <a:buNone/>
                      </a:pPr>
                      <a:r>
                        <a:rPr lang="en-US" sz="1250" dirty="0">
                          <a:solidFill>
                            <a:srgbClr val="ECE7DD"/>
                          </a:solidFill>
                          <a:latin typeface="Calibri" pitchFamily="34" charset="0"/>
                          <a:ea typeface="Calibri" pitchFamily="34" charset="-122"/>
                          <a:cs typeface="Calibri" pitchFamily="34" charset="-120"/>
                        </a:rPr>
                        <a:t>Travaux lourds, abrasion</a:t>
                      </a:r>
                      <a:endParaRPr lang="en-US" sz="1250" dirty="0">
                        <a:latin typeface="Calibri" charset="0"/>
                        <a:ea typeface="Calibri" charset="0"/>
                        <a:cs typeface="Calibri" charset="0"/>
                      </a:endParaRPr>
                    </a:p>
                  </a:txBody>
                  <a:tcPr marL="76200" marR="76200" marT="38100" marB="38100" anchor="ctr">
                    <a:lnL w="12700" cap="flat" cmpd="sng" algn="ctr">
                      <a:solidFill>
                        <a:srgbClr val="3C352A"/>
                      </a:solidFill>
                      <a:prstDash val="solid"/>
                      <a:round/>
                      <a:headEnd type="none" w="med" len="med"/>
                      <a:tailEnd type="none" w="med" len="med"/>
                    </a:lnL>
                    <a:lnR w="12700" cap="flat" cmpd="sng" algn="ctr">
                      <a:solidFill>
                        <a:srgbClr val="3C352A"/>
                      </a:solidFill>
                      <a:prstDash val="solid"/>
                      <a:round/>
                      <a:headEnd type="none" w="med" len="med"/>
                      <a:tailEnd type="none" w="med" len="med"/>
                    </a:lnR>
                    <a:lnT w="12700" cap="flat" cmpd="sng" algn="ctr">
                      <a:solidFill>
                        <a:srgbClr val="3C352A"/>
                      </a:solidFill>
                      <a:prstDash val="solid"/>
                      <a:round/>
                      <a:headEnd type="none" w="med" len="med"/>
                      <a:tailEnd type="none" w="med" len="med"/>
                    </a:lnT>
                    <a:lnB w="12700" cap="flat" cmpd="sng" algn="ctr">
                      <a:solidFill>
                        <a:srgbClr val="3C352A"/>
                      </a:solidFill>
                      <a:prstDash val="solid"/>
                      <a:round/>
                      <a:headEnd type="none" w="med" len="med"/>
                      <a:tailEnd type="none" w="med" len="med"/>
                    </a:lnB>
                    <a:solidFill>
                      <a:srgbClr val="1B1712"/>
                    </a:solidFill>
                  </a:tcPr>
                </a:tc>
                <a:tc>
                  <a:txBody>
                    <a:bodyPr/>
                    <a:lstStyle/>
                    <a:p>
                      <a:pPr algn="l" indent="0" marL="0">
                        <a:buNone/>
                      </a:pPr>
                      <a:r>
                        <a:rPr lang="en-US" sz="1250" dirty="0">
                          <a:solidFill>
                            <a:srgbClr val="ECE7DD"/>
                          </a:solidFill>
                          <a:latin typeface="Calibri" pitchFamily="34" charset="0"/>
                          <a:ea typeface="Calibri" pitchFamily="34" charset="-122"/>
                          <a:cs typeface="Calibri" pitchFamily="34" charset="-120"/>
                        </a:rPr>
                        <a:t>Cuir / gant renforcé</a:t>
                      </a:r>
                      <a:endParaRPr lang="en-US" sz="1250" dirty="0">
                        <a:latin typeface="Calibri" charset="0"/>
                        <a:ea typeface="Calibri" charset="0"/>
                        <a:cs typeface="Calibri" charset="0"/>
                      </a:endParaRPr>
                    </a:p>
                  </a:txBody>
                  <a:tcPr marL="76200" marR="76200" marT="38100" marB="38100" anchor="ctr">
                    <a:lnL w="12700" cap="flat" cmpd="sng" algn="ctr">
                      <a:solidFill>
                        <a:srgbClr val="3C352A"/>
                      </a:solidFill>
                      <a:prstDash val="solid"/>
                      <a:round/>
                      <a:headEnd type="none" w="med" len="med"/>
                      <a:tailEnd type="none" w="med" len="med"/>
                    </a:lnL>
                    <a:lnR w="12700" cap="flat" cmpd="sng" algn="ctr">
                      <a:solidFill>
                        <a:srgbClr val="3C352A"/>
                      </a:solidFill>
                      <a:prstDash val="solid"/>
                      <a:round/>
                      <a:headEnd type="none" w="med" len="med"/>
                      <a:tailEnd type="none" w="med" len="med"/>
                    </a:lnR>
                    <a:lnT w="12700" cap="flat" cmpd="sng" algn="ctr">
                      <a:solidFill>
                        <a:srgbClr val="3C352A"/>
                      </a:solidFill>
                      <a:prstDash val="solid"/>
                      <a:round/>
                      <a:headEnd type="none" w="med" len="med"/>
                      <a:tailEnd type="none" w="med" len="med"/>
                    </a:lnT>
                    <a:lnB w="12700" cap="flat" cmpd="sng" algn="ctr">
                      <a:solidFill>
                        <a:srgbClr val="3C352A"/>
                      </a:solidFill>
                      <a:prstDash val="solid"/>
                      <a:round/>
                      <a:headEnd type="none" w="med" len="med"/>
                      <a:tailEnd type="none" w="med" len="med"/>
                    </a:lnB>
                    <a:solidFill>
                      <a:srgbClr val="1B1712"/>
                    </a:solidFill>
                  </a:tcPr>
                </a:tc>
                <a:tc>
                  <a:txBody>
                    <a:bodyPr/>
                    <a:lstStyle/>
                    <a:p>
                      <a:pPr algn="l" indent="0" marL="0">
                        <a:buNone/>
                      </a:pPr>
                      <a:r>
                        <a:rPr lang="en-US" sz="1250" dirty="0">
                          <a:solidFill>
                            <a:srgbClr val="F2A93C"/>
                          </a:solidFill>
                          <a:latin typeface="Calibri" pitchFamily="34" charset="0"/>
                          <a:ea typeface="Calibri" pitchFamily="34" charset="-122"/>
                          <a:cs typeface="Calibri" pitchFamily="34" charset="-120"/>
                        </a:rPr>
                        <a:t>EN 388 (abrasion)</a:t>
                      </a:r>
                      <a:endParaRPr lang="en-US" sz="1250" dirty="0">
                        <a:latin typeface="Calibri" charset="0"/>
                        <a:ea typeface="Calibri" charset="0"/>
                        <a:cs typeface="Calibri" charset="0"/>
                      </a:endParaRPr>
                    </a:p>
                  </a:txBody>
                  <a:tcPr marL="76200" marR="76200" marT="38100" marB="38100" anchor="ctr">
                    <a:lnL w="12700" cap="flat" cmpd="sng" algn="ctr">
                      <a:solidFill>
                        <a:srgbClr val="3C352A"/>
                      </a:solidFill>
                      <a:prstDash val="solid"/>
                      <a:round/>
                      <a:headEnd type="none" w="med" len="med"/>
                      <a:tailEnd type="none" w="med" len="med"/>
                    </a:lnL>
                    <a:lnR w="12700" cap="flat" cmpd="sng" algn="ctr">
                      <a:solidFill>
                        <a:srgbClr val="3C352A"/>
                      </a:solidFill>
                      <a:prstDash val="solid"/>
                      <a:round/>
                      <a:headEnd type="none" w="med" len="med"/>
                      <a:tailEnd type="none" w="med" len="med"/>
                    </a:lnR>
                    <a:lnT w="12700" cap="flat" cmpd="sng" algn="ctr">
                      <a:solidFill>
                        <a:srgbClr val="3C352A"/>
                      </a:solidFill>
                      <a:prstDash val="solid"/>
                      <a:round/>
                      <a:headEnd type="none" w="med" len="med"/>
                      <a:tailEnd type="none" w="med" len="med"/>
                    </a:lnT>
                    <a:lnB w="12700" cap="flat" cmpd="sng" algn="ctr">
                      <a:solidFill>
                        <a:srgbClr val="3C352A"/>
                      </a:solidFill>
                      <a:prstDash val="solid"/>
                      <a:round/>
                      <a:headEnd type="none" w="med" len="med"/>
                      <a:tailEnd type="none" w="med" len="med"/>
                    </a:lnB>
                    <a:solidFill>
                      <a:srgbClr val="1B1712"/>
                    </a:solidFill>
                  </a:tcPr>
                </a:tc>
              </a:tr>
              <a:tr h="566928">
                <a:tc>
                  <a:txBody>
                    <a:bodyPr/>
                    <a:lstStyle/>
                    <a:p>
                      <a:pPr algn="l" indent="0" marL="0">
                        <a:buNone/>
                      </a:pPr>
                      <a:r>
                        <a:rPr lang="en-US" sz="1250" dirty="0">
                          <a:solidFill>
                            <a:srgbClr val="ECE7DD"/>
                          </a:solidFill>
                          <a:latin typeface="Calibri" pitchFamily="34" charset="0"/>
                          <a:ea typeface="Calibri" pitchFamily="34" charset="-122"/>
                          <a:cs typeface="Calibri" pitchFamily="34" charset="-120"/>
                        </a:rPr>
                        <a:t>Huiles, hydrocarbures, produits chimiques</a:t>
                      </a:r>
                      <a:endParaRPr lang="en-US" sz="1250" dirty="0">
                        <a:latin typeface="Calibri" charset="0"/>
                        <a:ea typeface="Calibri" charset="0"/>
                        <a:cs typeface="Calibri" charset="0"/>
                      </a:endParaRPr>
                    </a:p>
                  </a:txBody>
                  <a:tcPr marL="76200" marR="76200" marT="38100" marB="38100" anchor="ctr">
                    <a:lnL w="12700" cap="flat" cmpd="sng" algn="ctr">
                      <a:solidFill>
                        <a:srgbClr val="3C352A"/>
                      </a:solidFill>
                      <a:prstDash val="solid"/>
                      <a:round/>
                      <a:headEnd type="none" w="med" len="med"/>
                      <a:tailEnd type="none" w="med" len="med"/>
                    </a:lnL>
                    <a:lnR w="12700" cap="flat" cmpd="sng" algn="ctr">
                      <a:solidFill>
                        <a:srgbClr val="3C352A"/>
                      </a:solidFill>
                      <a:prstDash val="solid"/>
                      <a:round/>
                      <a:headEnd type="none" w="med" len="med"/>
                      <a:tailEnd type="none" w="med" len="med"/>
                    </a:lnR>
                    <a:lnT w="12700" cap="flat" cmpd="sng" algn="ctr">
                      <a:solidFill>
                        <a:srgbClr val="3C352A"/>
                      </a:solidFill>
                      <a:prstDash val="solid"/>
                      <a:round/>
                      <a:headEnd type="none" w="med" len="med"/>
                      <a:tailEnd type="none" w="med" len="med"/>
                    </a:lnT>
                    <a:lnB w="12700" cap="flat" cmpd="sng" algn="ctr">
                      <a:solidFill>
                        <a:srgbClr val="3C352A"/>
                      </a:solidFill>
                      <a:prstDash val="solid"/>
                      <a:round/>
                      <a:headEnd type="none" w="med" len="med"/>
                      <a:tailEnd type="none" w="med" len="med"/>
                    </a:lnB>
                    <a:solidFill>
                      <a:srgbClr val="231E17"/>
                    </a:solidFill>
                  </a:tcPr>
                </a:tc>
                <a:tc>
                  <a:txBody>
                    <a:bodyPr/>
                    <a:lstStyle/>
                    <a:p>
                      <a:pPr algn="l" indent="0" marL="0">
                        <a:buNone/>
                      </a:pPr>
                      <a:r>
                        <a:rPr lang="en-US" sz="1250" dirty="0">
                          <a:solidFill>
                            <a:srgbClr val="ECE7DD"/>
                          </a:solidFill>
                          <a:latin typeface="Calibri" pitchFamily="34" charset="0"/>
                          <a:ea typeface="Calibri" pitchFamily="34" charset="-122"/>
                          <a:cs typeface="Calibri" pitchFamily="34" charset="-120"/>
                        </a:rPr>
                        <a:t>Nitrile / néoprène étanche</a:t>
                      </a:r>
                      <a:endParaRPr lang="en-US" sz="1250" dirty="0">
                        <a:latin typeface="Calibri" charset="0"/>
                        <a:ea typeface="Calibri" charset="0"/>
                        <a:cs typeface="Calibri" charset="0"/>
                      </a:endParaRPr>
                    </a:p>
                  </a:txBody>
                  <a:tcPr marL="76200" marR="76200" marT="38100" marB="38100" anchor="ctr">
                    <a:lnL w="12700" cap="flat" cmpd="sng" algn="ctr">
                      <a:solidFill>
                        <a:srgbClr val="3C352A"/>
                      </a:solidFill>
                      <a:prstDash val="solid"/>
                      <a:round/>
                      <a:headEnd type="none" w="med" len="med"/>
                      <a:tailEnd type="none" w="med" len="med"/>
                    </a:lnL>
                    <a:lnR w="12700" cap="flat" cmpd="sng" algn="ctr">
                      <a:solidFill>
                        <a:srgbClr val="3C352A"/>
                      </a:solidFill>
                      <a:prstDash val="solid"/>
                      <a:round/>
                      <a:headEnd type="none" w="med" len="med"/>
                      <a:tailEnd type="none" w="med" len="med"/>
                    </a:lnR>
                    <a:lnT w="12700" cap="flat" cmpd="sng" algn="ctr">
                      <a:solidFill>
                        <a:srgbClr val="3C352A"/>
                      </a:solidFill>
                      <a:prstDash val="solid"/>
                      <a:round/>
                      <a:headEnd type="none" w="med" len="med"/>
                      <a:tailEnd type="none" w="med" len="med"/>
                    </a:lnT>
                    <a:lnB w="12700" cap="flat" cmpd="sng" algn="ctr">
                      <a:solidFill>
                        <a:srgbClr val="3C352A"/>
                      </a:solidFill>
                      <a:prstDash val="solid"/>
                      <a:round/>
                      <a:headEnd type="none" w="med" len="med"/>
                      <a:tailEnd type="none" w="med" len="med"/>
                    </a:lnB>
                    <a:solidFill>
                      <a:srgbClr val="231E17"/>
                    </a:solidFill>
                  </a:tcPr>
                </a:tc>
                <a:tc>
                  <a:txBody>
                    <a:bodyPr/>
                    <a:lstStyle/>
                    <a:p>
                      <a:pPr algn="l" indent="0" marL="0">
                        <a:buNone/>
                      </a:pPr>
                      <a:r>
                        <a:rPr lang="en-US" sz="1250" dirty="0">
                          <a:solidFill>
                            <a:srgbClr val="F2A93C"/>
                          </a:solidFill>
                          <a:latin typeface="Calibri" pitchFamily="34" charset="0"/>
                          <a:ea typeface="Calibri" pitchFamily="34" charset="-122"/>
                          <a:cs typeface="Calibri" pitchFamily="34" charset="-120"/>
                        </a:rPr>
                        <a:t>EN 374</a:t>
                      </a:r>
                      <a:endParaRPr lang="en-US" sz="1250" dirty="0">
                        <a:latin typeface="Calibri" charset="0"/>
                        <a:ea typeface="Calibri" charset="0"/>
                        <a:cs typeface="Calibri" charset="0"/>
                      </a:endParaRPr>
                    </a:p>
                  </a:txBody>
                  <a:tcPr marL="76200" marR="76200" marT="38100" marB="38100" anchor="ctr">
                    <a:lnL w="12700" cap="flat" cmpd="sng" algn="ctr">
                      <a:solidFill>
                        <a:srgbClr val="3C352A"/>
                      </a:solidFill>
                      <a:prstDash val="solid"/>
                      <a:round/>
                      <a:headEnd type="none" w="med" len="med"/>
                      <a:tailEnd type="none" w="med" len="med"/>
                    </a:lnL>
                    <a:lnR w="12700" cap="flat" cmpd="sng" algn="ctr">
                      <a:solidFill>
                        <a:srgbClr val="3C352A"/>
                      </a:solidFill>
                      <a:prstDash val="solid"/>
                      <a:round/>
                      <a:headEnd type="none" w="med" len="med"/>
                      <a:tailEnd type="none" w="med" len="med"/>
                    </a:lnR>
                    <a:lnT w="12700" cap="flat" cmpd="sng" algn="ctr">
                      <a:solidFill>
                        <a:srgbClr val="3C352A"/>
                      </a:solidFill>
                      <a:prstDash val="solid"/>
                      <a:round/>
                      <a:headEnd type="none" w="med" len="med"/>
                      <a:tailEnd type="none" w="med" len="med"/>
                    </a:lnT>
                    <a:lnB w="12700" cap="flat" cmpd="sng" algn="ctr">
                      <a:solidFill>
                        <a:srgbClr val="3C352A"/>
                      </a:solidFill>
                      <a:prstDash val="solid"/>
                      <a:round/>
                      <a:headEnd type="none" w="med" len="med"/>
                      <a:tailEnd type="none" w="med" len="med"/>
                    </a:lnB>
                    <a:solidFill>
                      <a:srgbClr val="231E17"/>
                    </a:solidFill>
                  </a:tcPr>
                </a:tc>
              </a:tr>
              <a:tr h="566928">
                <a:tc>
                  <a:txBody>
                    <a:bodyPr/>
                    <a:lstStyle/>
                    <a:p>
                      <a:pPr algn="l" indent="0" marL="0">
                        <a:buNone/>
                      </a:pPr>
                      <a:r>
                        <a:rPr lang="en-US" sz="1250" dirty="0">
                          <a:solidFill>
                            <a:srgbClr val="ECE7DD"/>
                          </a:solidFill>
                          <a:latin typeface="Calibri" pitchFamily="34" charset="0"/>
                          <a:ea typeface="Calibri" pitchFamily="34" charset="-122"/>
                          <a:cs typeface="Calibri" pitchFamily="34" charset="-120"/>
                        </a:rPr>
                        <a:t>Outils vibrants (foreuse, marteau)</a:t>
                      </a:r>
                      <a:endParaRPr lang="en-US" sz="1250" dirty="0">
                        <a:latin typeface="Calibri" charset="0"/>
                        <a:ea typeface="Calibri" charset="0"/>
                        <a:cs typeface="Calibri" charset="0"/>
                      </a:endParaRPr>
                    </a:p>
                  </a:txBody>
                  <a:tcPr marL="76200" marR="76200" marT="38100" marB="38100" anchor="ctr">
                    <a:lnL w="12700" cap="flat" cmpd="sng" algn="ctr">
                      <a:solidFill>
                        <a:srgbClr val="3C352A"/>
                      </a:solidFill>
                      <a:prstDash val="solid"/>
                      <a:round/>
                      <a:headEnd type="none" w="med" len="med"/>
                      <a:tailEnd type="none" w="med" len="med"/>
                    </a:lnL>
                    <a:lnR w="12700" cap="flat" cmpd="sng" algn="ctr">
                      <a:solidFill>
                        <a:srgbClr val="3C352A"/>
                      </a:solidFill>
                      <a:prstDash val="solid"/>
                      <a:round/>
                      <a:headEnd type="none" w="med" len="med"/>
                      <a:tailEnd type="none" w="med" len="med"/>
                    </a:lnR>
                    <a:lnT w="12700" cap="flat" cmpd="sng" algn="ctr">
                      <a:solidFill>
                        <a:srgbClr val="3C352A"/>
                      </a:solidFill>
                      <a:prstDash val="solid"/>
                      <a:round/>
                      <a:headEnd type="none" w="med" len="med"/>
                      <a:tailEnd type="none" w="med" len="med"/>
                    </a:lnT>
                    <a:lnB w="12700" cap="flat" cmpd="sng" algn="ctr">
                      <a:solidFill>
                        <a:srgbClr val="3C352A"/>
                      </a:solidFill>
                      <a:prstDash val="solid"/>
                      <a:round/>
                      <a:headEnd type="none" w="med" len="med"/>
                      <a:tailEnd type="none" w="med" len="med"/>
                    </a:lnB>
                    <a:solidFill>
                      <a:srgbClr val="1B1712"/>
                    </a:solidFill>
                  </a:tcPr>
                </a:tc>
                <a:tc>
                  <a:txBody>
                    <a:bodyPr/>
                    <a:lstStyle/>
                    <a:p>
                      <a:pPr algn="l" indent="0" marL="0">
                        <a:buNone/>
                      </a:pPr>
                      <a:r>
                        <a:rPr lang="en-US" sz="1250" dirty="0">
                          <a:solidFill>
                            <a:srgbClr val="ECE7DD"/>
                          </a:solidFill>
                          <a:latin typeface="Calibri" pitchFamily="34" charset="0"/>
                          <a:ea typeface="Calibri" pitchFamily="34" charset="-122"/>
                          <a:cs typeface="Calibri" pitchFamily="34" charset="-120"/>
                        </a:rPr>
                        <a:t>Anti-vibration</a:t>
                      </a:r>
                      <a:endParaRPr lang="en-US" sz="1250" dirty="0">
                        <a:latin typeface="Calibri" charset="0"/>
                        <a:ea typeface="Calibri" charset="0"/>
                        <a:cs typeface="Calibri" charset="0"/>
                      </a:endParaRPr>
                    </a:p>
                  </a:txBody>
                  <a:tcPr marL="76200" marR="76200" marT="38100" marB="38100" anchor="ctr">
                    <a:lnL w="12700" cap="flat" cmpd="sng" algn="ctr">
                      <a:solidFill>
                        <a:srgbClr val="3C352A"/>
                      </a:solidFill>
                      <a:prstDash val="solid"/>
                      <a:round/>
                      <a:headEnd type="none" w="med" len="med"/>
                      <a:tailEnd type="none" w="med" len="med"/>
                    </a:lnL>
                    <a:lnR w="12700" cap="flat" cmpd="sng" algn="ctr">
                      <a:solidFill>
                        <a:srgbClr val="3C352A"/>
                      </a:solidFill>
                      <a:prstDash val="solid"/>
                      <a:round/>
                      <a:headEnd type="none" w="med" len="med"/>
                      <a:tailEnd type="none" w="med" len="med"/>
                    </a:lnR>
                    <a:lnT w="12700" cap="flat" cmpd="sng" algn="ctr">
                      <a:solidFill>
                        <a:srgbClr val="3C352A"/>
                      </a:solidFill>
                      <a:prstDash val="solid"/>
                      <a:round/>
                      <a:headEnd type="none" w="med" len="med"/>
                      <a:tailEnd type="none" w="med" len="med"/>
                    </a:lnT>
                    <a:lnB w="12700" cap="flat" cmpd="sng" algn="ctr">
                      <a:solidFill>
                        <a:srgbClr val="3C352A"/>
                      </a:solidFill>
                      <a:prstDash val="solid"/>
                      <a:round/>
                      <a:headEnd type="none" w="med" len="med"/>
                      <a:tailEnd type="none" w="med" len="med"/>
                    </a:lnB>
                    <a:solidFill>
                      <a:srgbClr val="1B1712"/>
                    </a:solidFill>
                  </a:tcPr>
                </a:tc>
                <a:tc>
                  <a:txBody>
                    <a:bodyPr/>
                    <a:lstStyle/>
                    <a:p>
                      <a:pPr algn="l" indent="0" marL="0">
                        <a:buNone/>
                      </a:pPr>
                      <a:r>
                        <a:rPr lang="en-US" sz="1250" dirty="0">
                          <a:solidFill>
                            <a:srgbClr val="F2A93C"/>
                          </a:solidFill>
                          <a:latin typeface="Calibri" pitchFamily="34" charset="0"/>
                          <a:ea typeface="Calibri" pitchFamily="34" charset="-122"/>
                          <a:cs typeface="Calibri" pitchFamily="34" charset="-120"/>
                        </a:rPr>
                        <a:t>EN ISO 10819</a:t>
                      </a:r>
                      <a:endParaRPr lang="en-US" sz="1250" dirty="0">
                        <a:latin typeface="Calibri" charset="0"/>
                        <a:ea typeface="Calibri" charset="0"/>
                        <a:cs typeface="Calibri" charset="0"/>
                      </a:endParaRPr>
                    </a:p>
                  </a:txBody>
                  <a:tcPr marL="76200" marR="76200" marT="38100" marB="38100" anchor="ctr">
                    <a:lnL w="12700" cap="flat" cmpd="sng" algn="ctr">
                      <a:solidFill>
                        <a:srgbClr val="3C352A"/>
                      </a:solidFill>
                      <a:prstDash val="solid"/>
                      <a:round/>
                      <a:headEnd type="none" w="med" len="med"/>
                      <a:tailEnd type="none" w="med" len="med"/>
                    </a:lnL>
                    <a:lnR w="12700" cap="flat" cmpd="sng" algn="ctr">
                      <a:solidFill>
                        <a:srgbClr val="3C352A"/>
                      </a:solidFill>
                      <a:prstDash val="solid"/>
                      <a:round/>
                      <a:headEnd type="none" w="med" len="med"/>
                      <a:tailEnd type="none" w="med" len="med"/>
                    </a:lnR>
                    <a:lnT w="12700" cap="flat" cmpd="sng" algn="ctr">
                      <a:solidFill>
                        <a:srgbClr val="3C352A"/>
                      </a:solidFill>
                      <a:prstDash val="solid"/>
                      <a:round/>
                      <a:headEnd type="none" w="med" len="med"/>
                      <a:tailEnd type="none" w="med" len="med"/>
                    </a:lnT>
                    <a:lnB w="12700" cap="flat" cmpd="sng" algn="ctr">
                      <a:solidFill>
                        <a:srgbClr val="3C352A"/>
                      </a:solidFill>
                      <a:prstDash val="solid"/>
                      <a:round/>
                      <a:headEnd type="none" w="med" len="med"/>
                      <a:tailEnd type="none" w="med" len="med"/>
                    </a:lnB>
                    <a:solidFill>
                      <a:srgbClr val="1B1712"/>
                    </a:solidFill>
                  </a:tcPr>
                </a:tc>
              </a:tr>
              <a:tr h="566928">
                <a:tc>
                  <a:txBody>
                    <a:bodyPr/>
                    <a:lstStyle/>
                    <a:p>
                      <a:pPr algn="l" indent="0" marL="0">
                        <a:buNone/>
                      </a:pPr>
                      <a:r>
                        <a:rPr lang="en-US" sz="1250" dirty="0">
                          <a:solidFill>
                            <a:srgbClr val="ECE7DD"/>
                          </a:solidFill>
                          <a:latin typeface="Calibri" pitchFamily="34" charset="0"/>
                          <a:ea typeface="Calibri" pitchFamily="34" charset="-122"/>
                          <a:cs typeface="Calibri" pitchFamily="34" charset="-120"/>
                        </a:rPr>
                        <a:t>Froid, travail extérieur hivernal</a:t>
                      </a:r>
                      <a:endParaRPr lang="en-US" sz="1250" dirty="0">
                        <a:latin typeface="Calibri" charset="0"/>
                        <a:ea typeface="Calibri" charset="0"/>
                        <a:cs typeface="Calibri" charset="0"/>
                      </a:endParaRPr>
                    </a:p>
                  </a:txBody>
                  <a:tcPr marL="76200" marR="76200" marT="38100" marB="38100" anchor="ctr">
                    <a:lnL w="12700" cap="flat" cmpd="sng" algn="ctr">
                      <a:solidFill>
                        <a:srgbClr val="3C352A"/>
                      </a:solidFill>
                      <a:prstDash val="solid"/>
                      <a:round/>
                      <a:headEnd type="none" w="med" len="med"/>
                      <a:tailEnd type="none" w="med" len="med"/>
                    </a:lnL>
                    <a:lnR w="12700" cap="flat" cmpd="sng" algn="ctr">
                      <a:solidFill>
                        <a:srgbClr val="3C352A"/>
                      </a:solidFill>
                      <a:prstDash val="solid"/>
                      <a:round/>
                      <a:headEnd type="none" w="med" len="med"/>
                      <a:tailEnd type="none" w="med" len="med"/>
                    </a:lnR>
                    <a:lnT w="12700" cap="flat" cmpd="sng" algn="ctr">
                      <a:solidFill>
                        <a:srgbClr val="3C352A"/>
                      </a:solidFill>
                      <a:prstDash val="solid"/>
                      <a:round/>
                      <a:headEnd type="none" w="med" len="med"/>
                      <a:tailEnd type="none" w="med" len="med"/>
                    </a:lnT>
                    <a:lnB w="12700" cap="flat" cmpd="sng" algn="ctr">
                      <a:solidFill>
                        <a:srgbClr val="3C352A"/>
                      </a:solidFill>
                      <a:prstDash val="solid"/>
                      <a:round/>
                      <a:headEnd type="none" w="med" len="med"/>
                      <a:tailEnd type="none" w="med" len="med"/>
                    </a:lnB>
                    <a:solidFill>
                      <a:srgbClr val="231E17"/>
                    </a:solidFill>
                  </a:tcPr>
                </a:tc>
                <a:tc>
                  <a:txBody>
                    <a:bodyPr/>
                    <a:lstStyle/>
                    <a:p>
                      <a:pPr algn="l" indent="0" marL="0">
                        <a:buNone/>
                      </a:pPr>
                      <a:r>
                        <a:rPr lang="en-US" sz="1250" dirty="0">
                          <a:solidFill>
                            <a:srgbClr val="ECE7DD"/>
                          </a:solidFill>
                          <a:latin typeface="Calibri" pitchFamily="34" charset="0"/>
                          <a:ea typeface="Calibri" pitchFamily="34" charset="-122"/>
                          <a:cs typeface="Calibri" pitchFamily="34" charset="-120"/>
                        </a:rPr>
                        <a:t>Isolé / doublé</a:t>
                      </a:r>
                      <a:endParaRPr lang="en-US" sz="1250" dirty="0">
                        <a:latin typeface="Calibri" charset="0"/>
                        <a:ea typeface="Calibri" charset="0"/>
                        <a:cs typeface="Calibri" charset="0"/>
                      </a:endParaRPr>
                    </a:p>
                  </a:txBody>
                  <a:tcPr marL="76200" marR="76200" marT="38100" marB="38100" anchor="ctr">
                    <a:lnL w="12700" cap="flat" cmpd="sng" algn="ctr">
                      <a:solidFill>
                        <a:srgbClr val="3C352A"/>
                      </a:solidFill>
                      <a:prstDash val="solid"/>
                      <a:round/>
                      <a:headEnd type="none" w="med" len="med"/>
                      <a:tailEnd type="none" w="med" len="med"/>
                    </a:lnL>
                    <a:lnR w="12700" cap="flat" cmpd="sng" algn="ctr">
                      <a:solidFill>
                        <a:srgbClr val="3C352A"/>
                      </a:solidFill>
                      <a:prstDash val="solid"/>
                      <a:round/>
                      <a:headEnd type="none" w="med" len="med"/>
                      <a:tailEnd type="none" w="med" len="med"/>
                    </a:lnR>
                    <a:lnT w="12700" cap="flat" cmpd="sng" algn="ctr">
                      <a:solidFill>
                        <a:srgbClr val="3C352A"/>
                      </a:solidFill>
                      <a:prstDash val="solid"/>
                      <a:round/>
                      <a:headEnd type="none" w="med" len="med"/>
                      <a:tailEnd type="none" w="med" len="med"/>
                    </a:lnT>
                    <a:lnB w="12700" cap="flat" cmpd="sng" algn="ctr">
                      <a:solidFill>
                        <a:srgbClr val="3C352A"/>
                      </a:solidFill>
                      <a:prstDash val="solid"/>
                      <a:round/>
                      <a:headEnd type="none" w="med" len="med"/>
                      <a:tailEnd type="none" w="med" len="med"/>
                    </a:lnB>
                    <a:solidFill>
                      <a:srgbClr val="231E17"/>
                    </a:solidFill>
                  </a:tcPr>
                </a:tc>
                <a:tc>
                  <a:txBody>
                    <a:bodyPr/>
                    <a:lstStyle/>
                    <a:p>
                      <a:pPr algn="l" indent="0" marL="0">
                        <a:buNone/>
                      </a:pPr>
                      <a:r>
                        <a:rPr lang="en-US" sz="1250" dirty="0">
                          <a:solidFill>
                            <a:srgbClr val="F2A93C"/>
                          </a:solidFill>
                          <a:latin typeface="Calibri" pitchFamily="34" charset="0"/>
                          <a:ea typeface="Calibri" pitchFamily="34" charset="-122"/>
                          <a:cs typeface="Calibri" pitchFamily="34" charset="-120"/>
                        </a:rPr>
                        <a:t>EN 511</a:t>
                      </a:r>
                      <a:endParaRPr lang="en-US" sz="1250" dirty="0">
                        <a:latin typeface="Calibri" charset="0"/>
                        <a:ea typeface="Calibri" charset="0"/>
                        <a:cs typeface="Calibri" charset="0"/>
                      </a:endParaRPr>
                    </a:p>
                  </a:txBody>
                  <a:tcPr marL="76200" marR="76200" marT="38100" marB="38100" anchor="ctr">
                    <a:lnL w="12700" cap="flat" cmpd="sng" algn="ctr">
                      <a:solidFill>
                        <a:srgbClr val="3C352A"/>
                      </a:solidFill>
                      <a:prstDash val="solid"/>
                      <a:round/>
                      <a:headEnd type="none" w="med" len="med"/>
                      <a:tailEnd type="none" w="med" len="med"/>
                    </a:lnL>
                    <a:lnR w="12700" cap="flat" cmpd="sng" algn="ctr">
                      <a:solidFill>
                        <a:srgbClr val="3C352A"/>
                      </a:solidFill>
                      <a:prstDash val="solid"/>
                      <a:round/>
                      <a:headEnd type="none" w="med" len="med"/>
                      <a:tailEnd type="none" w="med" len="med"/>
                    </a:lnR>
                    <a:lnT w="12700" cap="flat" cmpd="sng" algn="ctr">
                      <a:solidFill>
                        <a:srgbClr val="3C352A"/>
                      </a:solidFill>
                      <a:prstDash val="solid"/>
                      <a:round/>
                      <a:headEnd type="none" w="med" len="med"/>
                      <a:tailEnd type="none" w="med" len="med"/>
                    </a:lnT>
                    <a:lnB w="12700" cap="flat" cmpd="sng" algn="ctr">
                      <a:solidFill>
                        <a:srgbClr val="3C352A"/>
                      </a:solidFill>
                      <a:prstDash val="solid"/>
                      <a:round/>
                      <a:headEnd type="none" w="med" len="med"/>
                      <a:tailEnd type="none" w="med" len="med"/>
                    </a:lnB>
                    <a:solidFill>
                      <a:srgbClr val="231E17"/>
                    </a:solidFill>
                  </a:tcPr>
                </a:tc>
              </a:tr>
              <a:tr h="566928">
                <a:tc>
                  <a:txBody>
                    <a:bodyPr/>
                    <a:lstStyle/>
                    <a:p>
                      <a:pPr algn="l" indent="0" marL="0">
                        <a:buNone/>
                      </a:pPr>
                      <a:r>
                        <a:rPr lang="en-US" sz="1250" dirty="0">
                          <a:solidFill>
                            <a:srgbClr val="ECE7DD"/>
                          </a:solidFill>
                          <a:latin typeface="Calibri" pitchFamily="34" charset="0"/>
                          <a:ea typeface="Calibri" pitchFamily="34" charset="-122"/>
                          <a:cs typeface="Calibri" pitchFamily="34" charset="-120"/>
                        </a:rPr>
                        <a:t>Travaux électriques</a:t>
                      </a:r>
                      <a:endParaRPr lang="en-US" sz="1250" dirty="0">
                        <a:latin typeface="Calibri" charset="0"/>
                        <a:ea typeface="Calibri" charset="0"/>
                        <a:cs typeface="Calibri" charset="0"/>
                      </a:endParaRPr>
                    </a:p>
                  </a:txBody>
                  <a:tcPr marL="76200" marR="76200" marT="38100" marB="38100" anchor="ctr">
                    <a:lnL w="12700" cap="flat" cmpd="sng" algn="ctr">
                      <a:solidFill>
                        <a:srgbClr val="3C352A"/>
                      </a:solidFill>
                      <a:prstDash val="solid"/>
                      <a:round/>
                      <a:headEnd type="none" w="med" len="med"/>
                      <a:tailEnd type="none" w="med" len="med"/>
                    </a:lnL>
                    <a:lnR w="12700" cap="flat" cmpd="sng" algn="ctr">
                      <a:solidFill>
                        <a:srgbClr val="3C352A"/>
                      </a:solidFill>
                      <a:prstDash val="solid"/>
                      <a:round/>
                      <a:headEnd type="none" w="med" len="med"/>
                      <a:tailEnd type="none" w="med" len="med"/>
                    </a:lnR>
                    <a:lnT w="12700" cap="flat" cmpd="sng" algn="ctr">
                      <a:solidFill>
                        <a:srgbClr val="3C352A"/>
                      </a:solidFill>
                      <a:prstDash val="solid"/>
                      <a:round/>
                      <a:headEnd type="none" w="med" len="med"/>
                      <a:tailEnd type="none" w="med" len="med"/>
                    </a:lnT>
                    <a:lnB w="12700" cap="flat" cmpd="sng" algn="ctr">
                      <a:solidFill>
                        <a:srgbClr val="3C352A"/>
                      </a:solidFill>
                      <a:prstDash val="solid"/>
                      <a:round/>
                      <a:headEnd type="none" w="med" len="med"/>
                      <a:tailEnd type="none" w="med" len="med"/>
                    </a:lnB>
                    <a:solidFill>
                      <a:srgbClr val="1B1712"/>
                    </a:solidFill>
                  </a:tcPr>
                </a:tc>
                <a:tc>
                  <a:txBody>
                    <a:bodyPr/>
                    <a:lstStyle/>
                    <a:p>
                      <a:pPr algn="l" indent="0" marL="0">
                        <a:buNone/>
                      </a:pPr>
                      <a:r>
                        <a:rPr lang="en-US" sz="1250" dirty="0">
                          <a:solidFill>
                            <a:srgbClr val="ECE7DD"/>
                          </a:solidFill>
                          <a:latin typeface="Calibri" pitchFamily="34" charset="0"/>
                          <a:ea typeface="Calibri" pitchFamily="34" charset="-122"/>
                          <a:cs typeface="Calibri" pitchFamily="34" charset="-120"/>
                        </a:rPr>
                        <a:t>Isolant diélectrique</a:t>
                      </a:r>
                      <a:endParaRPr lang="en-US" sz="1250" dirty="0">
                        <a:latin typeface="Calibri" charset="0"/>
                        <a:ea typeface="Calibri" charset="0"/>
                        <a:cs typeface="Calibri" charset="0"/>
                      </a:endParaRPr>
                    </a:p>
                  </a:txBody>
                  <a:tcPr marL="76200" marR="76200" marT="38100" marB="38100" anchor="ctr">
                    <a:lnL w="12700" cap="flat" cmpd="sng" algn="ctr">
                      <a:solidFill>
                        <a:srgbClr val="3C352A"/>
                      </a:solidFill>
                      <a:prstDash val="solid"/>
                      <a:round/>
                      <a:headEnd type="none" w="med" len="med"/>
                      <a:tailEnd type="none" w="med" len="med"/>
                    </a:lnL>
                    <a:lnR w="12700" cap="flat" cmpd="sng" algn="ctr">
                      <a:solidFill>
                        <a:srgbClr val="3C352A"/>
                      </a:solidFill>
                      <a:prstDash val="solid"/>
                      <a:round/>
                      <a:headEnd type="none" w="med" len="med"/>
                      <a:tailEnd type="none" w="med" len="med"/>
                    </a:lnR>
                    <a:lnT w="12700" cap="flat" cmpd="sng" algn="ctr">
                      <a:solidFill>
                        <a:srgbClr val="3C352A"/>
                      </a:solidFill>
                      <a:prstDash val="solid"/>
                      <a:round/>
                      <a:headEnd type="none" w="med" len="med"/>
                      <a:tailEnd type="none" w="med" len="med"/>
                    </a:lnT>
                    <a:lnB w="12700" cap="flat" cmpd="sng" algn="ctr">
                      <a:solidFill>
                        <a:srgbClr val="3C352A"/>
                      </a:solidFill>
                      <a:prstDash val="solid"/>
                      <a:round/>
                      <a:headEnd type="none" w="med" len="med"/>
                      <a:tailEnd type="none" w="med" len="med"/>
                    </a:lnB>
                    <a:solidFill>
                      <a:srgbClr val="1B1712"/>
                    </a:solidFill>
                  </a:tcPr>
                </a:tc>
                <a:tc>
                  <a:txBody>
                    <a:bodyPr/>
                    <a:lstStyle/>
                    <a:p>
                      <a:pPr algn="l" indent="0" marL="0">
                        <a:buNone/>
                      </a:pPr>
                      <a:r>
                        <a:rPr lang="en-US" sz="1250" dirty="0">
                          <a:solidFill>
                            <a:srgbClr val="F2A93C"/>
                          </a:solidFill>
                          <a:latin typeface="Calibri" pitchFamily="34" charset="0"/>
                          <a:ea typeface="Calibri" pitchFamily="34" charset="-122"/>
                          <a:cs typeface="Calibri" pitchFamily="34" charset="-120"/>
                        </a:rPr>
                        <a:t>EN 60903 / ASTM D120</a:t>
                      </a:r>
                      <a:endParaRPr lang="en-US" sz="1250" dirty="0">
                        <a:latin typeface="Calibri" charset="0"/>
                        <a:ea typeface="Calibri" charset="0"/>
                        <a:cs typeface="Calibri" charset="0"/>
                      </a:endParaRPr>
                    </a:p>
                  </a:txBody>
                  <a:tcPr marL="76200" marR="76200" marT="38100" marB="38100" anchor="ctr">
                    <a:lnL w="12700" cap="flat" cmpd="sng" algn="ctr">
                      <a:solidFill>
                        <a:srgbClr val="3C352A"/>
                      </a:solidFill>
                      <a:prstDash val="solid"/>
                      <a:round/>
                      <a:headEnd type="none" w="med" len="med"/>
                      <a:tailEnd type="none" w="med" len="med"/>
                    </a:lnL>
                    <a:lnR w="12700" cap="flat" cmpd="sng" algn="ctr">
                      <a:solidFill>
                        <a:srgbClr val="3C352A"/>
                      </a:solidFill>
                      <a:prstDash val="solid"/>
                      <a:round/>
                      <a:headEnd type="none" w="med" len="med"/>
                      <a:tailEnd type="none" w="med" len="med"/>
                    </a:lnR>
                    <a:lnT w="12700" cap="flat" cmpd="sng" algn="ctr">
                      <a:solidFill>
                        <a:srgbClr val="3C352A"/>
                      </a:solidFill>
                      <a:prstDash val="solid"/>
                      <a:round/>
                      <a:headEnd type="none" w="med" len="med"/>
                      <a:tailEnd type="none" w="med" len="med"/>
                    </a:lnT>
                    <a:lnB w="12700" cap="flat" cmpd="sng" algn="ctr">
                      <a:solidFill>
                        <a:srgbClr val="3C352A"/>
                      </a:solidFill>
                      <a:prstDash val="solid"/>
                      <a:round/>
                      <a:headEnd type="none" w="med" len="med"/>
                      <a:tailEnd type="none" w="med" len="med"/>
                    </a:lnB>
                    <a:solidFill>
                      <a:srgbClr val="1B1712"/>
                    </a:solidFill>
                  </a:tcPr>
                </a:tc>
              </a:tr>
            </a:tbl>
          </a:graphicData>
        </a:graphic>
      </p:graphicFrame>
      <p:sp>
        <p:nvSpPr>
          <p:cNvPr id="9" name="Shape 6"/>
          <p:cNvSpPr/>
          <p:nvPr/>
        </p:nvSpPr>
        <p:spPr>
          <a:xfrm>
            <a:off x="9189720" y="1828800"/>
            <a:ext cx="2468880" cy="3977640"/>
          </a:xfrm>
          <a:prstGeom prst="roundRect">
            <a:avLst>
              <a:gd name="adj" fmla="val 4444"/>
            </a:avLst>
          </a:prstGeom>
          <a:solidFill>
            <a:srgbClr val="2C261D"/>
          </a:solidFill>
          <a:ln w="12700">
            <a:solidFill>
              <a:srgbClr val="C9852A"/>
            </a:solidFill>
            <a:prstDash val="solid"/>
          </a:ln>
        </p:spPr>
      </p:sp>
      <p:sp>
        <p:nvSpPr>
          <p:cNvPr id="10" name="Shape 7"/>
          <p:cNvSpPr/>
          <p:nvPr/>
        </p:nvSpPr>
        <p:spPr>
          <a:xfrm>
            <a:off x="10040112" y="2148840"/>
            <a:ext cx="768096" cy="768096"/>
          </a:xfrm>
          <a:prstGeom prst="oval">
            <a:avLst/>
          </a:prstGeom>
          <a:solidFill>
            <a:srgbClr val="141210"/>
          </a:solidFill>
          <a:ln w="19050">
            <a:solidFill>
              <a:srgbClr val="F2A93C"/>
            </a:solidFill>
            <a:prstDash val="solid"/>
          </a:ln>
        </p:spPr>
      </p:sp>
      <p:pic>
        <p:nvPicPr>
          <p:cNvPr id="11" name="Image 0" descr="preencoded.png">    </p:cNvPr>
          <p:cNvPicPr>
            <a:picLocks noChangeAspect="1"/>
          </p:cNvPicPr>
          <p:nvPr/>
        </p:nvPicPr>
        <p:blipFill>
          <a:blip r:embed="rId1"/>
          <a:stretch>
            <a:fillRect/>
          </a:stretch>
        </p:blipFill>
        <p:spPr>
          <a:xfrm>
            <a:off x="10212934" y="2321662"/>
            <a:ext cx="422453" cy="422453"/>
          </a:xfrm>
          <a:prstGeom prst="rect">
            <a:avLst/>
          </a:prstGeom>
        </p:spPr>
      </p:pic>
      <p:sp>
        <p:nvSpPr>
          <p:cNvPr id="12" name="Text 8"/>
          <p:cNvSpPr/>
          <p:nvPr/>
        </p:nvSpPr>
        <p:spPr>
          <a:xfrm>
            <a:off x="9372600" y="3063240"/>
            <a:ext cx="2103120" cy="36576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Le bon gant</a:t>
            </a:r>
            <a:endParaRPr lang="en-US" sz="1700" dirty="0"/>
          </a:p>
        </p:txBody>
      </p:sp>
      <p:sp>
        <p:nvSpPr>
          <p:cNvPr id="13" name="Text 9"/>
          <p:cNvSpPr/>
          <p:nvPr/>
        </p:nvSpPr>
        <p:spPr>
          <a:xfrm>
            <a:off x="9418320" y="3474720"/>
            <a:ext cx="2011680" cy="822960"/>
          </a:xfrm>
          <a:prstGeom prst="rect">
            <a:avLst/>
          </a:prstGeom>
          <a:noFill/>
          <a:ln/>
        </p:spPr>
        <p:txBody>
          <a:bodyPr wrap="square" lIns="0" tIns="0" rIns="0" bIns="0" rtlCol="0" anchor="ctr"/>
          <a:lstStyle/>
          <a:p>
            <a:pPr algn="ctr" indent="0" marL="0">
              <a:lnSpc>
                <a:spcPct val="110000"/>
              </a:lnSpc>
              <a:buNone/>
            </a:pPr>
            <a:r>
              <a:rPr lang="en-US" sz="1300" dirty="0">
                <a:solidFill>
                  <a:srgbClr val="F7C775"/>
                </a:solidFill>
                <a:latin typeface="Calibri" pitchFamily="34" charset="0"/>
                <a:ea typeface="Calibri" pitchFamily="34" charset="-122"/>
                <a:cs typeface="Calibri" pitchFamily="34" charset="-120"/>
              </a:rPr>
              <a:t>= celui qui correspond au RISQUE et à la TÂCHE.</a:t>
            </a:r>
            <a:endParaRPr lang="en-US" sz="1300" dirty="0"/>
          </a:p>
        </p:txBody>
      </p:sp>
      <p:sp>
        <p:nvSpPr>
          <p:cNvPr id="14" name="Text 10"/>
          <p:cNvSpPr/>
          <p:nvPr/>
        </p:nvSpPr>
        <p:spPr>
          <a:xfrm>
            <a:off x="9418320" y="4343400"/>
            <a:ext cx="2011680" cy="1280160"/>
          </a:xfrm>
          <a:prstGeom prst="rect">
            <a:avLst/>
          </a:prstGeom>
          <a:noFill/>
          <a:ln/>
        </p:spPr>
        <p:txBody>
          <a:bodyPr wrap="square" lIns="0" tIns="0" rIns="0" bIns="0" rtlCol="0" anchor="ctr"/>
          <a:lstStyle/>
          <a:p>
            <a:pPr algn="ctr" indent="0" marL="0">
              <a:lnSpc>
                <a:spcPct val="110000"/>
              </a:lnSpc>
              <a:buNone/>
            </a:pPr>
            <a:r>
              <a:rPr lang="en-US" sz="1150" i="1" dirty="0">
                <a:solidFill>
                  <a:srgbClr val="B4AD9F"/>
                </a:solidFill>
                <a:latin typeface="Calibri" pitchFamily="34" charset="0"/>
                <a:ea typeface="Calibri" pitchFamily="34" charset="-122"/>
                <a:cs typeface="Calibri" pitchFamily="34" charset="-120"/>
              </a:rPr>
              <a:t>Un gant usé, troué ou mal ajusté ne protège plus. Inspectez-le avant chaque quart.</a:t>
            </a:r>
            <a:endParaRPr lang="en-US" sz="1150" dirty="0"/>
          </a:p>
        </p:txBody>
      </p:sp>
      <p:sp>
        <p:nvSpPr>
          <p:cNvPr id="15" name="Text 11"/>
          <p:cNvSpPr/>
          <p:nvPr/>
        </p:nvSpPr>
        <p:spPr>
          <a:xfrm>
            <a:off x="548640" y="6455664"/>
            <a:ext cx="8229600" cy="274320"/>
          </a:xfrm>
          <a:prstGeom prst="rect">
            <a:avLst/>
          </a:prstGeom>
          <a:noFill/>
          <a:ln/>
        </p:spPr>
        <p:txBody>
          <a:bodyPr wrap="square" lIns="0" tIns="0" rIns="0" bIns="0" rtlCol="0" anchor="ctr"/>
          <a:lstStyle/>
          <a:p>
            <a:pPr indent="0" marL="0">
              <a:buNone/>
            </a:pPr>
            <a:r>
              <a:rPr lang="en-US" sz="850" i="1" dirty="0">
                <a:solidFill>
                  <a:srgbClr val="857E70"/>
                </a:solidFill>
                <a:latin typeface="Calibri" pitchFamily="34" charset="0"/>
                <a:ea typeface="Calibri" pitchFamily="34" charset="-122"/>
                <a:cs typeface="Calibri" pitchFamily="34" charset="-120"/>
              </a:rPr>
              <a:t>Source : ASP Mines — aide à la sélection des gants.</a:t>
            </a:r>
            <a:endParaRPr lang="en-US" sz="850" dirty="0"/>
          </a:p>
        </p:txBody>
      </p:sp>
      <p:sp>
        <p:nvSpPr>
          <p:cNvPr id="16" name="Text 1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850" dirty="0">
                <a:solidFill>
                  <a:srgbClr val="857E70"/>
                </a:solidFill>
                <a:latin typeface="Calibri" pitchFamily="34" charset="0"/>
                <a:ea typeface="Calibri" pitchFamily="34" charset="-122"/>
                <a:cs typeface="Calibri" pitchFamily="34" charset="-120"/>
              </a:rPr>
              <a:t>Santé-Sécurité · Prévention des blessures aux mains</a:t>
            </a:r>
            <a:endParaRPr lang="en-US" sz="850" dirty="0"/>
          </a:p>
        </p:txBody>
      </p:sp>
      <p:sp>
        <p:nvSpPr>
          <p:cNvPr id="17" name="Text 13"/>
          <p:cNvSpPr/>
          <p:nvPr/>
        </p:nvSpPr>
        <p:spPr>
          <a:xfrm>
            <a:off x="11185855" y="6437376"/>
            <a:ext cx="457200" cy="274320"/>
          </a:xfrm>
          <a:prstGeom prst="rect">
            <a:avLst/>
          </a:prstGeom>
          <a:noFill/>
          <a:ln/>
        </p:spPr>
        <p:txBody>
          <a:bodyPr wrap="square" lIns="0" tIns="0" rIns="0" bIns="0" rtlCol="0" anchor="ctr"/>
          <a:lstStyle/>
          <a:p>
            <a:pPr algn="r" indent="0" marL="0">
              <a:buNone/>
            </a:pPr>
            <a:r>
              <a:rPr lang="en-US" sz="1100" dirty="0">
                <a:solidFill>
                  <a:srgbClr val="F2A93C"/>
                </a:solidFill>
                <a:latin typeface="Cambria" pitchFamily="34" charset="0"/>
                <a:ea typeface="Cambria" pitchFamily="34" charset="-122"/>
                <a:cs typeface="Cambria"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210"/>
        </a:solidFill>
      </p:bgPr>
    </p:bg>
    <p:spTree>
      <p:nvGrpSpPr>
        <p:cNvPr id="1" name=""/>
        <p:cNvGrpSpPr/>
        <p:nvPr/>
      </p:nvGrpSpPr>
      <p:grpSpPr>
        <a:xfrm>
          <a:off x="0" y="0"/>
          <a:ext cx="0" cy="0"/>
          <a:chOff x="0" y="0"/>
          <a:chExt cx="0" cy="0"/>
        </a:xfrm>
      </p:grpSpPr>
      <p:sp>
        <p:nvSpPr>
          <p:cNvPr id="2" name="Shape 0"/>
          <p:cNvSpPr/>
          <p:nvPr/>
        </p:nvSpPr>
        <p:spPr>
          <a:xfrm>
            <a:off x="548640" y="384048"/>
            <a:ext cx="310896" cy="310896"/>
          </a:xfrm>
          <a:prstGeom prst="roundRect">
            <a:avLst>
              <a:gd name="adj" fmla="val 17647"/>
            </a:avLst>
          </a:prstGeom>
          <a:solidFill>
            <a:srgbClr val="F2A93C"/>
          </a:solidFill>
          <a:ln/>
        </p:spPr>
      </p:sp>
      <p:sp>
        <p:nvSpPr>
          <p:cNvPr id="3" name="Shape 1"/>
          <p:cNvSpPr/>
          <p:nvPr/>
        </p:nvSpPr>
        <p:spPr>
          <a:xfrm rot="5400000">
            <a:off x="641909" y="464881"/>
            <a:ext cx="136794" cy="149230"/>
          </a:xfrm>
          <a:prstGeom prst="triangle">
            <a:avLst/>
          </a:prstGeom>
          <a:solidFill>
            <a:srgbClr val="141210"/>
          </a:solidFill>
          <a:ln/>
        </p:spPr>
      </p:sp>
      <p:sp>
        <p:nvSpPr>
          <p:cNvPr id="4" name="Text 2"/>
          <p:cNvSpPr/>
          <p:nvPr/>
        </p:nvSpPr>
        <p:spPr>
          <a:xfrm>
            <a:off x="969264" y="338328"/>
            <a:ext cx="2194560" cy="402336"/>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Dhilmar</a:t>
            </a:r>
            <a:endParaRPr lang="en-US" sz="1700" dirty="0"/>
          </a:p>
        </p:txBody>
      </p:sp>
      <p:sp>
        <p:nvSpPr>
          <p:cNvPr id="5" name="Text 3"/>
          <p:cNvSpPr/>
          <p:nvPr/>
        </p:nvSpPr>
        <p:spPr>
          <a:xfrm>
            <a:off x="9265615" y="420624"/>
            <a:ext cx="2377440" cy="274320"/>
          </a:xfrm>
          <a:prstGeom prst="rect">
            <a:avLst/>
          </a:prstGeom>
          <a:noFill/>
          <a:ln/>
        </p:spPr>
        <p:txBody>
          <a:bodyPr wrap="square" lIns="0" tIns="0" rIns="0" bIns="0" rtlCol="0" anchor="ctr"/>
          <a:lstStyle/>
          <a:p>
            <a:pPr algn="r" indent="0" marL="0">
              <a:buNone/>
            </a:pPr>
            <a:r>
              <a:rPr lang="en-US" sz="1050" b="1" spc="200" kern="0" dirty="0">
                <a:solidFill>
                  <a:srgbClr val="857E70"/>
                </a:solidFill>
                <a:latin typeface="Calibri" pitchFamily="34" charset="0"/>
                <a:ea typeface="Calibri" pitchFamily="34" charset="-122"/>
                <a:cs typeface="Calibri" pitchFamily="34" charset="-120"/>
              </a:rPr>
              <a:t>MINE </a:t>
            </a:r>
            <a:pPr algn="r" indent="0" marL="0">
              <a:buNone/>
            </a:pPr>
            <a:r>
              <a:rPr lang="en-US" sz="1050" b="1" spc="200" kern="0" dirty="0">
                <a:solidFill>
                  <a:srgbClr val="F2A93C"/>
                </a:solidFill>
                <a:latin typeface="Calibri" pitchFamily="34" charset="0"/>
                <a:ea typeface="Calibri" pitchFamily="34" charset="-122"/>
                <a:cs typeface="Calibri" pitchFamily="34" charset="-120"/>
              </a:rPr>
              <a:t>ÉLÉONORE</a:t>
            </a:r>
            <a:endParaRPr lang="en-US" sz="1050" dirty="0"/>
          </a:p>
        </p:txBody>
      </p:sp>
      <p:sp>
        <p:nvSpPr>
          <p:cNvPr id="6" name="Text 4"/>
          <p:cNvSpPr/>
          <p:nvPr/>
        </p:nvSpPr>
        <p:spPr>
          <a:xfrm>
            <a:off x="566928" y="475488"/>
            <a:ext cx="9144000" cy="274320"/>
          </a:xfrm>
          <a:prstGeom prst="rect">
            <a:avLst/>
          </a:prstGeom>
          <a:noFill/>
          <a:ln/>
        </p:spPr>
        <p:txBody>
          <a:bodyPr wrap="square" lIns="0" tIns="0" rIns="0" bIns="0" rtlCol="0" anchor="ctr"/>
          <a:lstStyle/>
          <a:p>
            <a:pPr indent="0" marL="0">
              <a:buNone/>
            </a:pPr>
            <a:r>
              <a:rPr lang="en-US" sz="1200" b="1" spc="300" kern="0" dirty="0">
                <a:solidFill>
                  <a:srgbClr val="F2A93C"/>
                </a:solidFill>
                <a:latin typeface="Calibri" pitchFamily="34" charset="0"/>
                <a:ea typeface="Calibri" pitchFamily="34" charset="-122"/>
                <a:cs typeface="Calibri" pitchFamily="34" charset="-120"/>
              </a:rPr>
              <a:t>VIDÉO — LA BONNE MÉTHODE</a:t>
            </a:r>
            <a:endParaRPr lang="en-US" sz="1200" dirty="0"/>
          </a:p>
        </p:txBody>
      </p:sp>
      <p:sp>
        <p:nvSpPr>
          <p:cNvPr id="7" name="Text 5"/>
          <p:cNvSpPr/>
          <p:nvPr/>
        </p:nvSpPr>
        <p:spPr>
          <a:xfrm>
            <a:off x="548640" y="768096"/>
            <a:ext cx="11064240" cy="822960"/>
          </a:xfrm>
          <a:prstGeom prst="rect">
            <a:avLst/>
          </a:prstGeom>
          <a:noFill/>
          <a:ln/>
        </p:spPr>
        <p:txBody>
          <a:bodyPr wrap="square" lIns="0" tIns="0" rIns="0" bIns="0" rtlCol="0" anchor="ctr"/>
          <a:lstStyle/>
          <a:p>
            <a:pPr indent="0" marL="0">
              <a:lnSpc>
                <a:spcPts val="3465"/>
              </a:lnSpc>
              <a:buNone/>
            </a:pPr>
            <a:r>
              <a:rPr lang="en-US" sz="3300" b="1" dirty="0">
                <a:solidFill>
                  <a:srgbClr val="FFFFFF"/>
                </a:solidFill>
                <a:latin typeface="Cambria" pitchFamily="34" charset="0"/>
                <a:ea typeface="Cambria" pitchFamily="34" charset="-122"/>
                <a:cs typeface="Cambria" pitchFamily="34" charset="-120"/>
              </a:rPr>
              <a:t>La bonne méthode</a:t>
            </a:r>
            <a:endParaRPr lang="en-US" sz="3300" dirty="0"/>
          </a:p>
        </p:txBody>
      </p:sp>
      <p:sp>
        <p:nvSpPr>
          <p:cNvPr id="8" name="Shape 6"/>
          <p:cNvSpPr/>
          <p:nvPr/>
        </p:nvSpPr>
        <p:spPr>
          <a:xfrm>
            <a:off x="548640" y="1828800"/>
            <a:ext cx="7315200" cy="4114800"/>
          </a:xfrm>
          <a:prstGeom prst="roundRect">
            <a:avLst>
              <a:gd name="adj" fmla="val 2667"/>
            </a:avLst>
          </a:prstGeom>
          <a:solidFill>
            <a:srgbClr val="0C0A08"/>
          </a:solidFill>
          <a:ln w="15875">
            <a:solidFill>
              <a:srgbClr val="C9852A"/>
            </a:solidFill>
            <a:prstDash val="solid"/>
          </a:ln>
        </p:spPr>
      </p:sp>
      <p:sp>
        <p:nvSpPr>
          <p:cNvPr id="9" name="Shape 7"/>
          <p:cNvSpPr/>
          <p:nvPr/>
        </p:nvSpPr>
        <p:spPr>
          <a:xfrm>
            <a:off x="3520440" y="3200400"/>
            <a:ext cx="1371600" cy="1371600"/>
          </a:xfrm>
          <a:prstGeom prst="oval">
            <a:avLst/>
          </a:prstGeom>
          <a:ln w="31750">
            <a:solidFill>
              <a:srgbClr val="F2A93C"/>
            </a:solidFill>
            <a:prstDash val="solid"/>
          </a:ln>
        </p:spPr>
      </p:sp>
      <p:sp>
        <p:nvSpPr>
          <p:cNvPr id="10" name="Shape 8"/>
          <p:cNvSpPr/>
          <p:nvPr/>
        </p:nvSpPr>
        <p:spPr>
          <a:xfrm rot="5400000">
            <a:off x="4023360" y="3575304"/>
            <a:ext cx="548640" cy="621792"/>
          </a:xfrm>
          <a:prstGeom prst="triangle">
            <a:avLst/>
          </a:prstGeom>
          <a:solidFill>
            <a:srgbClr val="F2A93C"/>
          </a:solidFill>
          <a:ln/>
        </p:spPr>
      </p:sp>
      <p:sp>
        <p:nvSpPr>
          <p:cNvPr id="11" name="Shape 9"/>
          <p:cNvSpPr/>
          <p:nvPr/>
        </p:nvSpPr>
        <p:spPr>
          <a:xfrm>
            <a:off x="822960" y="2103120"/>
            <a:ext cx="1371600" cy="402336"/>
          </a:xfrm>
          <a:prstGeom prst="roundRect">
            <a:avLst>
              <a:gd name="adj" fmla="val 18182"/>
            </a:avLst>
          </a:prstGeom>
          <a:solidFill>
            <a:srgbClr val="F2A93C"/>
          </a:solidFill>
          <a:ln/>
        </p:spPr>
      </p:sp>
      <p:sp>
        <p:nvSpPr>
          <p:cNvPr id="12" name="Text 10"/>
          <p:cNvSpPr/>
          <p:nvPr/>
        </p:nvSpPr>
        <p:spPr>
          <a:xfrm>
            <a:off x="822960" y="2103120"/>
            <a:ext cx="1371600" cy="402336"/>
          </a:xfrm>
          <a:prstGeom prst="rect">
            <a:avLst/>
          </a:prstGeom>
          <a:noFill/>
          <a:ln/>
        </p:spPr>
        <p:txBody>
          <a:bodyPr wrap="square" lIns="0" tIns="0" rIns="0" bIns="0" rtlCol="0" anchor="ctr"/>
          <a:lstStyle/>
          <a:p>
            <a:pPr algn="ctr" indent="0" marL="0">
              <a:buNone/>
            </a:pPr>
            <a:r>
              <a:rPr lang="en-US" sz="1100" b="1" dirty="0">
                <a:solidFill>
                  <a:srgbClr val="141210"/>
                </a:solidFill>
                <a:latin typeface="Calibri" pitchFamily="34" charset="0"/>
                <a:ea typeface="Calibri" pitchFamily="34" charset="-122"/>
                <a:cs typeface="Calibri" pitchFamily="34" charset="-120"/>
              </a:rPr>
              <a:t>● VIDÉO</a:t>
            </a:r>
            <a:endParaRPr lang="en-US" sz="1100" dirty="0"/>
          </a:p>
        </p:txBody>
      </p:sp>
      <p:sp>
        <p:nvSpPr>
          <p:cNvPr id="13" name="Text 11"/>
          <p:cNvSpPr/>
          <p:nvPr/>
        </p:nvSpPr>
        <p:spPr>
          <a:xfrm>
            <a:off x="5577840" y="2121408"/>
            <a:ext cx="2011680" cy="365760"/>
          </a:xfrm>
          <a:prstGeom prst="rect">
            <a:avLst/>
          </a:prstGeom>
          <a:noFill/>
          <a:ln/>
        </p:spPr>
        <p:txBody>
          <a:bodyPr wrap="square" lIns="0" tIns="0" rIns="0" bIns="0" rtlCol="0" anchor="ctr"/>
          <a:lstStyle/>
          <a:p>
            <a:pPr algn="r" indent="0" marL="0">
              <a:buNone/>
            </a:pPr>
            <a:r>
              <a:rPr lang="en-US" sz="1050" dirty="0">
                <a:solidFill>
                  <a:srgbClr val="B4AD9F"/>
                </a:solidFill>
                <a:latin typeface="Calibri" pitchFamily="34" charset="0"/>
                <a:ea typeface="Calibri" pitchFamily="34" charset="-122"/>
                <a:cs typeface="Calibri" pitchFamily="34" charset="-120"/>
              </a:rPr>
              <a:t>Clip Higgsfield · 5 s</a:t>
            </a:r>
            <a:endParaRPr lang="en-US" sz="1050" dirty="0"/>
          </a:p>
        </p:txBody>
      </p:sp>
      <p:sp>
        <p:nvSpPr>
          <p:cNvPr id="14" name="Text 12"/>
          <p:cNvSpPr/>
          <p:nvPr/>
        </p:nvSpPr>
        <p:spPr>
          <a:xfrm>
            <a:off x="1005840" y="5029200"/>
            <a:ext cx="6400800" cy="640080"/>
          </a:xfrm>
          <a:prstGeom prst="rect">
            <a:avLst/>
          </a:prstGeom>
          <a:noFill/>
          <a:ln/>
        </p:spPr>
        <p:txBody>
          <a:bodyPr wrap="square" lIns="0" tIns="0" rIns="0" bIns="0" rtlCol="0" anchor="ctr"/>
          <a:lstStyle/>
          <a:p>
            <a:pPr algn="ctr" indent="0" marL="0">
              <a:buNone/>
            </a:pPr>
            <a:r>
              <a:rPr lang="en-US" sz="1800" b="1" i="1" dirty="0">
                <a:solidFill>
                  <a:srgbClr val="F7C775"/>
                </a:solidFill>
                <a:latin typeface="Cambria" pitchFamily="34" charset="0"/>
                <a:ea typeface="Cambria" pitchFamily="34" charset="-122"/>
                <a:cs typeface="Cambria" pitchFamily="34" charset="-120"/>
              </a:rPr>
              <a:t>Mains protégées, contrôlées, dégagées.</a:t>
            </a:r>
            <a:endParaRPr lang="en-US" sz="1800" dirty="0"/>
          </a:p>
        </p:txBody>
      </p:sp>
      <p:sp>
        <p:nvSpPr>
          <p:cNvPr id="15" name="Text 13"/>
          <p:cNvSpPr/>
          <p:nvPr/>
        </p:nvSpPr>
        <p:spPr>
          <a:xfrm>
            <a:off x="8092440" y="1874520"/>
            <a:ext cx="3566160" cy="274320"/>
          </a:xfrm>
          <a:prstGeom prst="rect">
            <a:avLst/>
          </a:prstGeom>
          <a:noFill/>
          <a:ln/>
        </p:spPr>
        <p:txBody>
          <a:bodyPr wrap="square" lIns="0" tIns="0" rIns="0" bIns="0" rtlCol="0" anchor="ctr"/>
          <a:lstStyle/>
          <a:p>
            <a:pPr indent="0" marL="0">
              <a:buNone/>
            </a:pPr>
            <a:r>
              <a:rPr lang="en-US" sz="1100" b="1" spc="200" kern="0" dirty="0">
                <a:solidFill>
                  <a:srgbClr val="F2A93C"/>
                </a:solidFill>
                <a:latin typeface="Calibri" pitchFamily="34" charset="0"/>
                <a:ea typeface="Calibri" pitchFamily="34" charset="-122"/>
                <a:cs typeface="Calibri" pitchFamily="34" charset="-120"/>
              </a:rPr>
              <a:t>À OBSERVER</a:t>
            </a:r>
            <a:endParaRPr lang="en-US" sz="1100" dirty="0"/>
          </a:p>
        </p:txBody>
      </p:sp>
      <p:sp>
        <p:nvSpPr>
          <p:cNvPr id="16" name="Shape 14"/>
          <p:cNvSpPr/>
          <p:nvPr/>
        </p:nvSpPr>
        <p:spPr>
          <a:xfrm>
            <a:off x="8092440" y="2331720"/>
            <a:ext cx="457200" cy="457200"/>
          </a:xfrm>
          <a:prstGeom prst="oval">
            <a:avLst/>
          </a:prstGeom>
          <a:solidFill>
            <a:srgbClr val="1B1712"/>
          </a:solidFill>
          <a:ln w="19050">
            <a:solidFill>
              <a:srgbClr val="F2A93C"/>
            </a:solidFill>
            <a:prstDash val="solid"/>
          </a:ln>
        </p:spPr>
      </p:sp>
      <p:pic>
        <p:nvPicPr>
          <p:cNvPr id="17" name="Image 0" descr="preencoded.png">    </p:cNvPr>
          <p:cNvPicPr>
            <a:picLocks noChangeAspect="1"/>
          </p:cNvPicPr>
          <p:nvPr/>
        </p:nvPicPr>
        <p:blipFill>
          <a:blip r:embed="rId1"/>
          <a:stretch>
            <a:fillRect/>
          </a:stretch>
        </p:blipFill>
        <p:spPr>
          <a:xfrm>
            <a:off x="8206740" y="2446020"/>
            <a:ext cx="228600" cy="228600"/>
          </a:xfrm>
          <a:prstGeom prst="rect">
            <a:avLst/>
          </a:prstGeom>
        </p:spPr>
      </p:pic>
      <p:sp>
        <p:nvSpPr>
          <p:cNvPr id="18" name="Text 15"/>
          <p:cNvSpPr/>
          <p:nvPr/>
        </p:nvSpPr>
        <p:spPr>
          <a:xfrm>
            <a:off x="8695944" y="2276856"/>
            <a:ext cx="2962656" cy="777240"/>
          </a:xfrm>
          <a:prstGeom prst="rect">
            <a:avLst/>
          </a:prstGeom>
          <a:noFill/>
          <a:ln/>
        </p:spPr>
        <p:txBody>
          <a:bodyPr wrap="square" lIns="0" tIns="0" rIns="0" bIns="0" rtlCol="0" anchor="ctr"/>
          <a:lstStyle/>
          <a:p>
            <a:pPr indent="0" marL="0">
              <a:lnSpc>
                <a:spcPct val="103000"/>
              </a:lnSpc>
              <a:buNone/>
            </a:pPr>
            <a:r>
              <a:rPr lang="en-US" sz="1350" dirty="0">
                <a:solidFill>
                  <a:srgbClr val="ECE7DD"/>
                </a:solidFill>
                <a:latin typeface="Calibri" pitchFamily="34" charset="0"/>
                <a:ea typeface="Calibri" pitchFamily="34" charset="-122"/>
                <a:cs typeface="Calibri" pitchFamily="34" charset="-120"/>
              </a:rPr>
              <a:t>Gant adapté à la tâche et en bon état.</a:t>
            </a:r>
            <a:endParaRPr lang="en-US" sz="1350" dirty="0"/>
          </a:p>
        </p:txBody>
      </p:sp>
      <p:sp>
        <p:nvSpPr>
          <p:cNvPr id="19" name="Shape 16"/>
          <p:cNvSpPr/>
          <p:nvPr/>
        </p:nvSpPr>
        <p:spPr>
          <a:xfrm>
            <a:off x="8092440" y="3172968"/>
            <a:ext cx="457200" cy="457200"/>
          </a:xfrm>
          <a:prstGeom prst="oval">
            <a:avLst/>
          </a:prstGeom>
          <a:solidFill>
            <a:srgbClr val="1B1712"/>
          </a:solidFill>
          <a:ln w="19050">
            <a:solidFill>
              <a:srgbClr val="F2A93C"/>
            </a:solidFill>
            <a:prstDash val="solid"/>
          </a:ln>
        </p:spPr>
      </p:sp>
      <p:pic>
        <p:nvPicPr>
          <p:cNvPr id="20" name="Image 1" descr="preencoded.png">    </p:cNvPr>
          <p:cNvPicPr>
            <a:picLocks noChangeAspect="1"/>
          </p:cNvPicPr>
          <p:nvPr/>
        </p:nvPicPr>
        <p:blipFill>
          <a:blip r:embed="rId2"/>
          <a:stretch>
            <a:fillRect/>
          </a:stretch>
        </p:blipFill>
        <p:spPr>
          <a:xfrm>
            <a:off x="8206740" y="3287268"/>
            <a:ext cx="228600" cy="228600"/>
          </a:xfrm>
          <a:prstGeom prst="rect">
            <a:avLst/>
          </a:prstGeom>
        </p:spPr>
      </p:pic>
      <p:sp>
        <p:nvSpPr>
          <p:cNvPr id="21" name="Text 17"/>
          <p:cNvSpPr/>
          <p:nvPr/>
        </p:nvSpPr>
        <p:spPr>
          <a:xfrm>
            <a:off x="8695944" y="3118104"/>
            <a:ext cx="2962656" cy="777240"/>
          </a:xfrm>
          <a:prstGeom prst="rect">
            <a:avLst/>
          </a:prstGeom>
          <a:noFill/>
          <a:ln/>
        </p:spPr>
        <p:txBody>
          <a:bodyPr wrap="square" lIns="0" tIns="0" rIns="0" bIns="0" rtlCol="0" anchor="ctr"/>
          <a:lstStyle/>
          <a:p>
            <a:pPr indent="0" marL="0">
              <a:lnSpc>
                <a:spcPct val="103000"/>
              </a:lnSpc>
              <a:buNone/>
            </a:pPr>
            <a:r>
              <a:rPr lang="en-US" sz="1350" dirty="0">
                <a:solidFill>
                  <a:srgbClr val="ECE7DD"/>
                </a:solidFill>
                <a:latin typeface="Calibri" pitchFamily="34" charset="0"/>
                <a:ea typeface="Calibri" pitchFamily="34" charset="-122"/>
                <a:cs typeface="Calibri" pitchFamily="34" charset="-120"/>
              </a:rPr>
              <a:t>Prise ferme, mouvement contrôlé.</a:t>
            </a:r>
            <a:endParaRPr lang="en-US" sz="1350" dirty="0"/>
          </a:p>
        </p:txBody>
      </p:sp>
      <p:sp>
        <p:nvSpPr>
          <p:cNvPr id="22" name="Shape 18"/>
          <p:cNvSpPr/>
          <p:nvPr/>
        </p:nvSpPr>
        <p:spPr>
          <a:xfrm>
            <a:off x="8092440" y="4014216"/>
            <a:ext cx="457200" cy="457200"/>
          </a:xfrm>
          <a:prstGeom prst="oval">
            <a:avLst/>
          </a:prstGeom>
          <a:solidFill>
            <a:srgbClr val="1B1712"/>
          </a:solidFill>
          <a:ln w="19050">
            <a:solidFill>
              <a:srgbClr val="F2A93C"/>
            </a:solidFill>
            <a:prstDash val="solid"/>
          </a:ln>
        </p:spPr>
      </p:sp>
      <p:pic>
        <p:nvPicPr>
          <p:cNvPr id="23" name="Image 2" descr="preencoded.png">    </p:cNvPr>
          <p:cNvPicPr>
            <a:picLocks noChangeAspect="1"/>
          </p:cNvPicPr>
          <p:nvPr/>
        </p:nvPicPr>
        <p:blipFill>
          <a:blip r:embed="rId3"/>
          <a:stretch>
            <a:fillRect/>
          </a:stretch>
        </p:blipFill>
        <p:spPr>
          <a:xfrm>
            <a:off x="8206740" y="4128516"/>
            <a:ext cx="228600" cy="228600"/>
          </a:xfrm>
          <a:prstGeom prst="rect">
            <a:avLst/>
          </a:prstGeom>
        </p:spPr>
      </p:pic>
      <p:sp>
        <p:nvSpPr>
          <p:cNvPr id="24" name="Text 19"/>
          <p:cNvSpPr/>
          <p:nvPr/>
        </p:nvSpPr>
        <p:spPr>
          <a:xfrm>
            <a:off x="8695944" y="3959352"/>
            <a:ext cx="2962656" cy="777240"/>
          </a:xfrm>
          <a:prstGeom prst="rect">
            <a:avLst/>
          </a:prstGeom>
          <a:noFill/>
          <a:ln/>
        </p:spPr>
        <p:txBody>
          <a:bodyPr wrap="square" lIns="0" tIns="0" rIns="0" bIns="0" rtlCol="0" anchor="ctr"/>
          <a:lstStyle/>
          <a:p>
            <a:pPr indent="0" marL="0">
              <a:lnSpc>
                <a:spcPct val="103000"/>
              </a:lnSpc>
              <a:buNone/>
            </a:pPr>
            <a:r>
              <a:rPr lang="en-US" sz="1350" dirty="0">
                <a:solidFill>
                  <a:srgbClr val="ECE7DD"/>
                </a:solidFill>
                <a:latin typeface="Calibri" pitchFamily="34" charset="0"/>
                <a:ea typeface="Calibri" pitchFamily="34" charset="-122"/>
                <a:cs typeface="Calibri" pitchFamily="34" charset="-120"/>
              </a:rPr>
              <a:t>Mains toujours hors de la ligne de tir.</a:t>
            </a:r>
            <a:endParaRPr lang="en-US" sz="1350" dirty="0"/>
          </a:p>
        </p:txBody>
      </p:sp>
      <p:sp>
        <p:nvSpPr>
          <p:cNvPr id="25" name="Shape 20"/>
          <p:cNvSpPr/>
          <p:nvPr/>
        </p:nvSpPr>
        <p:spPr>
          <a:xfrm>
            <a:off x="8092440" y="5120640"/>
            <a:ext cx="3566160" cy="777240"/>
          </a:xfrm>
          <a:prstGeom prst="roundRect">
            <a:avLst>
              <a:gd name="adj" fmla="val 9412"/>
            </a:avLst>
          </a:prstGeom>
          <a:solidFill>
            <a:srgbClr val="231E17"/>
          </a:solidFill>
          <a:ln w="9525">
            <a:solidFill>
              <a:srgbClr val="3C352A"/>
            </a:solidFill>
            <a:prstDash val="solid"/>
          </a:ln>
        </p:spPr>
      </p:sp>
      <p:sp>
        <p:nvSpPr>
          <p:cNvPr id="26" name="Text 21"/>
          <p:cNvSpPr/>
          <p:nvPr/>
        </p:nvSpPr>
        <p:spPr>
          <a:xfrm>
            <a:off x="8229600" y="5120640"/>
            <a:ext cx="3291840" cy="777240"/>
          </a:xfrm>
          <a:prstGeom prst="rect">
            <a:avLst/>
          </a:prstGeom>
          <a:noFill/>
          <a:ln/>
        </p:spPr>
        <p:txBody>
          <a:bodyPr wrap="square" lIns="0" tIns="0" rIns="0" bIns="0" rtlCol="0" anchor="ctr"/>
          <a:lstStyle/>
          <a:p>
            <a:pPr indent="0" marL="0">
              <a:lnSpc>
                <a:spcPct val="100000"/>
              </a:lnSpc>
              <a:buNone/>
            </a:pPr>
            <a:r>
              <a:rPr lang="en-US" sz="1050" dirty="0">
                <a:solidFill>
                  <a:srgbClr val="F2A93C"/>
                </a:solidFill>
                <a:latin typeface="Calibri" pitchFamily="34" charset="0"/>
                <a:ea typeface="Calibri" pitchFamily="34" charset="-122"/>
                <a:cs typeface="Calibri" pitchFamily="34" charset="-120"/>
              </a:rPr>
              <a:t>▶  </a:t>
            </a:r>
            <a:pPr indent="0" marL="0">
              <a:lnSpc>
                <a:spcPct val="100000"/>
              </a:lnSpc>
              <a:buNone/>
            </a:pPr>
            <a:r>
              <a:rPr lang="en-US" sz="1050" dirty="0">
                <a:solidFill>
                  <a:srgbClr val="B4AD9F"/>
                </a:solidFill>
                <a:latin typeface="Calibri" pitchFamily="34" charset="0"/>
                <a:ea typeface="Calibri" pitchFamily="34" charset="-122"/>
                <a:cs typeface="Calibri" pitchFamily="34" charset="-120"/>
              </a:rPr>
              <a:t>Clip fourni : insérez-le dans le cadre.</a:t>
            </a:r>
            <a:endParaRPr lang="en-US" sz="1050" dirty="0"/>
          </a:p>
        </p:txBody>
      </p:sp>
      <p:sp>
        <p:nvSpPr>
          <p:cNvPr id="27" name="Text 2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850" dirty="0">
                <a:solidFill>
                  <a:srgbClr val="857E70"/>
                </a:solidFill>
                <a:latin typeface="Calibri" pitchFamily="34" charset="0"/>
                <a:ea typeface="Calibri" pitchFamily="34" charset="-122"/>
                <a:cs typeface="Calibri" pitchFamily="34" charset="-120"/>
              </a:rPr>
              <a:t>Santé-Sécurité · Prévention des blessures aux mains</a:t>
            </a:r>
            <a:endParaRPr lang="en-US" sz="850" dirty="0"/>
          </a:p>
        </p:txBody>
      </p:sp>
      <p:sp>
        <p:nvSpPr>
          <p:cNvPr id="28" name="Text 23"/>
          <p:cNvSpPr/>
          <p:nvPr/>
        </p:nvSpPr>
        <p:spPr>
          <a:xfrm>
            <a:off x="11185855" y="6437376"/>
            <a:ext cx="457200" cy="274320"/>
          </a:xfrm>
          <a:prstGeom prst="rect">
            <a:avLst/>
          </a:prstGeom>
          <a:noFill/>
          <a:ln/>
        </p:spPr>
        <p:txBody>
          <a:bodyPr wrap="square" lIns="0" tIns="0" rIns="0" bIns="0" rtlCol="0" anchor="ctr"/>
          <a:lstStyle/>
          <a:p>
            <a:pPr algn="r" indent="0" marL="0">
              <a:buNone/>
            </a:pPr>
            <a:r>
              <a:rPr lang="en-US" sz="1100" dirty="0">
                <a:solidFill>
                  <a:srgbClr val="F2A93C"/>
                </a:solidFill>
                <a:latin typeface="Cambria" pitchFamily="34" charset="0"/>
                <a:ea typeface="Cambria" pitchFamily="34" charset="-122"/>
                <a:cs typeface="Cambria"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210"/>
        </a:solidFill>
      </p:bgPr>
    </p:bg>
    <p:spTree>
      <p:nvGrpSpPr>
        <p:cNvPr id="1" name=""/>
        <p:cNvGrpSpPr/>
        <p:nvPr/>
      </p:nvGrpSpPr>
      <p:grpSpPr>
        <a:xfrm>
          <a:off x="0" y="0"/>
          <a:ext cx="0" cy="0"/>
          <a:chOff x="0" y="0"/>
          <a:chExt cx="0" cy="0"/>
        </a:xfrm>
      </p:grpSpPr>
      <p:sp>
        <p:nvSpPr>
          <p:cNvPr id="2" name="Shape 0"/>
          <p:cNvSpPr/>
          <p:nvPr/>
        </p:nvSpPr>
        <p:spPr>
          <a:xfrm>
            <a:off x="548640" y="384048"/>
            <a:ext cx="310896" cy="310896"/>
          </a:xfrm>
          <a:prstGeom prst="roundRect">
            <a:avLst>
              <a:gd name="adj" fmla="val 17647"/>
            </a:avLst>
          </a:prstGeom>
          <a:solidFill>
            <a:srgbClr val="F2A93C"/>
          </a:solidFill>
          <a:ln/>
        </p:spPr>
      </p:sp>
      <p:sp>
        <p:nvSpPr>
          <p:cNvPr id="3" name="Shape 1"/>
          <p:cNvSpPr/>
          <p:nvPr/>
        </p:nvSpPr>
        <p:spPr>
          <a:xfrm rot="5400000">
            <a:off x="641909" y="464881"/>
            <a:ext cx="136794" cy="149230"/>
          </a:xfrm>
          <a:prstGeom prst="triangle">
            <a:avLst/>
          </a:prstGeom>
          <a:solidFill>
            <a:srgbClr val="141210"/>
          </a:solidFill>
          <a:ln/>
        </p:spPr>
      </p:sp>
      <p:sp>
        <p:nvSpPr>
          <p:cNvPr id="4" name="Text 2"/>
          <p:cNvSpPr/>
          <p:nvPr/>
        </p:nvSpPr>
        <p:spPr>
          <a:xfrm>
            <a:off x="969264" y="338328"/>
            <a:ext cx="2194560" cy="402336"/>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Dhilmar</a:t>
            </a:r>
            <a:endParaRPr lang="en-US" sz="1700" dirty="0"/>
          </a:p>
        </p:txBody>
      </p:sp>
      <p:sp>
        <p:nvSpPr>
          <p:cNvPr id="5" name="Text 3"/>
          <p:cNvSpPr/>
          <p:nvPr/>
        </p:nvSpPr>
        <p:spPr>
          <a:xfrm>
            <a:off x="9265615" y="420624"/>
            <a:ext cx="2377440" cy="274320"/>
          </a:xfrm>
          <a:prstGeom prst="rect">
            <a:avLst/>
          </a:prstGeom>
          <a:noFill/>
          <a:ln/>
        </p:spPr>
        <p:txBody>
          <a:bodyPr wrap="square" lIns="0" tIns="0" rIns="0" bIns="0" rtlCol="0" anchor="ctr"/>
          <a:lstStyle/>
          <a:p>
            <a:pPr algn="r" indent="0" marL="0">
              <a:buNone/>
            </a:pPr>
            <a:r>
              <a:rPr lang="en-US" sz="1050" b="1" spc="200" kern="0" dirty="0">
                <a:solidFill>
                  <a:srgbClr val="857E70"/>
                </a:solidFill>
                <a:latin typeface="Calibri" pitchFamily="34" charset="0"/>
                <a:ea typeface="Calibri" pitchFamily="34" charset="-122"/>
                <a:cs typeface="Calibri" pitchFamily="34" charset="-120"/>
              </a:rPr>
              <a:t>MINE </a:t>
            </a:r>
            <a:pPr algn="r" indent="0" marL="0">
              <a:buNone/>
            </a:pPr>
            <a:r>
              <a:rPr lang="en-US" sz="1050" b="1" spc="200" kern="0" dirty="0">
                <a:solidFill>
                  <a:srgbClr val="F2A93C"/>
                </a:solidFill>
                <a:latin typeface="Calibri" pitchFamily="34" charset="0"/>
                <a:ea typeface="Calibri" pitchFamily="34" charset="-122"/>
                <a:cs typeface="Calibri" pitchFamily="34" charset="-120"/>
              </a:rPr>
              <a:t>ÉLÉONORE</a:t>
            </a:r>
            <a:endParaRPr lang="en-US" sz="1050" dirty="0"/>
          </a:p>
        </p:txBody>
      </p:sp>
      <p:sp>
        <p:nvSpPr>
          <p:cNvPr id="6" name="Text 4"/>
          <p:cNvSpPr/>
          <p:nvPr/>
        </p:nvSpPr>
        <p:spPr>
          <a:xfrm>
            <a:off x="566928" y="475488"/>
            <a:ext cx="9144000" cy="274320"/>
          </a:xfrm>
          <a:prstGeom prst="rect">
            <a:avLst/>
          </a:prstGeom>
          <a:noFill/>
          <a:ln/>
        </p:spPr>
        <p:txBody>
          <a:bodyPr wrap="square" lIns="0" tIns="0" rIns="0" bIns="0" rtlCol="0" anchor="ctr"/>
          <a:lstStyle/>
          <a:p>
            <a:pPr indent="0" marL="0">
              <a:buNone/>
            </a:pPr>
            <a:r>
              <a:rPr lang="en-US" sz="1200" b="1" spc="300" kern="0" dirty="0">
                <a:solidFill>
                  <a:srgbClr val="F2A93C"/>
                </a:solidFill>
                <a:latin typeface="Calibri" pitchFamily="34" charset="0"/>
                <a:ea typeface="Calibri" pitchFamily="34" charset="-122"/>
                <a:cs typeface="Calibri" pitchFamily="34" charset="-120"/>
              </a:rPr>
              <a:t>SI UN INCIDENT SURVIENT</a:t>
            </a:r>
            <a:endParaRPr lang="en-US" sz="1200" dirty="0"/>
          </a:p>
        </p:txBody>
      </p:sp>
      <p:sp>
        <p:nvSpPr>
          <p:cNvPr id="7" name="Text 5"/>
          <p:cNvSpPr/>
          <p:nvPr/>
        </p:nvSpPr>
        <p:spPr>
          <a:xfrm>
            <a:off x="548640" y="768096"/>
            <a:ext cx="11064240" cy="822960"/>
          </a:xfrm>
          <a:prstGeom prst="rect">
            <a:avLst/>
          </a:prstGeom>
          <a:noFill/>
          <a:ln/>
        </p:spPr>
        <p:txBody>
          <a:bodyPr wrap="square" lIns="0" tIns="0" rIns="0" bIns="0" rtlCol="0" anchor="ctr"/>
          <a:lstStyle/>
          <a:p>
            <a:pPr indent="0" marL="0">
              <a:lnSpc>
                <a:spcPts val="3465"/>
              </a:lnSpc>
              <a:buNone/>
            </a:pPr>
            <a:r>
              <a:rPr lang="en-US" sz="3300" b="1" dirty="0">
                <a:solidFill>
                  <a:srgbClr val="FFFFFF"/>
                </a:solidFill>
                <a:latin typeface="Cambria" pitchFamily="34" charset="0"/>
                <a:ea typeface="Cambria" pitchFamily="34" charset="-122"/>
                <a:cs typeface="Cambria" pitchFamily="34" charset="-120"/>
              </a:rPr>
              <a:t>En cas de blessure</a:t>
            </a:r>
            <a:endParaRPr lang="en-US" sz="3300" dirty="0"/>
          </a:p>
        </p:txBody>
      </p:sp>
      <p:sp>
        <p:nvSpPr>
          <p:cNvPr id="8" name="Shape 6"/>
          <p:cNvSpPr/>
          <p:nvPr/>
        </p:nvSpPr>
        <p:spPr>
          <a:xfrm>
            <a:off x="548640" y="1920240"/>
            <a:ext cx="2724912" cy="2468880"/>
          </a:xfrm>
          <a:prstGeom prst="roundRect">
            <a:avLst>
              <a:gd name="adj" fmla="val 3704"/>
            </a:avLst>
          </a:prstGeom>
          <a:solidFill>
            <a:srgbClr val="231E17"/>
          </a:solidFill>
          <a:ln w="12700">
            <a:solidFill>
              <a:srgbClr val="3C352A"/>
            </a:solidFill>
            <a:prstDash val="solid"/>
          </a:ln>
        </p:spPr>
      </p:sp>
      <p:sp>
        <p:nvSpPr>
          <p:cNvPr id="9" name="Text 7"/>
          <p:cNvSpPr/>
          <p:nvPr/>
        </p:nvSpPr>
        <p:spPr>
          <a:xfrm>
            <a:off x="777240" y="2103120"/>
            <a:ext cx="914400" cy="822960"/>
          </a:xfrm>
          <a:prstGeom prst="rect">
            <a:avLst/>
          </a:prstGeom>
          <a:noFill/>
          <a:ln/>
        </p:spPr>
        <p:txBody>
          <a:bodyPr wrap="square" lIns="0" tIns="0" rIns="0" bIns="0" rtlCol="0" anchor="ctr"/>
          <a:lstStyle/>
          <a:p>
            <a:pPr indent="0" marL="0">
              <a:buNone/>
            </a:pPr>
            <a:r>
              <a:rPr lang="en-US" sz="4000" b="1" dirty="0">
                <a:solidFill>
                  <a:srgbClr val="F2A93C"/>
                </a:solidFill>
                <a:latin typeface="Cambria" pitchFamily="34" charset="0"/>
                <a:ea typeface="Cambria" pitchFamily="34" charset="-122"/>
                <a:cs typeface="Cambria" pitchFamily="34" charset="-120"/>
              </a:rPr>
              <a:t>1</a:t>
            </a:r>
            <a:endParaRPr lang="en-US" sz="4000" dirty="0"/>
          </a:p>
        </p:txBody>
      </p:sp>
      <p:sp>
        <p:nvSpPr>
          <p:cNvPr id="10" name="Shape 8"/>
          <p:cNvSpPr/>
          <p:nvPr/>
        </p:nvSpPr>
        <p:spPr>
          <a:xfrm>
            <a:off x="2313432" y="2212848"/>
            <a:ext cx="658368" cy="658368"/>
          </a:xfrm>
          <a:prstGeom prst="oval">
            <a:avLst/>
          </a:prstGeom>
          <a:solidFill>
            <a:srgbClr val="1B1712"/>
          </a:solidFill>
          <a:ln w="19050">
            <a:solidFill>
              <a:srgbClr val="C9852A"/>
            </a:solidFill>
            <a:prstDash val="solid"/>
          </a:ln>
        </p:spPr>
      </p:sp>
      <p:pic>
        <p:nvPicPr>
          <p:cNvPr id="11" name="Image 0" descr="preencoded.png">    </p:cNvPr>
          <p:cNvPicPr>
            <a:picLocks noChangeAspect="1"/>
          </p:cNvPicPr>
          <p:nvPr/>
        </p:nvPicPr>
        <p:blipFill>
          <a:blip r:embed="rId1"/>
          <a:stretch>
            <a:fillRect/>
          </a:stretch>
        </p:blipFill>
        <p:spPr>
          <a:xfrm>
            <a:off x="2478024" y="2377440"/>
            <a:ext cx="329184" cy="329184"/>
          </a:xfrm>
          <a:prstGeom prst="rect">
            <a:avLst/>
          </a:prstGeom>
        </p:spPr>
      </p:pic>
      <p:sp>
        <p:nvSpPr>
          <p:cNvPr id="12" name="Text 9"/>
          <p:cNvSpPr/>
          <p:nvPr/>
        </p:nvSpPr>
        <p:spPr>
          <a:xfrm>
            <a:off x="804672" y="3017520"/>
            <a:ext cx="2267712" cy="45720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Arrêter &amp; sécuriser</a:t>
            </a:r>
            <a:endParaRPr lang="en-US" sz="1600" dirty="0"/>
          </a:p>
        </p:txBody>
      </p:sp>
      <p:sp>
        <p:nvSpPr>
          <p:cNvPr id="13" name="Text 10"/>
          <p:cNvSpPr/>
          <p:nvPr/>
        </p:nvSpPr>
        <p:spPr>
          <a:xfrm>
            <a:off x="804672" y="3456432"/>
            <a:ext cx="2313432" cy="822960"/>
          </a:xfrm>
          <a:prstGeom prst="rect">
            <a:avLst/>
          </a:prstGeom>
          <a:noFill/>
          <a:ln/>
        </p:spPr>
        <p:txBody>
          <a:bodyPr wrap="square" lIns="0" tIns="0" rIns="0" bIns="0" rtlCol="0" anchor="ctr"/>
          <a:lstStyle/>
          <a:p>
            <a:pPr indent="0" marL="0">
              <a:lnSpc>
                <a:spcPct val="105000"/>
              </a:lnSpc>
              <a:buNone/>
            </a:pPr>
            <a:r>
              <a:rPr lang="en-US" sz="1200" dirty="0">
                <a:solidFill>
                  <a:srgbClr val="B4AD9F"/>
                </a:solidFill>
                <a:latin typeface="Calibri" pitchFamily="34" charset="0"/>
                <a:ea typeface="Calibri" pitchFamily="34" charset="-122"/>
                <a:cs typeface="Calibri" pitchFamily="34" charset="-120"/>
              </a:rPr>
              <a:t>Stopper la tâche, neutraliser l'énergie, protéger la zone.</a:t>
            </a:r>
            <a:endParaRPr lang="en-US" sz="1200" dirty="0"/>
          </a:p>
        </p:txBody>
      </p:sp>
      <p:sp>
        <p:nvSpPr>
          <p:cNvPr id="14" name="Text 11"/>
          <p:cNvSpPr/>
          <p:nvPr/>
        </p:nvSpPr>
        <p:spPr>
          <a:xfrm>
            <a:off x="3255264" y="2834640"/>
            <a:ext cx="256032" cy="640080"/>
          </a:xfrm>
          <a:prstGeom prst="rect">
            <a:avLst/>
          </a:prstGeom>
          <a:noFill/>
          <a:ln/>
        </p:spPr>
        <p:txBody>
          <a:bodyPr wrap="square" lIns="0" tIns="0" rIns="0" bIns="0" rtlCol="0" anchor="ctr"/>
          <a:lstStyle/>
          <a:p>
            <a:pPr algn="ctr" indent="0" marL="0">
              <a:buNone/>
            </a:pPr>
            <a:r>
              <a:rPr lang="en-US" sz="2800" b="1" dirty="0">
                <a:solidFill>
                  <a:srgbClr val="C9852A"/>
                </a:solidFill>
                <a:latin typeface="Calibri" pitchFamily="34" charset="0"/>
                <a:ea typeface="Calibri" pitchFamily="34" charset="-122"/>
                <a:cs typeface="Calibri" pitchFamily="34" charset="-120"/>
              </a:rPr>
              <a:t>›</a:t>
            </a:r>
            <a:endParaRPr lang="en-US" sz="2800" dirty="0"/>
          </a:p>
        </p:txBody>
      </p:sp>
      <p:sp>
        <p:nvSpPr>
          <p:cNvPr id="15" name="Shape 12"/>
          <p:cNvSpPr/>
          <p:nvPr/>
        </p:nvSpPr>
        <p:spPr>
          <a:xfrm>
            <a:off x="3401568" y="1920240"/>
            <a:ext cx="2724912" cy="2468880"/>
          </a:xfrm>
          <a:prstGeom prst="roundRect">
            <a:avLst>
              <a:gd name="adj" fmla="val 3704"/>
            </a:avLst>
          </a:prstGeom>
          <a:solidFill>
            <a:srgbClr val="231E17"/>
          </a:solidFill>
          <a:ln w="12700">
            <a:solidFill>
              <a:srgbClr val="3C352A"/>
            </a:solidFill>
            <a:prstDash val="solid"/>
          </a:ln>
        </p:spPr>
      </p:sp>
      <p:sp>
        <p:nvSpPr>
          <p:cNvPr id="16" name="Text 13"/>
          <p:cNvSpPr/>
          <p:nvPr/>
        </p:nvSpPr>
        <p:spPr>
          <a:xfrm>
            <a:off x="3630168" y="2103120"/>
            <a:ext cx="914400" cy="822960"/>
          </a:xfrm>
          <a:prstGeom prst="rect">
            <a:avLst/>
          </a:prstGeom>
          <a:noFill/>
          <a:ln/>
        </p:spPr>
        <p:txBody>
          <a:bodyPr wrap="square" lIns="0" tIns="0" rIns="0" bIns="0" rtlCol="0" anchor="ctr"/>
          <a:lstStyle/>
          <a:p>
            <a:pPr indent="0" marL="0">
              <a:buNone/>
            </a:pPr>
            <a:r>
              <a:rPr lang="en-US" sz="4000" b="1" dirty="0">
                <a:solidFill>
                  <a:srgbClr val="F2A93C"/>
                </a:solidFill>
                <a:latin typeface="Cambria" pitchFamily="34" charset="0"/>
                <a:ea typeface="Cambria" pitchFamily="34" charset="-122"/>
                <a:cs typeface="Cambria" pitchFamily="34" charset="-120"/>
              </a:rPr>
              <a:t>2</a:t>
            </a:r>
            <a:endParaRPr lang="en-US" sz="4000" dirty="0"/>
          </a:p>
        </p:txBody>
      </p:sp>
      <p:sp>
        <p:nvSpPr>
          <p:cNvPr id="17" name="Shape 14"/>
          <p:cNvSpPr/>
          <p:nvPr/>
        </p:nvSpPr>
        <p:spPr>
          <a:xfrm>
            <a:off x="5166360" y="2212848"/>
            <a:ext cx="658368" cy="658368"/>
          </a:xfrm>
          <a:prstGeom prst="oval">
            <a:avLst/>
          </a:prstGeom>
          <a:solidFill>
            <a:srgbClr val="1B1712"/>
          </a:solidFill>
          <a:ln w="19050">
            <a:solidFill>
              <a:srgbClr val="C9852A"/>
            </a:solidFill>
            <a:prstDash val="solid"/>
          </a:ln>
        </p:spPr>
      </p:sp>
      <p:pic>
        <p:nvPicPr>
          <p:cNvPr id="18" name="Image 1" descr="preencoded.png">    </p:cNvPr>
          <p:cNvPicPr>
            <a:picLocks noChangeAspect="1"/>
          </p:cNvPicPr>
          <p:nvPr/>
        </p:nvPicPr>
        <p:blipFill>
          <a:blip r:embed="rId2"/>
          <a:stretch>
            <a:fillRect/>
          </a:stretch>
        </p:blipFill>
        <p:spPr>
          <a:xfrm>
            <a:off x="5330952" y="2377440"/>
            <a:ext cx="329184" cy="329184"/>
          </a:xfrm>
          <a:prstGeom prst="rect">
            <a:avLst/>
          </a:prstGeom>
        </p:spPr>
      </p:pic>
      <p:sp>
        <p:nvSpPr>
          <p:cNvPr id="19" name="Text 15"/>
          <p:cNvSpPr/>
          <p:nvPr/>
        </p:nvSpPr>
        <p:spPr>
          <a:xfrm>
            <a:off x="3657600" y="3017520"/>
            <a:ext cx="2267712" cy="45720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Premiers soins</a:t>
            </a:r>
            <a:endParaRPr lang="en-US" sz="1600" dirty="0"/>
          </a:p>
        </p:txBody>
      </p:sp>
      <p:sp>
        <p:nvSpPr>
          <p:cNvPr id="20" name="Text 16"/>
          <p:cNvSpPr/>
          <p:nvPr/>
        </p:nvSpPr>
        <p:spPr>
          <a:xfrm>
            <a:off x="3657600" y="3456432"/>
            <a:ext cx="2313432" cy="822960"/>
          </a:xfrm>
          <a:prstGeom prst="rect">
            <a:avLst/>
          </a:prstGeom>
          <a:noFill/>
          <a:ln/>
        </p:spPr>
        <p:txBody>
          <a:bodyPr wrap="square" lIns="0" tIns="0" rIns="0" bIns="0" rtlCol="0" anchor="ctr"/>
          <a:lstStyle/>
          <a:p>
            <a:pPr indent="0" marL="0">
              <a:lnSpc>
                <a:spcPct val="105000"/>
              </a:lnSpc>
              <a:buNone/>
            </a:pPr>
            <a:r>
              <a:rPr lang="en-US" sz="1200" dirty="0">
                <a:solidFill>
                  <a:srgbClr val="B4AD9F"/>
                </a:solidFill>
                <a:latin typeface="Calibri" pitchFamily="34" charset="0"/>
                <a:ea typeface="Calibri" pitchFamily="34" charset="-122"/>
                <a:cs typeface="Calibri" pitchFamily="34" charset="-120"/>
              </a:rPr>
              <a:t>Secouriste ou infirmerie sans délai.</a:t>
            </a:r>
            <a:endParaRPr lang="en-US" sz="1200" dirty="0"/>
          </a:p>
        </p:txBody>
      </p:sp>
      <p:sp>
        <p:nvSpPr>
          <p:cNvPr id="21" name="Text 17"/>
          <p:cNvSpPr/>
          <p:nvPr/>
        </p:nvSpPr>
        <p:spPr>
          <a:xfrm>
            <a:off x="6108192" y="2834640"/>
            <a:ext cx="256032" cy="640080"/>
          </a:xfrm>
          <a:prstGeom prst="rect">
            <a:avLst/>
          </a:prstGeom>
          <a:noFill/>
          <a:ln/>
        </p:spPr>
        <p:txBody>
          <a:bodyPr wrap="square" lIns="0" tIns="0" rIns="0" bIns="0" rtlCol="0" anchor="ctr"/>
          <a:lstStyle/>
          <a:p>
            <a:pPr algn="ctr" indent="0" marL="0">
              <a:buNone/>
            </a:pPr>
            <a:r>
              <a:rPr lang="en-US" sz="2800" b="1" dirty="0">
                <a:solidFill>
                  <a:srgbClr val="C9852A"/>
                </a:solidFill>
                <a:latin typeface="Calibri" pitchFamily="34" charset="0"/>
                <a:ea typeface="Calibri" pitchFamily="34" charset="-122"/>
                <a:cs typeface="Calibri" pitchFamily="34" charset="-120"/>
              </a:rPr>
              <a:t>›</a:t>
            </a:r>
            <a:endParaRPr lang="en-US" sz="2800" dirty="0"/>
          </a:p>
        </p:txBody>
      </p:sp>
      <p:sp>
        <p:nvSpPr>
          <p:cNvPr id="22" name="Shape 18"/>
          <p:cNvSpPr/>
          <p:nvPr/>
        </p:nvSpPr>
        <p:spPr>
          <a:xfrm>
            <a:off x="6254496" y="1920240"/>
            <a:ext cx="2724912" cy="2468880"/>
          </a:xfrm>
          <a:prstGeom prst="roundRect">
            <a:avLst>
              <a:gd name="adj" fmla="val 3704"/>
            </a:avLst>
          </a:prstGeom>
          <a:solidFill>
            <a:srgbClr val="231E17"/>
          </a:solidFill>
          <a:ln w="12700">
            <a:solidFill>
              <a:srgbClr val="3C352A"/>
            </a:solidFill>
            <a:prstDash val="solid"/>
          </a:ln>
        </p:spPr>
      </p:sp>
      <p:sp>
        <p:nvSpPr>
          <p:cNvPr id="23" name="Text 19"/>
          <p:cNvSpPr/>
          <p:nvPr/>
        </p:nvSpPr>
        <p:spPr>
          <a:xfrm>
            <a:off x="6483096" y="2103120"/>
            <a:ext cx="914400" cy="822960"/>
          </a:xfrm>
          <a:prstGeom prst="rect">
            <a:avLst/>
          </a:prstGeom>
          <a:noFill/>
          <a:ln/>
        </p:spPr>
        <p:txBody>
          <a:bodyPr wrap="square" lIns="0" tIns="0" rIns="0" bIns="0" rtlCol="0" anchor="ctr"/>
          <a:lstStyle/>
          <a:p>
            <a:pPr indent="0" marL="0">
              <a:buNone/>
            </a:pPr>
            <a:r>
              <a:rPr lang="en-US" sz="4000" b="1" dirty="0">
                <a:solidFill>
                  <a:srgbClr val="F2A93C"/>
                </a:solidFill>
                <a:latin typeface="Cambria" pitchFamily="34" charset="0"/>
                <a:ea typeface="Cambria" pitchFamily="34" charset="-122"/>
                <a:cs typeface="Cambria" pitchFamily="34" charset="-120"/>
              </a:rPr>
              <a:t>3</a:t>
            </a:r>
            <a:endParaRPr lang="en-US" sz="4000" dirty="0"/>
          </a:p>
        </p:txBody>
      </p:sp>
      <p:sp>
        <p:nvSpPr>
          <p:cNvPr id="24" name="Shape 20"/>
          <p:cNvSpPr/>
          <p:nvPr/>
        </p:nvSpPr>
        <p:spPr>
          <a:xfrm>
            <a:off x="8019288" y="2212848"/>
            <a:ext cx="658368" cy="658368"/>
          </a:xfrm>
          <a:prstGeom prst="oval">
            <a:avLst/>
          </a:prstGeom>
          <a:solidFill>
            <a:srgbClr val="1B1712"/>
          </a:solidFill>
          <a:ln w="19050">
            <a:solidFill>
              <a:srgbClr val="C9852A"/>
            </a:solidFill>
            <a:prstDash val="solid"/>
          </a:ln>
        </p:spPr>
      </p:sp>
      <p:pic>
        <p:nvPicPr>
          <p:cNvPr id="25" name="Image 2" descr="preencoded.png">    </p:cNvPr>
          <p:cNvPicPr>
            <a:picLocks noChangeAspect="1"/>
          </p:cNvPicPr>
          <p:nvPr/>
        </p:nvPicPr>
        <p:blipFill>
          <a:blip r:embed="rId3"/>
          <a:stretch>
            <a:fillRect/>
          </a:stretch>
        </p:blipFill>
        <p:spPr>
          <a:xfrm>
            <a:off x="8183880" y="2377440"/>
            <a:ext cx="329184" cy="329184"/>
          </a:xfrm>
          <a:prstGeom prst="rect">
            <a:avLst/>
          </a:prstGeom>
        </p:spPr>
      </p:pic>
      <p:sp>
        <p:nvSpPr>
          <p:cNvPr id="26" name="Text 21"/>
          <p:cNvSpPr/>
          <p:nvPr/>
        </p:nvSpPr>
        <p:spPr>
          <a:xfrm>
            <a:off x="6510528" y="3017520"/>
            <a:ext cx="2267712" cy="45720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Signaler</a:t>
            </a:r>
            <a:endParaRPr lang="en-US" sz="1600" dirty="0"/>
          </a:p>
        </p:txBody>
      </p:sp>
      <p:sp>
        <p:nvSpPr>
          <p:cNvPr id="27" name="Text 22"/>
          <p:cNvSpPr/>
          <p:nvPr/>
        </p:nvSpPr>
        <p:spPr>
          <a:xfrm>
            <a:off x="6510528" y="3456432"/>
            <a:ext cx="2313432" cy="822960"/>
          </a:xfrm>
          <a:prstGeom prst="rect">
            <a:avLst/>
          </a:prstGeom>
          <a:noFill/>
          <a:ln/>
        </p:spPr>
        <p:txBody>
          <a:bodyPr wrap="square" lIns="0" tIns="0" rIns="0" bIns="0" rtlCol="0" anchor="ctr"/>
          <a:lstStyle/>
          <a:p>
            <a:pPr indent="0" marL="0">
              <a:lnSpc>
                <a:spcPct val="105000"/>
              </a:lnSpc>
              <a:buNone/>
            </a:pPr>
            <a:r>
              <a:rPr lang="en-US" sz="1200" dirty="0">
                <a:solidFill>
                  <a:srgbClr val="B4AD9F"/>
                </a:solidFill>
                <a:latin typeface="Calibri" pitchFamily="34" charset="0"/>
                <a:ea typeface="Calibri" pitchFamily="34" charset="-122"/>
                <a:cs typeface="Calibri" pitchFamily="34" charset="-120"/>
              </a:rPr>
              <a:t>Aviser le superviseur immédiatement.</a:t>
            </a:r>
            <a:endParaRPr lang="en-US" sz="1200" dirty="0"/>
          </a:p>
        </p:txBody>
      </p:sp>
      <p:sp>
        <p:nvSpPr>
          <p:cNvPr id="28" name="Text 23"/>
          <p:cNvSpPr/>
          <p:nvPr/>
        </p:nvSpPr>
        <p:spPr>
          <a:xfrm>
            <a:off x="8961120" y="2834640"/>
            <a:ext cx="256032" cy="640080"/>
          </a:xfrm>
          <a:prstGeom prst="rect">
            <a:avLst/>
          </a:prstGeom>
          <a:noFill/>
          <a:ln/>
        </p:spPr>
        <p:txBody>
          <a:bodyPr wrap="square" lIns="0" tIns="0" rIns="0" bIns="0" rtlCol="0" anchor="ctr"/>
          <a:lstStyle/>
          <a:p>
            <a:pPr algn="ctr" indent="0" marL="0">
              <a:buNone/>
            </a:pPr>
            <a:r>
              <a:rPr lang="en-US" sz="2800" b="1" dirty="0">
                <a:solidFill>
                  <a:srgbClr val="C9852A"/>
                </a:solidFill>
                <a:latin typeface="Calibri" pitchFamily="34" charset="0"/>
                <a:ea typeface="Calibri" pitchFamily="34" charset="-122"/>
                <a:cs typeface="Calibri" pitchFamily="34" charset="-120"/>
              </a:rPr>
              <a:t>›</a:t>
            </a:r>
            <a:endParaRPr lang="en-US" sz="2800" dirty="0"/>
          </a:p>
        </p:txBody>
      </p:sp>
      <p:sp>
        <p:nvSpPr>
          <p:cNvPr id="29" name="Shape 24"/>
          <p:cNvSpPr/>
          <p:nvPr/>
        </p:nvSpPr>
        <p:spPr>
          <a:xfrm>
            <a:off x="9107424" y="1920240"/>
            <a:ext cx="2724912" cy="2468880"/>
          </a:xfrm>
          <a:prstGeom prst="roundRect">
            <a:avLst>
              <a:gd name="adj" fmla="val 3704"/>
            </a:avLst>
          </a:prstGeom>
          <a:solidFill>
            <a:srgbClr val="231E17"/>
          </a:solidFill>
          <a:ln w="12700">
            <a:solidFill>
              <a:srgbClr val="3C352A"/>
            </a:solidFill>
            <a:prstDash val="solid"/>
          </a:ln>
        </p:spPr>
      </p:sp>
      <p:sp>
        <p:nvSpPr>
          <p:cNvPr id="30" name="Text 25"/>
          <p:cNvSpPr/>
          <p:nvPr/>
        </p:nvSpPr>
        <p:spPr>
          <a:xfrm>
            <a:off x="9336024" y="2103120"/>
            <a:ext cx="914400" cy="822960"/>
          </a:xfrm>
          <a:prstGeom prst="rect">
            <a:avLst/>
          </a:prstGeom>
          <a:noFill/>
          <a:ln/>
        </p:spPr>
        <p:txBody>
          <a:bodyPr wrap="square" lIns="0" tIns="0" rIns="0" bIns="0" rtlCol="0" anchor="ctr"/>
          <a:lstStyle/>
          <a:p>
            <a:pPr indent="0" marL="0">
              <a:buNone/>
            </a:pPr>
            <a:r>
              <a:rPr lang="en-US" sz="4000" b="1" dirty="0">
                <a:solidFill>
                  <a:srgbClr val="F2A93C"/>
                </a:solidFill>
                <a:latin typeface="Cambria" pitchFamily="34" charset="0"/>
                <a:ea typeface="Cambria" pitchFamily="34" charset="-122"/>
                <a:cs typeface="Cambria" pitchFamily="34" charset="-120"/>
              </a:rPr>
              <a:t>4</a:t>
            </a:r>
            <a:endParaRPr lang="en-US" sz="4000" dirty="0"/>
          </a:p>
        </p:txBody>
      </p:sp>
      <p:sp>
        <p:nvSpPr>
          <p:cNvPr id="31" name="Shape 26"/>
          <p:cNvSpPr/>
          <p:nvPr/>
        </p:nvSpPr>
        <p:spPr>
          <a:xfrm>
            <a:off x="10872216" y="2212848"/>
            <a:ext cx="658368" cy="658368"/>
          </a:xfrm>
          <a:prstGeom prst="oval">
            <a:avLst/>
          </a:prstGeom>
          <a:solidFill>
            <a:srgbClr val="1B1712"/>
          </a:solidFill>
          <a:ln w="19050">
            <a:solidFill>
              <a:srgbClr val="C9852A"/>
            </a:solidFill>
            <a:prstDash val="solid"/>
          </a:ln>
        </p:spPr>
      </p:sp>
      <p:pic>
        <p:nvPicPr>
          <p:cNvPr id="32" name="Image 3" descr="preencoded.png">    </p:cNvPr>
          <p:cNvPicPr>
            <a:picLocks noChangeAspect="1"/>
          </p:cNvPicPr>
          <p:nvPr/>
        </p:nvPicPr>
        <p:blipFill>
          <a:blip r:embed="rId4"/>
          <a:stretch>
            <a:fillRect/>
          </a:stretch>
        </p:blipFill>
        <p:spPr>
          <a:xfrm>
            <a:off x="11036808" y="2377440"/>
            <a:ext cx="329184" cy="329184"/>
          </a:xfrm>
          <a:prstGeom prst="rect">
            <a:avLst/>
          </a:prstGeom>
        </p:spPr>
      </p:pic>
      <p:sp>
        <p:nvSpPr>
          <p:cNvPr id="33" name="Text 27"/>
          <p:cNvSpPr/>
          <p:nvPr/>
        </p:nvSpPr>
        <p:spPr>
          <a:xfrm>
            <a:off x="9363456" y="3017520"/>
            <a:ext cx="2267712" cy="45720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Déclarer</a:t>
            </a:r>
            <a:endParaRPr lang="en-US" sz="1600" dirty="0"/>
          </a:p>
        </p:txBody>
      </p:sp>
      <p:sp>
        <p:nvSpPr>
          <p:cNvPr id="34" name="Text 28"/>
          <p:cNvSpPr/>
          <p:nvPr/>
        </p:nvSpPr>
        <p:spPr>
          <a:xfrm>
            <a:off x="9363456" y="3456432"/>
            <a:ext cx="2313432" cy="822960"/>
          </a:xfrm>
          <a:prstGeom prst="rect">
            <a:avLst/>
          </a:prstGeom>
          <a:noFill/>
          <a:ln/>
        </p:spPr>
        <p:txBody>
          <a:bodyPr wrap="square" lIns="0" tIns="0" rIns="0" bIns="0" rtlCol="0" anchor="ctr"/>
          <a:lstStyle/>
          <a:p>
            <a:pPr indent="0" marL="0">
              <a:lnSpc>
                <a:spcPct val="105000"/>
              </a:lnSpc>
              <a:buNone/>
            </a:pPr>
            <a:r>
              <a:rPr lang="en-US" sz="1200" dirty="0">
                <a:solidFill>
                  <a:srgbClr val="B4AD9F"/>
                </a:solidFill>
                <a:latin typeface="Calibri" pitchFamily="34" charset="0"/>
                <a:ea typeface="Calibri" pitchFamily="34" charset="-122"/>
                <a:cs typeface="Calibri" pitchFamily="34" charset="-120"/>
              </a:rPr>
              <a:t>Consigner l'événement — même une égratignure.</a:t>
            </a:r>
            <a:endParaRPr lang="en-US" sz="1200" dirty="0"/>
          </a:p>
        </p:txBody>
      </p:sp>
      <p:sp>
        <p:nvSpPr>
          <p:cNvPr id="35" name="Shape 29"/>
          <p:cNvSpPr/>
          <p:nvPr/>
        </p:nvSpPr>
        <p:spPr>
          <a:xfrm>
            <a:off x="548640" y="4846320"/>
            <a:ext cx="11091672" cy="914400"/>
          </a:xfrm>
          <a:prstGeom prst="roundRect">
            <a:avLst>
              <a:gd name="adj" fmla="val 10000"/>
            </a:avLst>
          </a:prstGeom>
          <a:solidFill>
            <a:srgbClr val="2C261D"/>
          </a:solidFill>
          <a:ln w="12700">
            <a:solidFill>
              <a:srgbClr val="F2A93C"/>
            </a:solidFill>
            <a:prstDash val="solid"/>
          </a:ln>
        </p:spPr>
      </p:sp>
      <p:sp>
        <p:nvSpPr>
          <p:cNvPr id="36" name="Shape 30"/>
          <p:cNvSpPr/>
          <p:nvPr/>
        </p:nvSpPr>
        <p:spPr>
          <a:xfrm>
            <a:off x="822960" y="5047488"/>
            <a:ext cx="512064" cy="512064"/>
          </a:xfrm>
          <a:prstGeom prst="oval">
            <a:avLst/>
          </a:prstGeom>
          <a:solidFill>
            <a:srgbClr val="141210"/>
          </a:solidFill>
          <a:ln w="19050">
            <a:solidFill>
              <a:srgbClr val="F2A93C"/>
            </a:solidFill>
            <a:prstDash val="solid"/>
          </a:ln>
        </p:spPr>
      </p:sp>
      <p:pic>
        <p:nvPicPr>
          <p:cNvPr id="37" name="Image 4" descr="preencoded.png">    </p:cNvPr>
          <p:cNvPicPr>
            <a:picLocks noChangeAspect="1"/>
          </p:cNvPicPr>
          <p:nvPr/>
        </p:nvPicPr>
        <p:blipFill>
          <a:blip r:embed="rId5"/>
          <a:stretch>
            <a:fillRect/>
          </a:stretch>
        </p:blipFill>
        <p:spPr>
          <a:xfrm>
            <a:off x="938174" y="5162702"/>
            <a:ext cx="281635" cy="281635"/>
          </a:xfrm>
          <a:prstGeom prst="rect">
            <a:avLst/>
          </a:prstGeom>
        </p:spPr>
      </p:pic>
      <p:sp>
        <p:nvSpPr>
          <p:cNvPr id="38" name="Text 31"/>
          <p:cNvSpPr/>
          <p:nvPr/>
        </p:nvSpPr>
        <p:spPr>
          <a:xfrm>
            <a:off x="1508760" y="4846320"/>
            <a:ext cx="9966960" cy="914400"/>
          </a:xfrm>
          <a:prstGeom prst="rect">
            <a:avLst/>
          </a:prstGeom>
          <a:noFill/>
          <a:ln/>
        </p:spPr>
        <p:txBody>
          <a:bodyPr wrap="square" lIns="0" tIns="0" rIns="0" bIns="0" rtlCol="0" anchor="ctr"/>
          <a:lstStyle/>
          <a:p>
            <a:pPr indent="0" marL="0">
              <a:lnSpc>
                <a:spcPct val="105000"/>
              </a:lnSpc>
              <a:buNone/>
            </a:pPr>
            <a:r>
              <a:rPr lang="en-US" sz="1450" b="1" dirty="0">
                <a:solidFill>
                  <a:srgbClr val="FFFFFF"/>
                </a:solidFill>
                <a:latin typeface="Calibri" pitchFamily="34" charset="0"/>
                <a:ea typeface="Calibri" pitchFamily="34" charset="-122"/>
                <a:cs typeface="Calibri" pitchFamily="34" charset="-120"/>
              </a:rPr>
              <a:t>Un petit incident déclaré aujourd'hui </a:t>
            </a:r>
            <a:pPr indent="0" marL="0">
              <a:lnSpc>
                <a:spcPct val="105000"/>
              </a:lnSpc>
              <a:buNone/>
            </a:pPr>
            <a:r>
              <a:rPr lang="en-US" sz="1450" b="1" i="1" dirty="0">
                <a:solidFill>
                  <a:srgbClr val="F7C775"/>
                </a:solidFill>
                <a:latin typeface="Calibri" pitchFamily="34" charset="0"/>
                <a:ea typeface="Calibri" pitchFamily="34" charset="-122"/>
                <a:cs typeface="Calibri" pitchFamily="34" charset="-120"/>
              </a:rPr>
              <a:t>évite un accident grave demain.</a:t>
            </a:r>
            <a:pPr indent="0" marL="0">
              <a:lnSpc>
                <a:spcPct val="105000"/>
              </a:lnSpc>
              <a:buNone/>
            </a:pPr>
            <a:r>
              <a:rPr lang="en-US" sz="1450" dirty="0">
                <a:solidFill>
                  <a:srgbClr val="B4AD9F"/>
                </a:solidFill>
                <a:latin typeface="Calibri" pitchFamily="34" charset="0"/>
                <a:ea typeface="Calibri" pitchFamily="34" charset="-122"/>
                <a:cs typeface="Calibri" pitchFamily="34" charset="-120"/>
              </a:rPr>
              <a:t>  La déclaration n'est jamais une faute — c'est une force.</a:t>
            </a:r>
            <a:endParaRPr lang="en-US" sz="1450" dirty="0"/>
          </a:p>
        </p:txBody>
      </p:sp>
      <p:sp>
        <p:nvSpPr>
          <p:cNvPr id="39" name="Text 3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850" dirty="0">
                <a:solidFill>
                  <a:srgbClr val="857E70"/>
                </a:solidFill>
                <a:latin typeface="Calibri" pitchFamily="34" charset="0"/>
                <a:ea typeface="Calibri" pitchFamily="34" charset="-122"/>
                <a:cs typeface="Calibri" pitchFamily="34" charset="-120"/>
              </a:rPr>
              <a:t>Santé-Sécurité · Prévention des blessures aux mains</a:t>
            </a:r>
            <a:endParaRPr lang="en-US" sz="850" dirty="0"/>
          </a:p>
        </p:txBody>
      </p:sp>
      <p:sp>
        <p:nvSpPr>
          <p:cNvPr id="40" name="Text 33"/>
          <p:cNvSpPr/>
          <p:nvPr/>
        </p:nvSpPr>
        <p:spPr>
          <a:xfrm>
            <a:off x="11185855" y="6437376"/>
            <a:ext cx="457200" cy="274320"/>
          </a:xfrm>
          <a:prstGeom prst="rect">
            <a:avLst/>
          </a:prstGeom>
          <a:noFill/>
          <a:ln/>
        </p:spPr>
        <p:txBody>
          <a:bodyPr wrap="square" lIns="0" tIns="0" rIns="0" bIns="0" rtlCol="0" anchor="ctr"/>
          <a:lstStyle/>
          <a:p>
            <a:pPr algn="r" indent="0" marL="0">
              <a:buNone/>
            </a:pPr>
            <a:r>
              <a:rPr lang="en-US" sz="1100" dirty="0">
                <a:solidFill>
                  <a:srgbClr val="F2A93C"/>
                </a:solidFill>
                <a:latin typeface="Cambria" pitchFamily="34" charset="0"/>
                <a:ea typeface="Cambria" pitchFamily="34" charset="-122"/>
                <a:cs typeface="Cambria"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210"/>
        </a:solidFill>
      </p:bgPr>
    </p:bg>
    <p:spTree>
      <p:nvGrpSpPr>
        <p:cNvPr id="1" name=""/>
        <p:cNvGrpSpPr/>
        <p:nvPr/>
      </p:nvGrpSpPr>
      <p:grpSpPr>
        <a:xfrm>
          <a:off x="0" y="0"/>
          <a:ext cx="0" cy="0"/>
          <a:chOff x="0" y="0"/>
          <a:chExt cx="0" cy="0"/>
        </a:xfrm>
      </p:grpSpPr>
      <p:sp>
        <p:nvSpPr>
          <p:cNvPr id="2" name="Shape 0"/>
          <p:cNvSpPr/>
          <p:nvPr/>
        </p:nvSpPr>
        <p:spPr>
          <a:xfrm>
            <a:off x="8138160" y="0"/>
            <a:ext cx="4053535" cy="6858000"/>
          </a:xfrm>
          <a:prstGeom prst="rect">
            <a:avLst/>
          </a:prstGeom>
          <a:solidFill>
            <a:srgbClr val="1B1712"/>
          </a:solidFill>
          <a:ln/>
        </p:spPr>
      </p:sp>
      <p:sp>
        <p:nvSpPr>
          <p:cNvPr id="3" name="Shape 1"/>
          <p:cNvSpPr/>
          <p:nvPr/>
        </p:nvSpPr>
        <p:spPr>
          <a:xfrm>
            <a:off x="8503920" y="1737360"/>
            <a:ext cx="3566160" cy="3566160"/>
          </a:xfrm>
          <a:prstGeom prst="oval">
            <a:avLst/>
          </a:prstGeom>
          <a:ln w="12700">
            <a:solidFill>
              <a:srgbClr val="3C352A"/>
            </a:solidFill>
            <a:prstDash val="solid"/>
          </a:ln>
        </p:spPr>
      </p:sp>
      <p:sp>
        <p:nvSpPr>
          <p:cNvPr id="4" name="Shape 2"/>
          <p:cNvSpPr/>
          <p:nvPr/>
        </p:nvSpPr>
        <p:spPr>
          <a:xfrm>
            <a:off x="9006840" y="2240280"/>
            <a:ext cx="2560320" cy="2560320"/>
          </a:xfrm>
          <a:prstGeom prst="oval">
            <a:avLst/>
          </a:prstGeom>
          <a:solidFill>
            <a:srgbClr val="231E17"/>
          </a:solidFill>
          <a:ln w="15875">
            <a:solidFill>
              <a:srgbClr val="C9852A"/>
            </a:solidFill>
            <a:prstDash val="solid"/>
          </a:ln>
        </p:spPr>
      </p:sp>
      <p:sp>
        <p:nvSpPr>
          <p:cNvPr id="5" name="Shape 3"/>
          <p:cNvSpPr/>
          <p:nvPr/>
        </p:nvSpPr>
        <p:spPr>
          <a:xfrm>
            <a:off x="9692640" y="2926080"/>
            <a:ext cx="1188720" cy="1188720"/>
          </a:xfrm>
          <a:prstGeom prst="oval">
            <a:avLst/>
          </a:prstGeom>
          <a:solidFill>
            <a:srgbClr val="231E17"/>
          </a:solidFill>
          <a:ln w="19050">
            <a:solidFill>
              <a:srgbClr val="F2A93C"/>
            </a:solidFill>
            <a:prstDash val="solid"/>
          </a:ln>
        </p:spPr>
      </p:sp>
      <p:pic>
        <p:nvPicPr>
          <p:cNvPr id="6" name="Image 0" descr="preencoded.png">    </p:cNvPr>
          <p:cNvPicPr>
            <a:picLocks noChangeAspect="1"/>
          </p:cNvPicPr>
          <p:nvPr/>
        </p:nvPicPr>
        <p:blipFill>
          <a:blip r:embed="rId1"/>
          <a:stretch>
            <a:fillRect/>
          </a:stretch>
        </p:blipFill>
        <p:spPr>
          <a:xfrm>
            <a:off x="9930384" y="3163824"/>
            <a:ext cx="713232" cy="713232"/>
          </a:xfrm>
          <a:prstGeom prst="rect">
            <a:avLst/>
          </a:prstGeom>
        </p:spPr>
      </p:pic>
      <p:sp>
        <p:nvSpPr>
          <p:cNvPr id="7" name="Shape 4"/>
          <p:cNvSpPr/>
          <p:nvPr/>
        </p:nvSpPr>
        <p:spPr>
          <a:xfrm>
            <a:off x="8549640" y="5440680"/>
            <a:ext cx="3291840" cy="457200"/>
          </a:xfrm>
          <a:prstGeom prst="roundRect">
            <a:avLst>
              <a:gd name="adj" fmla="val 16000"/>
            </a:avLst>
          </a:prstGeom>
          <a:solidFill>
            <a:srgbClr val="2C261D"/>
          </a:solidFill>
          <a:ln w="9525">
            <a:solidFill>
              <a:srgbClr val="C9852A"/>
            </a:solidFill>
            <a:prstDash val="solid"/>
          </a:ln>
        </p:spPr>
      </p:sp>
      <p:sp>
        <p:nvSpPr>
          <p:cNvPr id="8" name="Text 5"/>
          <p:cNvSpPr/>
          <p:nvPr/>
        </p:nvSpPr>
        <p:spPr>
          <a:xfrm>
            <a:off x="8549640" y="5440680"/>
            <a:ext cx="3291840" cy="457200"/>
          </a:xfrm>
          <a:prstGeom prst="rect">
            <a:avLst/>
          </a:prstGeom>
          <a:noFill/>
          <a:ln/>
        </p:spPr>
        <p:txBody>
          <a:bodyPr wrap="square" lIns="0" tIns="0" rIns="0" bIns="0" rtlCol="0" anchor="ctr"/>
          <a:lstStyle/>
          <a:p>
            <a:pPr algn="ctr" indent="0" marL="0">
              <a:buNone/>
            </a:pPr>
            <a:r>
              <a:rPr lang="en-US" sz="1100" dirty="0">
                <a:solidFill>
                  <a:srgbClr val="F2A93C"/>
                </a:solidFill>
                <a:latin typeface="Calibri" pitchFamily="34" charset="0"/>
                <a:ea typeface="Calibri" pitchFamily="34" charset="-122"/>
                <a:cs typeface="Calibri" pitchFamily="34" charset="-120"/>
              </a:rPr>
              <a:t>▶  </a:t>
            </a:r>
            <a:pPr algn="ctr" indent="0" marL="0">
              <a:buNone/>
            </a:pPr>
            <a:r>
              <a:rPr lang="en-US" sz="1100" dirty="0">
                <a:solidFill>
                  <a:srgbClr val="ECE7DD"/>
                </a:solidFill>
                <a:latin typeface="Calibri" pitchFamily="34" charset="0"/>
                <a:ea typeface="Calibri" pitchFamily="34" charset="-122"/>
                <a:cs typeface="Calibri" pitchFamily="34" charset="-120"/>
              </a:rPr>
              <a:t>Vidéo de clôture Higgsfield</a:t>
            </a:r>
            <a:endParaRPr lang="en-US" sz="1100" dirty="0"/>
          </a:p>
        </p:txBody>
      </p:sp>
      <p:sp>
        <p:nvSpPr>
          <p:cNvPr id="9" name="Shape 6"/>
          <p:cNvSpPr/>
          <p:nvPr/>
        </p:nvSpPr>
        <p:spPr>
          <a:xfrm>
            <a:off x="548640" y="457200"/>
            <a:ext cx="341986" cy="341986"/>
          </a:xfrm>
          <a:prstGeom prst="roundRect">
            <a:avLst>
              <a:gd name="adj" fmla="val 17647"/>
            </a:avLst>
          </a:prstGeom>
          <a:solidFill>
            <a:srgbClr val="F2A93C"/>
          </a:solidFill>
          <a:ln/>
        </p:spPr>
      </p:sp>
      <p:sp>
        <p:nvSpPr>
          <p:cNvPr id="10" name="Shape 7"/>
          <p:cNvSpPr/>
          <p:nvPr/>
        </p:nvSpPr>
        <p:spPr>
          <a:xfrm rot="5400000">
            <a:off x="651236" y="546116"/>
            <a:ext cx="150474" cy="164153"/>
          </a:xfrm>
          <a:prstGeom prst="triangle">
            <a:avLst/>
          </a:prstGeom>
          <a:solidFill>
            <a:srgbClr val="141210"/>
          </a:solidFill>
          <a:ln/>
        </p:spPr>
      </p:sp>
      <p:sp>
        <p:nvSpPr>
          <p:cNvPr id="11" name="Text 8"/>
          <p:cNvSpPr/>
          <p:nvPr/>
        </p:nvSpPr>
        <p:spPr>
          <a:xfrm>
            <a:off x="1000354" y="406908"/>
            <a:ext cx="2414016" cy="433426"/>
          </a:xfrm>
          <a:prstGeom prst="rect">
            <a:avLst/>
          </a:prstGeom>
          <a:noFill/>
          <a:ln/>
        </p:spPr>
        <p:txBody>
          <a:bodyPr wrap="square" lIns="0" tIns="0" rIns="0" bIns="0" rtlCol="0" anchor="ctr"/>
          <a:lstStyle/>
          <a:p>
            <a:pPr algn="l" indent="0" marL="0">
              <a:buNone/>
            </a:pPr>
            <a:r>
              <a:rPr lang="en-US" sz="1870" b="1" dirty="0">
                <a:solidFill>
                  <a:srgbClr val="FFFFFF"/>
                </a:solidFill>
                <a:latin typeface="Cambria" pitchFamily="34" charset="0"/>
                <a:ea typeface="Cambria" pitchFamily="34" charset="-122"/>
                <a:cs typeface="Cambria" pitchFamily="34" charset="-120"/>
              </a:rPr>
              <a:t>Dhilmar</a:t>
            </a:r>
            <a:endParaRPr lang="en-US" sz="1870" dirty="0"/>
          </a:p>
        </p:txBody>
      </p:sp>
      <p:sp>
        <p:nvSpPr>
          <p:cNvPr id="12" name="Text 9"/>
          <p:cNvSpPr/>
          <p:nvPr/>
        </p:nvSpPr>
        <p:spPr>
          <a:xfrm>
            <a:off x="566928" y="1965960"/>
            <a:ext cx="7223760" cy="320040"/>
          </a:xfrm>
          <a:prstGeom prst="rect">
            <a:avLst/>
          </a:prstGeom>
          <a:noFill/>
          <a:ln/>
        </p:spPr>
        <p:txBody>
          <a:bodyPr wrap="square" lIns="0" tIns="0" rIns="0" bIns="0" rtlCol="0" anchor="ctr"/>
          <a:lstStyle/>
          <a:p>
            <a:pPr indent="0" marL="0">
              <a:buNone/>
            </a:pPr>
            <a:r>
              <a:rPr lang="en-US" sz="1300" b="1" spc="300" kern="0" dirty="0">
                <a:solidFill>
                  <a:srgbClr val="F2A93C"/>
                </a:solidFill>
                <a:latin typeface="Calibri" pitchFamily="34" charset="0"/>
                <a:ea typeface="Calibri" pitchFamily="34" charset="-122"/>
                <a:cs typeface="Calibri" pitchFamily="34" charset="-120"/>
              </a:rPr>
              <a:t>NOTRE ENGAGEMENT</a:t>
            </a:r>
            <a:endParaRPr lang="en-US" sz="1300" dirty="0"/>
          </a:p>
        </p:txBody>
      </p:sp>
      <p:sp>
        <p:nvSpPr>
          <p:cNvPr id="13" name="Text 10"/>
          <p:cNvSpPr/>
          <p:nvPr/>
        </p:nvSpPr>
        <p:spPr>
          <a:xfrm>
            <a:off x="502920" y="2377440"/>
            <a:ext cx="7315200" cy="2011680"/>
          </a:xfrm>
          <a:prstGeom prst="rect">
            <a:avLst/>
          </a:prstGeom>
          <a:noFill/>
          <a:ln/>
        </p:spPr>
        <p:txBody>
          <a:bodyPr wrap="square" lIns="0" tIns="0" rIns="0" bIns="0" rtlCol="0" anchor="ctr"/>
          <a:lstStyle/>
          <a:p>
            <a:pPr indent="0" marL="0">
              <a:lnSpc>
                <a:spcPct val="106000"/>
              </a:lnSpc>
              <a:buNone/>
            </a:pPr>
            <a:r>
              <a:rPr lang="en-US" sz="3300" b="1" dirty="0">
                <a:solidFill>
                  <a:srgbClr val="FFFFFF"/>
                </a:solidFill>
                <a:latin typeface="Cambria" pitchFamily="34" charset="0"/>
                <a:ea typeface="Cambria" pitchFamily="34" charset="-122"/>
                <a:cs typeface="Cambria" pitchFamily="34" charset="-120"/>
              </a:rPr>
              <a:t>Chez Dhilmar, on rentre à la maison avec toutes nos mains.</a:t>
            </a:r>
            <a:endParaRPr lang="en-US" sz="3300" dirty="0"/>
          </a:p>
        </p:txBody>
      </p:sp>
      <p:sp>
        <p:nvSpPr>
          <p:cNvPr id="14" name="Text 11"/>
          <p:cNvSpPr/>
          <p:nvPr/>
        </p:nvSpPr>
        <p:spPr>
          <a:xfrm>
            <a:off x="548640" y="4526280"/>
            <a:ext cx="7223760" cy="640080"/>
          </a:xfrm>
          <a:prstGeom prst="rect">
            <a:avLst/>
          </a:prstGeom>
          <a:noFill/>
          <a:ln/>
        </p:spPr>
        <p:txBody>
          <a:bodyPr wrap="square" lIns="0" tIns="0" rIns="0" bIns="0" rtlCol="0" anchor="ctr"/>
          <a:lstStyle/>
          <a:p>
            <a:pPr indent="0" marL="0">
              <a:lnSpc>
                <a:spcPct val="110000"/>
              </a:lnSpc>
              <a:buNone/>
            </a:pPr>
            <a:r>
              <a:rPr lang="en-US" sz="1500" i="1" dirty="0">
                <a:solidFill>
                  <a:srgbClr val="F7C775"/>
                </a:solidFill>
                <a:latin typeface="Calibri" pitchFamily="34" charset="0"/>
                <a:ea typeface="Calibri" pitchFamily="34" charset="-122"/>
                <a:cs typeface="Calibri" pitchFamily="34" charset="-120"/>
              </a:rPr>
              <a:t>La sécurité des mains, c'est l'affaire de chacun — à chaque quart, à chaque geste.</a:t>
            </a:r>
            <a:endParaRPr lang="en-US" sz="1500" dirty="0"/>
          </a:p>
        </p:txBody>
      </p:sp>
      <p:sp>
        <p:nvSpPr>
          <p:cNvPr id="15" name="Shape 12"/>
          <p:cNvSpPr/>
          <p:nvPr/>
        </p:nvSpPr>
        <p:spPr>
          <a:xfrm>
            <a:off x="566928" y="5349240"/>
            <a:ext cx="2743200" cy="0"/>
          </a:xfrm>
          <a:prstGeom prst="line">
            <a:avLst/>
          </a:prstGeom>
          <a:noFill/>
          <a:ln w="12700">
            <a:solidFill>
              <a:srgbClr val="3C352A"/>
            </a:solidFill>
            <a:prstDash val="solid"/>
          </a:ln>
        </p:spPr>
      </p:sp>
      <p:sp>
        <p:nvSpPr>
          <p:cNvPr id="16" name="Text 13"/>
          <p:cNvSpPr/>
          <p:nvPr/>
        </p:nvSpPr>
        <p:spPr>
          <a:xfrm>
            <a:off x="566928" y="5532120"/>
            <a:ext cx="7315200" cy="45720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Merci.  </a:t>
            </a:r>
            <a:pPr indent="0" marL="0">
              <a:buNone/>
            </a:pPr>
            <a:r>
              <a:rPr lang="en-US" sz="1400" dirty="0">
                <a:solidFill>
                  <a:srgbClr val="B4AD9F"/>
                </a:solidFill>
                <a:latin typeface="Calibri" pitchFamily="34" charset="0"/>
                <a:ea typeface="Calibri" pitchFamily="34" charset="-122"/>
                <a:cs typeface="Calibri" pitchFamily="34" charset="-120"/>
              </a:rPr>
              <a:t>Questions &amp; discussion.</a:t>
            </a:r>
            <a:endParaRPr lang="en-US" sz="1800" dirty="0"/>
          </a:p>
        </p:txBody>
      </p:sp>
      <p:sp>
        <p:nvSpPr>
          <p:cNvPr id="17" name="Text 14"/>
          <p:cNvSpPr/>
          <p:nvPr/>
        </p:nvSpPr>
        <p:spPr>
          <a:xfrm>
            <a:off x="566928" y="6400800"/>
            <a:ext cx="7315200" cy="274320"/>
          </a:xfrm>
          <a:prstGeom prst="rect">
            <a:avLst/>
          </a:prstGeom>
          <a:noFill/>
          <a:ln/>
        </p:spPr>
        <p:txBody>
          <a:bodyPr wrap="square" lIns="0" tIns="0" rIns="0" bIns="0" rtlCol="0" anchor="ctr"/>
          <a:lstStyle/>
          <a:p>
            <a:pPr indent="0" marL="0">
              <a:buNone/>
            </a:pPr>
            <a:r>
              <a:rPr lang="en-US" sz="1000" dirty="0">
                <a:solidFill>
                  <a:srgbClr val="857E70"/>
                </a:solidFill>
                <a:latin typeface="Calibri" pitchFamily="34" charset="0"/>
                <a:ea typeface="Calibri" pitchFamily="34" charset="-122"/>
                <a:cs typeface="Calibri" pitchFamily="34" charset="-120"/>
              </a:rPr>
              <a:t>Dhilmar — Mine Éléonore · Santé-Sécurité</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Prévention des blessures aux mains — Mine Éléonore</dc:title>
  <dc:subject>PptxGenJS Presentation</dc:subject>
  <dc:creator>Dhilmar — Santé-Sécurité</dc:creator>
  <cp:lastModifiedBy>Dhilmar — Santé-Sécurité</cp:lastModifiedBy>
  <cp:revision>1</cp:revision>
  <dcterms:created xsi:type="dcterms:W3CDTF">2026-07-21T07:35:31Z</dcterms:created>
  <dcterms:modified xsi:type="dcterms:W3CDTF">2026-07-21T07:35:31Z</dcterms:modified>
</cp:coreProperties>
</file>