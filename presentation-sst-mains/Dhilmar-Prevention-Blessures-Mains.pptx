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F2A93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41210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Lacérations</c:v>
                  </c:pt>
                  <c:pt idx="1">
                    <c:v>Fractures</c:v>
                  </c:pt>
                  <c:pt idx="2">
                    <c:v>Autres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</c:v>
                </c:pt>
                <c:pt idx="1">
                  <c:v>26</c:v>
                </c:pt>
                <c:pt idx="2">
                  <c:v>21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41210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ECE7D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Ouverture. Ton : sérieux mais bienveillant. Objectif : nos mains sont notre outil no 1 et elles sont exposées chaque jour. Vidéo d'ouverture Higgsfield (tunnel) — voir MEDIA.md pour le lien. Insérer le clip sur cette diapo (glisser-déposer le MP4).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Cadrer la rencontre. 4 objectifs. Insister : la sécurité des mains n'est pas une contrainte, c'est un réflexe qui protège toute une carrière.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Accroche émotionnelle. Faire lever la main : « qui utilise ses mains toute la journée ? ». 27 os par main. Aucune pièce de rechange. Source : anatomie humaine; OSHA/BLS pour le 1 M+.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Marteler les chiffres. Le 70 % (aucun gant) et le 71 % (évitable) sont le cœur du message : la très grande majorité de ces blessures sont évitables. Sources indiquées sur chaque carte : NSC, OSHA, CNESST, NIOSH.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lacérations (53 %) et fractures (26 %) dominent. Le coût médian (13 700–16 200 $) parle aux gestionnaires ET rappelle l'impact humain. Vibrations : enjeu réel avec la foreuse et les outils — gants anti-vibration + rotation des tâches. Sources : MSHA/NIOSH, IRSST.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 central de la présentation. La « ligne de tir » (line of fire) = trajectoire d'une énergie qui peut atteindre la main. Faire nommer aux participants des exemples concrets à Éléonore. Réflexe : « si ça bouge, où va ma main 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familles de causes. La plupart se recoupent avec la ligne de tir. Souligner cadenassage (énergie) et le choix du gant, qui reviennent plus loin.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vidéo. Une main dans la ligne de tir : ça va vite. Insérer le clip Higgsfield (danger / ligne de tir) dans le cadre : Insertion &gt; Vidéo &gt; à partir d'un fichier, puis ajuster au cadre. Lien direct du MP4 dans MEDIA.md.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clé de culture SST : le gant est en BAS de la hiérarchie. On élimine et on protège la source AVANT de compter sur l'ÉPI. Le gant reste essentiel comme dernière barrière.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Checklist des réflexes. Insister sur le cadenassage et le fait de ne jamais retirer un gant près d'une rotation (risque d'entraînement). La règle d'or : le droit et le devoir d'arrêter le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Tableau de sélection. Rappeler qu'un gant anti-coupure NE protège PAS contre les pièces en rotation (risque d'entraînement). Adapter le gant à la tâche. Source : ASP Mines, normes EN 388 / EN 374 / EN ISO 10819 / EN 511.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vidéo. Mains protégées, contrôlées, dégagées. Insérer le clip Higgsfield (bonne méthode / gants) dans le cadre : Insertion &gt; Vidéo &gt; à partir d'un fichier, puis ajuster au cadre. Lien direct du MP4 dans MEDIA.md.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Processus en 4 étapes. Message anti-sous-déclaration : déclarer une égratignure ou un « presqu'accident » permet de corriger avant l'accident grave. Rappeler les numéros/infirmerie du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Clôture. Rappeler l'engagement collectif et le droit d'arrêt de travail. Vidéo de clôture Higgsfield (équipe, lever de soleil) — voir MEDIA.md. Ouvrir la discussion.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0"/>
            <a:ext cx="4236415" cy="6858000"/>
          </a:xfrm>
          <a:prstGeom prst="rect">
            <a:avLst/>
          </a:prstGeom>
          <a:solidFill>
            <a:srgbClr val="1B1712"/>
          </a:solidFill>
          <a:ln/>
        </p:spPr>
      </p:sp>
      <p:sp>
        <p:nvSpPr>
          <p:cNvPr id="3" name="Shape 1"/>
          <p:cNvSpPr/>
          <p:nvPr/>
        </p:nvSpPr>
        <p:spPr>
          <a:xfrm>
            <a:off x="8366760" y="1463040"/>
            <a:ext cx="3931920" cy="3931920"/>
          </a:xfrm>
          <a:prstGeom prst="oval">
            <a:avLst/>
          </a:prstGeom>
          <a:ln w="12700">
            <a:solidFill>
              <a:srgbClr val="3C35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15400" y="2011680"/>
            <a:ext cx="2834640" cy="2834640"/>
          </a:xfrm>
          <a:prstGeom prst="oval">
            <a:avLst/>
          </a:prstGeom>
          <a:solidFill>
            <a:srgbClr val="231E17"/>
          </a:solidFill>
          <a:ln w="15875">
            <a:solidFill>
              <a:srgbClr val="C9852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25146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732520" y="5074920"/>
            <a:ext cx="3200400" cy="457200"/>
          </a:xfrm>
          <a:prstGeom prst="roundRect">
            <a:avLst>
              <a:gd name="adj" fmla="val 16000"/>
            </a:avLst>
          </a:prstGeom>
          <a:solidFill>
            <a:srgbClr val="2C261D"/>
          </a:solidFill>
          <a:ln w="9525">
            <a:solidFill>
              <a:srgbClr val="C9852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32520" y="50749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algn="ctr" indent="0" marL="0">
              <a:buNone/>
            </a:pPr>
            <a:r>
              <a:rPr lang="en-US" sz="11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d'ouverture Higgsfield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"/>
            <a:ext cx="357530" cy="357530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9" name="Shape 6"/>
          <p:cNvSpPr/>
          <p:nvPr/>
        </p:nvSpPr>
        <p:spPr>
          <a:xfrm rot="5400000">
            <a:off x="655899" y="550158"/>
            <a:ext cx="157313" cy="171615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10" name="Text 7"/>
          <p:cNvSpPr/>
          <p:nvPr/>
        </p:nvSpPr>
        <p:spPr>
          <a:xfrm>
            <a:off x="1015898" y="404622"/>
            <a:ext cx="2523744" cy="448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5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955" dirty="0"/>
          </a:p>
        </p:txBody>
      </p:sp>
      <p:sp>
        <p:nvSpPr>
          <p:cNvPr id="11" name="Text 8"/>
          <p:cNvSpPr/>
          <p:nvPr/>
        </p:nvSpPr>
        <p:spPr>
          <a:xfrm>
            <a:off x="548640" y="960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indent="0" marL="0">
              <a:buNone/>
            </a:pPr>
            <a:r>
              <a:rPr lang="en-US" sz="11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66928" y="2331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 · SÉCURITÉ AU TRAVAIL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269748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sécurité</a:t>
            </a:r>
            <a:endParaRPr lang="en-US" sz="5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vos mains</a:t>
            </a:r>
            <a:endParaRPr lang="en-US" sz="5200" dirty="0"/>
          </a:p>
        </p:txBody>
      </p:sp>
      <p:sp>
        <p:nvSpPr>
          <p:cNvPr id="14" name="Text 11"/>
          <p:cNvSpPr/>
          <p:nvPr/>
        </p:nvSpPr>
        <p:spPr>
          <a:xfrm>
            <a:off x="548640" y="452628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7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Prévention des blessures aux mains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66928" y="5257800"/>
            <a:ext cx="2743200" cy="0"/>
          </a:xfrm>
          <a:prstGeom prst="line">
            <a:avLst/>
          </a:prstGeom>
          <a:noFill/>
          <a:ln w="12700">
            <a:solidFill>
              <a:srgbClr val="3C352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53949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Rencontre santé-sécurité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Dhilmar — Mine Éléonore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CETTE RENCONTRE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Objectifs de la rencontre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486400" cy="2057400"/>
          </a:xfrm>
          <a:prstGeom prst="roundRect">
            <a:avLst>
              <a:gd name="adj" fmla="val 4000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167128"/>
            <a:ext cx="914400" cy="91440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395728"/>
            <a:ext cx="457200" cy="4572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937760" y="20391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C35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2011680" y="21854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Comprendre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011680" y="271576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nos mains sont autant exposées dans nos opérations.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53912" y="1783080"/>
            <a:ext cx="5486400" cy="2057400"/>
          </a:xfrm>
          <a:prstGeom prst="roundRect">
            <a:avLst>
              <a:gd name="adj" fmla="val 4000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519672" y="2167128"/>
            <a:ext cx="914400" cy="91440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2395728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0543032" y="20391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C35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8" name="Text 14"/>
          <p:cNvSpPr/>
          <p:nvPr/>
        </p:nvSpPr>
        <p:spPr>
          <a:xfrm>
            <a:off x="7616952" y="218541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Reconnaître</a:t>
            </a:r>
            <a:endParaRPr lang="en-US" sz="2100" dirty="0"/>
          </a:p>
        </p:txBody>
      </p:sp>
      <p:sp>
        <p:nvSpPr>
          <p:cNvPr id="19" name="Text 15"/>
          <p:cNvSpPr/>
          <p:nvPr/>
        </p:nvSpPr>
        <p:spPr>
          <a:xfrm>
            <a:off x="7616952" y="271576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Repérer la « ligne de tir » et les points de pincement.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548640" y="4005072"/>
            <a:ext cx="5486400" cy="2057400"/>
          </a:xfrm>
          <a:prstGeom prst="roundRect">
            <a:avLst>
              <a:gd name="adj" fmla="val 4000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14400" y="4389120"/>
            <a:ext cx="914400" cy="91440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4617720"/>
            <a:ext cx="457200" cy="457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937760" y="4261104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C35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24" name="Text 19"/>
          <p:cNvSpPr/>
          <p:nvPr/>
        </p:nvSpPr>
        <p:spPr>
          <a:xfrm>
            <a:off x="2011680" y="44074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Choisir</a:t>
            </a:r>
            <a:endParaRPr lang="en-US" sz="2100" dirty="0"/>
          </a:p>
        </p:txBody>
      </p:sp>
      <p:sp>
        <p:nvSpPr>
          <p:cNvPr id="25" name="Text 20"/>
          <p:cNvSpPr/>
          <p:nvPr/>
        </p:nvSpPr>
        <p:spPr>
          <a:xfrm>
            <a:off x="201168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Sélectionner et porter le bon gant pour chaque tâche.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6153912" y="4005072"/>
            <a:ext cx="5486400" cy="2057400"/>
          </a:xfrm>
          <a:prstGeom prst="roundRect">
            <a:avLst>
              <a:gd name="adj" fmla="val 4000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519672" y="4389120"/>
            <a:ext cx="914400" cy="91440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46177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0543032" y="4261104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C35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30" name="Text 24"/>
          <p:cNvSpPr/>
          <p:nvPr/>
        </p:nvSpPr>
        <p:spPr>
          <a:xfrm>
            <a:off x="7616952" y="44074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Réagir</a:t>
            </a:r>
            <a:endParaRPr lang="en-US" sz="2100" dirty="0"/>
          </a:p>
        </p:txBody>
      </p:sp>
      <p:sp>
        <p:nvSpPr>
          <p:cNvPr id="31" name="Text 25"/>
          <p:cNvSpPr/>
          <p:nvPr/>
        </p:nvSpPr>
        <p:spPr>
          <a:xfrm>
            <a:off x="7616952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Réagir vite et déclarer — même une simple égratignure.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33" name="Text 27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PROTÉGEONS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Vos mains, votre outil le plus précieux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548640" y="196596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Irremplaçables.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os, des dizaines de muscles, de tendons, de vaisseaux et de nerfs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un espace minuscule.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seconde d'inattention peut coûter </a:t>
            </a:r>
            <a:pPr indent="0" marL="0">
              <a:lnSpc>
                <a:spcPct val="115000"/>
              </a:lnSpc>
              <a:buNone/>
            </a:pPr>
            <a:r>
              <a:rPr lang="en-US" sz="1700" b="1" i="1" dirty="0">
                <a:solidFill>
                  <a:srgbClr val="F7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mobilité — à vie.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4709160"/>
            <a:ext cx="6583680" cy="868680"/>
          </a:xfrm>
          <a:prstGeom prst="roundRect">
            <a:avLst>
              <a:gd name="adj" fmla="val 9474"/>
            </a:avLst>
          </a:prstGeom>
          <a:solidFill>
            <a:srgbClr val="2C261D"/>
          </a:solidFill>
          <a:ln w="9525">
            <a:solidFill>
              <a:srgbClr val="C985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4910328"/>
            <a:ext cx="475488" cy="475488"/>
          </a:xfrm>
          <a:prstGeom prst="oval">
            <a:avLst/>
          </a:prstGeom>
          <a:solidFill>
            <a:srgbClr val="141210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225" y="5017313"/>
            <a:ext cx="261518" cy="26151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17320" y="470916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Contrairement à un outil,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mains n'ont aucune pièce de rechange.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635240" y="1783080"/>
            <a:ext cx="3977640" cy="1874520"/>
          </a:xfrm>
          <a:prstGeom prst="roundRect">
            <a:avLst>
              <a:gd name="adj" fmla="val 4878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55280" y="2057400"/>
            <a:ext cx="777240" cy="77724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9590" y="2251710"/>
            <a:ext cx="388620" cy="38862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869680" y="19202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5800" dirty="0"/>
          </a:p>
        </p:txBody>
      </p:sp>
      <p:sp>
        <p:nvSpPr>
          <p:cNvPr id="19" name="Text 15"/>
          <p:cNvSpPr/>
          <p:nvPr/>
        </p:nvSpPr>
        <p:spPr>
          <a:xfrm>
            <a:off x="891540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par main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955280" y="31546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soit plus du quart des os de tout le corps humain.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635240" y="3794760"/>
            <a:ext cx="3977640" cy="1783080"/>
          </a:xfrm>
          <a:prstGeom prst="roundRect">
            <a:avLst>
              <a:gd name="adj" fmla="val 5128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955280" y="4069080"/>
            <a:ext cx="777240" cy="777240"/>
          </a:xfrm>
          <a:prstGeom prst="oval">
            <a:avLst/>
          </a:prstGeom>
          <a:solidFill>
            <a:srgbClr val="1B1712"/>
          </a:solidFill>
          <a:ln w="19050">
            <a:solidFill>
              <a:srgbClr val="E4572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9590" y="4263390"/>
            <a:ext cx="388620" cy="38862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869680" y="3977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M+</a:t>
            </a:r>
            <a:endParaRPr lang="en-US" sz="4600" dirty="0"/>
          </a:p>
        </p:txBody>
      </p:sp>
      <p:sp>
        <p:nvSpPr>
          <p:cNvPr id="25" name="Text 20"/>
          <p:cNvSpPr/>
          <p:nvPr/>
        </p:nvSpPr>
        <p:spPr>
          <a:xfrm>
            <a:off x="7955280" y="475488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travailleurs traités à l'urgence chaque année pour une blessure à la main (É.-U.).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7635240" y="64556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OSHA / BLS.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RÉALITÉ EN CHIFFRES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chiffres qui parlent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5486400" cy="2011680"/>
          </a:xfrm>
          <a:prstGeom prst="roundRect">
            <a:avLst>
              <a:gd name="adj" fmla="val 4091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83480" y="2075688"/>
            <a:ext cx="731520" cy="731520"/>
          </a:xfrm>
          <a:prstGeom prst="oval">
            <a:avLst/>
          </a:prstGeom>
          <a:solidFill>
            <a:srgbClr val="1B1712"/>
          </a:solidFill>
          <a:ln w="19050">
            <a:solidFill>
              <a:srgbClr val="C9852A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2258568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" y="200253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70 %</a:t>
            </a:r>
            <a:endParaRPr lang="en-US" sz="5200" dirty="0"/>
          </a:p>
        </p:txBody>
      </p:sp>
      <p:sp>
        <p:nvSpPr>
          <p:cNvPr id="12" name="Text 9"/>
          <p:cNvSpPr/>
          <p:nvPr/>
        </p:nvSpPr>
        <p:spPr>
          <a:xfrm>
            <a:off x="914400" y="299008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blessures aux mains surviennent sans aucun gant porté.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14400" y="3410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Safety Council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53912" y="1783080"/>
            <a:ext cx="5486400" cy="2011680"/>
          </a:xfrm>
          <a:prstGeom prst="roundRect">
            <a:avLst>
              <a:gd name="adj" fmla="val 4091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588752" y="2075688"/>
            <a:ext cx="731520" cy="731520"/>
          </a:xfrm>
          <a:prstGeom prst="oval">
            <a:avLst/>
          </a:prstGeom>
          <a:solidFill>
            <a:srgbClr val="1B1712"/>
          </a:solidFill>
          <a:ln w="19050">
            <a:solidFill>
              <a:srgbClr val="C9852A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2258568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483096" y="2002536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71 %</a:t>
            </a:r>
            <a:endParaRPr lang="en-US" sz="5200" dirty="0"/>
          </a:p>
        </p:txBody>
      </p:sp>
      <p:sp>
        <p:nvSpPr>
          <p:cNvPr id="18" name="Text 14"/>
          <p:cNvSpPr/>
          <p:nvPr/>
        </p:nvSpPr>
        <p:spPr>
          <a:xfrm>
            <a:off x="6519672" y="299008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blessures aux mains sont évitables avec le bon ÉPI.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6519672" y="34107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OSHA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548640" y="3959352"/>
            <a:ext cx="5486400" cy="2011680"/>
          </a:xfrm>
          <a:prstGeom prst="roundRect">
            <a:avLst>
              <a:gd name="adj" fmla="val 4091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983480" y="4251960"/>
            <a:ext cx="731520" cy="731520"/>
          </a:xfrm>
          <a:prstGeom prst="oval">
            <a:avLst/>
          </a:prstGeom>
          <a:solidFill>
            <a:srgbClr val="1B1712"/>
          </a:solidFill>
          <a:ln w="19050">
            <a:solidFill>
              <a:srgbClr val="C9852A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4434840"/>
            <a:ext cx="365760" cy="36576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77824" y="41788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15 %</a:t>
            </a:r>
            <a:endParaRPr lang="en-US" sz="5200" dirty="0"/>
          </a:p>
        </p:txBody>
      </p:sp>
      <p:sp>
        <p:nvSpPr>
          <p:cNvPr id="24" name="Text 19"/>
          <p:cNvSpPr/>
          <p:nvPr/>
        </p:nvSpPr>
        <p:spPr>
          <a:xfrm>
            <a:off x="914400" y="5166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lésions indemnisées au Québec touchent poignets, mains et doigts.</a:t>
            </a:r>
            <a:endParaRPr lang="en-US" sz="1450" dirty="0"/>
          </a:p>
        </p:txBody>
      </p:sp>
      <p:sp>
        <p:nvSpPr>
          <p:cNvPr id="25" name="Text 20"/>
          <p:cNvSpPr/>
          <p:nvPr/>
        </p:nvSpPr>
        <p:spPr>
          <a:xfrm>
            <a:off x="914400" y="55869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CNESST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153912" y="3959352"/>
            <a:ext cx="5486400" cy="2011680"/>
          </a:xfrm>
          <a:prstGeom prst="roundRect">
            <a:avLst>
              <a:gd name="adj" fmla="val 4091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0588752" y="4251960"/>
            <a:ext cx="731520" cy="731520"/>
          </a:xfrm>
          <a:prstGeom prst="oval">
            <a:avLst/>
          </a:prstGeom>
          <a:solidFill>
            <a:srgbClr val="1B1712"/>
          </a:solidFill>
          <a:ln w="19050">
            <a:solidFill>
              <a:srgbClr val="C9852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1632" y="4434840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483096" y="41788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60 %+</a:t>
            </a:r>
            <a:endParaRPr lang="en-US" sz="5200" dirty="0"/>
          </a:p>
        </p:txBody>
      </p:sp>
      <p:sp>
        <p:nvSpPr>
          <p:cNvPr id="30" name="Text 24"/>
          <p:cNvSpPr/>
          <p:nvPr/>
        </p:nvSpPr>
        <p:spPr>
          <a:xfrm>
            <a:off x="6519672" y="5166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blessures avec jours perdus : fractures ou amputations.</a:t>
            </a:r>
            <a:endParaRPr lang="en-US" sz="1450" dirty="0"/>
          </a:p>
        </p:txBody>
      </p:sp>
      <p:sp>
        <p:nvSpPr>
          <p:cNvPr id="31" name="Text 25"/>
          <p:cNvSpPr/>
          <p:nvPr/>
        </p:nvSpPr>
        <p:spPr>
          <a:xfrm>
            <a:off x="6519672" y="558698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NIOSH Mining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33" name="Text 27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PORTRAIT DU SECTEUR MINIER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Dans nos mines, la réalité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de blessures aux mains et doigts (mines)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57200" y="2148840"/>
          <a:ext cx="62179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5715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MSHA / NIOSH Mining.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040880" y="1783080"/>
            <a:ext cx="4617720" cy="1783080"/>
          </a:xfrm>
          <a:prstGeom prst="roundRect">
            <a:avLst>
              <a:gd name="adj" fmla="val 5128"/>
            </a:avLst>
          </a:prstGeom>
          <a:solidFill>
            <a:srgbClr val="2C261D"/>
          </a:solidFill>
          <a:ln w="12700">
            <a:solidFill>
              <a:srgbClr val="C985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60920" y="2011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13 700 – 16 200 $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direct médian d'une blessure à la main avec perte de temps.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7040880" y="3703320"/>
            <a:ext cx="4617720" cy="2011680"/>
          </a:xfrm>
          <a:prstGeom prst="roundRect">
            <a:avLst>
              <a:gd name="adj" fmla="val 4545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60920" y="3977640"/>
            <a:ext cx="658368" cy="658368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512" y="4142232"/>
            <a:ext cx="329184" cy="32918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138160" y="404164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Vibrations main-bras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60920" y="4617720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63 %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d'engourdissements et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34,4 %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douleurs articulaires chez les travailleurs affectés (doigts blancs).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7040880" y="6455664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IRSST.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CONCEPT CLÉ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« ligne de tir »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zone où votre main peut être </a:t>
            </a:r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happée, écrasée, coupée ou pincée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une énergie — mécanique, hydraulique, électrique ou gravitaire.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chaque geste, posez-vous la question 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6035040" cy="960120"/>
          </a:xfrm>
          <a:prstGeom prst="roundRect">
            <a:avLst>
              <a:gd name="adj" fmla="val 9524"/>
            </a:avLst>
          </a:prstGeom>
          <a:solidFill>
            <a:srgbClr val="2C261D"/>
          </a:solidFill>
          <a:ln w="12700">
            <a:solidFill>
              <a:srgbClr val="F2A9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70332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F7C7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Si cette pièce bouge, où va ma main ? »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4864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</a:t>
            </a:r>
            <a:pPr indent="0" marL="0">
              <a:buNone/>
            </a:pPr>
            <a:r>
              <a:rPr lang="en-US" sz="12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pincement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11880" y="4983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</a:t>
            </a:r>
            <a:pPr indent="0" marL="0">
              <a:buNone/>
            </a:pPr>
            <a:r>
              <a:rPr lang="en-US" sz="12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en rotation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440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</a:t>
            </a:r>
            <a:pPr indent="0" marL="0">
              <a:buNone/>
            </a:pPr>
            <a:r>
              <a:rPr lang="en-US" sz="12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suspendues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611880" y="5440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</a:t>
            </a:r>
            <a:pPr indent="0" marL="0">
              <a:buNone/>
            </a:pPr>
            <a:r>
              <a:rPr lang="en-US" sz="12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Énergie emmagasinée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0" y="1965960"/>
            <a:ext cx="3383280" cy="3383280"/>
          </a:xfrm>
          <a:prstGeom prst="oval">
            <a:avLst/>
          </a:prstGeom>
          <a:ln w="15875">
            <a:solidFill>
              <a:srgbClr val="3C35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61020" y="2354580"/>
            <a:ext cx="2606040" cy="2606040"/>
          </a:xfrm>
          <a:prstGeom prst="oval">
            <a:avLst/>
          </a:prstGeom>
          <a:ln w="15875">
            <a:solidFill>
              <a:srgbClr val="C985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49640" y="2743200"/>
            <a:ext cx="1828800" cy="1828800"/>
          </a:xfrm>
          <a:prstGeom prst="oval">
            <a:avLst/>
          </a:prstGeom>
          <a:ln w="25400">
            <a:solidFill>
              <a:srgbClr val="F2A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38260" y="3131820"/>
            <a:ext cx="1051560" cy="1051560"/>
          </a:xfrm>
          <a:prstGeom prst="oval">
            <a:avLst/>
          </a:prstGeom>
          <a:solidFill>
            <a:srgbClr val="2C261D"/>
          </a:solidFill>
          <a:ln w="25400">
            <a:solidFill>
              <a:srgbClr val="E4572E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2" y="3200400"/>
            <a:ext cx="768096" cy="76809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549640" y="4041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MAIN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458200" y="1554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7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ÉCRASEMENT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789920" y="3520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7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COUPURE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458200" y="54864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7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HAPPEMENT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126480" y="3520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7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PINCEMENT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VIENNENT LES BLESSURES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causes principales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639312" cy="2084832"/>
          </a:xfrm>
          <a:prstGeom prst="roundRect">
            <a:avLst>
              <a:gd name="adj" fmla="val 3947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2103120"/>
            <a:ext cx="777240" cy="77724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297430"/>
            <a:ext cx="388620" cy="3886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295351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Pincement &amp; happement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68680" y="33558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mobiles, engrenages, convoyeurs, points rentrants.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297680" y="1783080"/>
            <a:ext cx="3639312" cy="2084832"/>
          </a:xfrm>
          <a:prstGeom prst="roundRect">
            <a:avLst>
              <a:gd name="adj" fmla="val 3947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17720" y="2103120"/>
            <a:ext cx="777240" cy="77724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030" y="2297430"/>
            <a:ext cx="388620" cy="3886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17720" y="295351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Outils &amp; lames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617720" y="33558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Couteaux, meuleuses, outils à main mal utilisés.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046720" y="1783080"/>
            <a:ext cx="3639312" cy="2084832"/>
          </a:xfrm>
          <a:prstGeom prst="roundRect">
            <a:avLst>
              <a:gd name="adj" fmla="val 3947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366760" y="2103120"/>
            <a:ext cx="777240" cy="77724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1070" y="2297430"/>
            <a:ext cx="388620" cy="3886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66760" y="2953512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Manutention &amp; arêtes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366760" y="33558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Écrasement, tôle, arêtes vives, charges lourdes.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548640" y="4014216"/>
            <a:ext cx="3639312" cy="2084832"/>
          </a:xfrm>
          <a:prstGeom prst="roundRect">
            <a:avLst>
              <a:gd name="adj" fmla="val 3947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68680" y="4334256"/>
            <a:ext cx="777240" cy="77724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990" y="4528566"/>
            <a:ext cx="388620" cy="3886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68680" y="5184648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Énergie non maîtrisée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868680" y="55869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de cadenassage; énergie résiduelle.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4297680" y="4014216"/>
            <a:ext cx="3639312" cy="2084832"/>
          </a:xfrm>
          <a:prstGeom prst="roundRect">
            <a:avLst>
              <a:gd name="adj" fmla="val 3947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617720" y="4334256"/>
            <a:ext cx="777240" cy="77724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2030" y="4528566"/>
            <a:ext cx="388620" cy="38862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4617720" y="5184648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Vibrations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4617720" y="55869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 vibrants : foreuse, marteau, meuleuse.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8046720" y="4014216"/>
            <a:ext cx="3639312" cy="2084832"/>
          </a:xfrm>
          <a:prstGeom prst="roundRect">
            <a:avLst>
              <a:gd name="adj" fmla="val 3947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366760" y="4334256"/>
            <a:ext cx="777240" cy="77724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1070" y="4528566"/>
            <a:ext cx="388620" cy="38862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8366760" y="5184648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Gant absent / inadéquat</a:t>
            </a:r>
            <a:endParaRPr lang="en-US" sz="1600" dirty="0"/>
          </a:p>
        </p:txBody>
      </p:sp>
      <p:sp>
        <p:nvSpPr>
          <p:cNvPr id="37" name="Text 29"/>
          <p:cNvSpPr/>
          <p:nvPr/>
        </p:nvSpPr>
        <p:spPr>
          <a:xfrm>
            <a:off x="8366760" y="55869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gant, ou gant non adapté à la tâche.</a:t>
            </a:r>
            <a:endParaRPr lang="en-US" sz="1150" dirty="0"/>
          </a:p>
        </p:txBody>
      </p:sp>
      <p:sp>
        <p:nvSpPr>
          <p:cNvPr id="38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39" name="Text 31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— LA LIGNE DE TIR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danger en un instant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7315200" cy="4114800"/>
          </a:xfrm>
          <a:prstGeom prst="roundRect">
            <a:avLst>
              <a:gd name="adj" fmla="val 2667"/>
            </a:avLst>
          </a:prstGeom>
          <a:solidFill>
            <a:srgbClr val="0C0A08"/>
          </a:solidFill>
          <a:ln w="15875">
            <a:solidFill>
              <a:srgbClr val="C985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3200400"/>
            <a:ext cx="1371600" cy="1371600"/>
          </a:xfrm>
          <a:prstGeom prst="oval">
            <a:avLst/>
          </a:prstGeom>
          <a:ln w="31750">
            <a:solidFill>
              <a:srgbClr val="F2A9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4023360" y="3575304"/>
            <a:ext cx="548640" cy="621792"/>
          </a:xfrm>
          <a:prstGeom prst="triangle">
            <a:avLst/>
          </a:prstGeom>
          <a:solidFill>
            <a:srgbClr val="F2A93C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210312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F2A93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031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VIDÉO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77840" y="2121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Higgsfield · 5 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50292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7C7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main dans la ligne de tir : ça va vite.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92440" y="2331720"/>
            <a:ext cx="457200" cy="45720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6740" y="2446020"/>
            <a:ext cx="228600" cy="2286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95944" y="2276856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sont les mains par rapport aux pièces mobiles ?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8092440" y="3172968"/>
            <a:ext cx="457200" cy="45720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740" y="3287268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695944" y="3118104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point de pincement était-il visible ?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8092440" y="4014216"/>
            <a:ext cx="457200" cy="45720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4128516"/>
            <a:ext cx="228600" cy="2286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695944" y="3959352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qui aurait éliminé le risque ?</a:t>
            </a:r>
            <a:endParaRPr lang="en-US" sz="1350" dirty="0"/>
          </a:p>
        </p:txBody>
      </p:sp>
      <p:sp>
        <p:nvSpPr>
          <p:cNvPr id="25" name="Shape 20"/>
          <p:cNvSpPr/>
          <p:nvPr/>
        </p:nvSpPr>
        <p:spPr>
          <a:xfrm>
            <a:off x="8092440" y="512064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231E17"/>
          </a:solidFill>
          <a:ln w="9525">
            <a:solidFill>
              <a:srgbClr val="3C352A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229600" y="51206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fourni : insérez-le dans le cadre.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L'ORDRE DES PRIORITÉS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hiérarchie des moyens de prévention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7498080" cy="786384"/>
          </a:xfrm>
          <a:prstGeom prst="roundRect">
            <a:avLst>
              <a:gd name="adj" fmla="val 6977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783080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417320" y="1783080"/>
            <a:ext cx="6492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Élimination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Retirer complètement le danger.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679192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679192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417320" y="2679192"/>
            <a:ext cx="5669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Substitution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Remplacer ou réduire l'énergie en jeu.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575304"/>
            <a:ext cx="5852160" cy="786384"/>
          </a:xfrm>
          <a:prstGeom prst="roundRect">
            <a:avLst>
              <a:gd name="adj" fmla="val 6977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575304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417320" y="3575304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Ingénierie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Protecteurs, gardes, outils à distance.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471416"/>
            <a:ext cx="5029200" cy="786384"/>
          </a:xfrm>
          <a:prstGeom prst="roundRect">
            <a:avLst>
              <a:gd name="adj" fmla="val 6977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471416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417320" y="4471416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Administratif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Procédures, cadenassage, formation.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367528"/>
            <a:ext cx="4206240" cy="786384"/>
          </a:xfrm>
          <a:prstGeom prst="roundRect">
            <a:avLst>
              <a:gd name="adj" fmla="val 6977"/>
            </a:avLst>
          </a:prstGeom>
          <a:solidFill>
            <a:srgbClr val="F2A93C"/>
          </a:solidFill>
          <a:ln w="12700">
            <a:solidFill>
              <a:srgbClr val="F2A9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5367528"/>
            <a:ext cx="548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12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417320" y="5367528"/>
            <a:ext cx="3200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412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ÉPI — les gants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A2A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dernière barrière, jamais la première.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366760" y="1965960"/>
            <a:ext cx="0" cy="4206240"/>
          </a:xfrm>
          <a:prstGeom prst="line">
            <a:avLst/>
          </a:prstGeom>
          <a:noFill/>
          <a:ln w="19050">
            <a:solidFill>
              <a:srgbClr val="C9852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8503920" y="1874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Efficacité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décroissante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49640" y="4251960"/>
            <a:ext cx="3108960" cy="1920240"/>
          </a:xfrm>
          <a:prstGeom prst="roundRect">
            <a:avLst>
              <a:gd name="adj" fmla="val 4762"/>
            </a:avLst>
          </a:prstGeom>
          <a:solidFill>
            <a:srgbClr val="2C261D"/>
          </a:solidFill>
          <a:ln w="12700">
            <a:solidFill>
              <a:srgbClr val="F2A9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0" y="4480560"/>
            <a:ext cx="548640" cy="548640"/>
          </a:xfrm>
          <a:prstGeom prst="oval">
            <a:avLst/>
          </a:prstGeom>
          <a:solidFill>
            <a:srgbClr val="141210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1684" y="4604004"/>
            <a:ext cx="301752" cy="301752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7782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gant protège —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8778240" y="5468112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remplace jamais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7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protecteur ou un cadenassage.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QUOTIDIEN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bons réflexes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475488" cy="475488"/>
          </a:xfrm>
          <a:prstGeom prst="oval">
            <a:avLst/>
          </a:prstGeom>
          <a:solidFill>
            <a:srgbClr val="1B1712"/>
          </a:solidFill>
          <a:ln w="19050">
            <a:solidFill>
              <a:srgbClr val="8FB35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83" y="1919143"/>
            <a:ext cx="294803" cy="29480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07008" y="1783080"/>
            <a:ext cx="6291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Gardez vos mains hors de la ligne de tir.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475488" cy="475488"/>
          </a:xfrm>
          <a:prstGeom prst="oval">
            <a:avLst/>
          </a:prstGeom>
          <a:solidFill>
            <a:srgbClr val="1B1712"/>
          </a:solidFill>
          <a:ln w="19050">
            <a:solidFill>
              <a:srgbClr val="8FB35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83" y="260494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07008" y="2468880"/>
            <a:ext cx="6291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Cadenassez et déchargez l'énergie avant d'intervenir.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48640" y="3200400"/>
            <a:ext cx="475488" cy="475488"/>
          </a:xfrm>
          <a:prstGeom prst="oval">
            <a:avLst/>
          </a:prstGeom>
          <a:solidFill>
            <a:srgbClr val="1B1712"/>
          </a:solidFill>
          <a:ln w="19050">
            <a:solidFill>
              <a:srgbClr val="8FB35A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83" y="3290743"/>
            <a:ext cx="294803" cy="2948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07008" y="3154680"/>
            <a:ext cx="6291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Utilisez poussoirs, crochets et outils — jamais les doigts.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48640" y="3886200"/>
            <a:ext cx="475488" cy="475488"/>
          </a:xfrm>
          <a:prstGeom prst="oval">
            <a:avLst/>
          </a:prstGeom>
          <a:solidFill>
            <a:srgbClr val="1B1712"/>
          </a:solidFill>
          <a:ln w="19050">
            <a:solidFill>
              <a:srgbClr val="8FB35A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983" y="3976543"/>
            <a:ext cx="294803" cy="29480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07008" y="3840480"/>
            <a:ext cx="6291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Inspectez vos gants; remplacez-les dès qu'ils sont usés.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548640" y="4572000"/>
            <a:ext cx="475488" cy="475488"/>
          </a:xfrm>
          <a:prstGeom prst="oval">
            <a:avLst/>
          </a:prstGeom>
          <a:solidFill>
            <a:srgbClr val="1B1712"/>
          </a:solidFill>
          <a:ln w="19050">
            <a:solidFill>
              <a:srgbClr val="8FB35A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83" y="4662343"/>
            <a:ext cx="294803" cy="294803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07008" y="4526280"/>
            <a:ext cx="6291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retirez jamais un gant près d'une pièce en rotation.</a:t>
            </a:r>
            <a:endParaRPr lang="en-US" sz="1500" dirty="0"/>
          </a:p>
        </p:txBody>
      </p:sp>
      <p:sp>
        <p:nvSpPr>
          <p:cNvPr id="23" name="Shape 16"/>
          <p:cNvSpPr/>
          <p:nvPr/>
        </p:nvSpPr>
        <p:spPr>
          <a:xfrm>
            <a:off x="548640" y="5257800"/>
            <a:ext cx="475488" cy="475488"/>
          </a:xfrm>
          <a:prstGeom prst="oval">
            <a:avLst/>
          </a:prstGeom>
          <a:solidFill>
            <a:srgbClr val="1B1712"/>
          </a:solidFill>
          <a:ln w="19050">
            <a:solidFill>
              <a:srgbClr val="8FB35A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83" y="5348143"/>
            <a:ext cx="294803" cy="294803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207008" y="5212080"/>
            <a:ext cx="6291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Signalez et neutralisez les points de pincement.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818120" y="1828800"/>
            <a:ext cx="3840480" cy="4023360"/>
          </a:xfrm>
          <a:prstGeom prst="roundRect">
            <a:avLst>
              <a:gd name="adj" fmla="val 2857"/>
            </a:avLst>
          </a:prstGeom>
          <a:solidFill>
            <a:srgbClr val="2C261D"/>
          </a:solidFill>
          <a:ln w="15875">
            <a:solidFill>
              <a:srgbClr val="F2A93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9326880" y="2148840"/>
            <a:ext cx="822960" cy="822960"/>
          </a:xfrm>
          <a:prstGeom prst="oval">
            <a:avLst/>
          </a:prstGeom>
          <a:solidFill>
            <a:srgbClr val="141210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2046" y="2334006"/>
            <a:ext cx="452628" cy="45262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818120" y="3108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D'OR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8138160" y="35204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 vous ne voyez pas vos mains en sécurité,</a:t>
            </a:r>
            <a:endParaRPr lang="en-US" sz="1900" dirty="0"/>
          </a:p>
        </p:txBody>
      </p:sp>
      <p:sp>
        <p:nvSpPr>
          <p:cNvPr id="31" name="Text 22"/>
          <p:cNvSpPr/>
          <p:nvPr/>
        </p:nvSpPr>
        <p:spPr>
          <a:xfrm>
            <a:off x="8138160" y="45262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ARRÊTEZ.</a:t>
            </a:r>
            <a:endParaRPr lang="en-US" sz="3400" dirty="0"/>
          </a:p>
        </p:txBody>
      </p:sp>
      <p:sp>
        <p:nvSpPr>
          <p:cNvPr id="32" name="Text 23"/>
          <p:cNvSpPr/>
          <p:nvPr/>
        </p:nvSpPr>
        <p:spPr>
          <a:xfrm>
            <a:off x="8183880" y="52578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tâche n'est urgente au point de risquer une main.</a:t>
            </a:r>
            <a:endParaRPr lang="en-US" sz="1150" dirty="0"/>
          </a:p>
        </p:txBody>
      </p:sp>
      <p:sp>
        <p:nvSpPr>
          <p:cNvPr id="33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34" name="Text 25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BON OUTIL POUR LA MAIN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Choisir le bon gant</a:t>
            </a:r>
            <a:endParaRPr lang="en-US" sz="3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84124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20440"/>
                <a:gridCol w="18745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121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Tâche / risque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121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de gant recommandé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4121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93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Manutention, arêtes vives, tôle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E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Anti-coupure (HPPE / para-aramide) enduit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E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388 (C–F) / ANSI A4–A6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E1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lourds, abrasion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Cuir / gant renforcé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388 (abrasion)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Huiles, hydrocarbures, produits chimiques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E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Nitrile / néoprène étanche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E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374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E1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Outils vibrants (foreuse, marteau)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Anti-vibration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ISO 10819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Froid, travail extérieur hivernal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E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Isolé / doublé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E1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511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1E1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électriques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CE7D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Isolant diélectrique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2A9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60903 / ASTM D120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C35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2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9189720" y="1828800"/>
            <a:ext cx="2468880" cy="3977640"/>
          </a:xfrm>
          <a:prstGeom prst="roundRect">
            <a:avLst>
              <a:gd name="adj" fmla="val 4444"/>
            </a:avLst>
          </a:prstGeom>
          <a:solidFill>
            <a:srgbClr val="2C261D"/>
          </a:solidFill>
          <a:ln w="12700">
            <a:solidFill>
              <a:srgbClr val="C9852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40112" y="2148840"/>
            <a:ext cx="768096" cy="768096"/>
          </a:xfrm>
          <a:prstGeom prst="oval">
            <a:avLst/>
          </a:prstGeom>
          <a:solidFill>
            <a:srgbClr val="141210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12934" y="2321662"/>
            <a:ext cx="422453" cy="42245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372600" y="3063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bon gant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9418320" y="34747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celui qui correspond au RISQUE et à la TÂCHE.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9418320" y="4343400"/>
            <a:ext cx="2011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gant usé, troué ou mal ajusté ne protège plus. Inspectez-le avant chaque quart.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ASP Mines — aide à la sélection des gants.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— LA BONNE MÉTHODE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bonne méthode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7315200" cy="4114800"/>
          </a:xfrm>
          <a:prstGeom prst="roundRect">
            <a:avLst>
              <a:gd name="adj" fmla="val 2667"/>
            </a:avLst>
          </a:prstGeom>
          <a:solidFill>
            <a:srgbClr val="0C0A08"/>
          </a:solidFill>
          <a:ln w="15875">
            <a:solidFill>
              <a:srgbClr val="C985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3200400"/>
            <a:ext cx="1371600" cy="1371600"/>
          </a:xfrm>
          <a:prstGeom prst="oval">
            <a:avLst/>
          </a:prstGeom>
          <a:ln w="31750">
            <a:solidFill>
              <a:srgbClr val="F2A9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4023360" y="3575304"/>
            <a:ext cx="548640" cy="621792"/>
          </a:xfrm>
          <a:prstGeom prst="triangle">
            <a:avLst/>
          </a:prstGeom>
          <a:solidFill>
            <a:srgbClr val="F2A93C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210312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F2A93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031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2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VIDÉO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577840" y="2121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Higgsfield · 5 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502920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7C77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Mains protégées, contrôlées, dégagées.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92440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92440" y="2331720"/>
            <a:ext cx="457200" cy="45720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6740" y="2446020"/>
            <a:ext cx="228600" cy="2286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95944" y="2276856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Gant adapté à la tâche et en bon état.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8092440" y="3172968"/>
            <a:ext cx="457200" cy="45720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740" y="3287268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695944" y="3118104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 ferme, mouvement contrôlé.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8092440" y="4014216"/>
            <a:ext cx="457200" cy="457200"/>
          </a:xfrm>
          <a:prstGeom prst="oval">
            <a:avLst/>
          </a:prstGeom>
          <a:solidFill>
            <a:srgbClr val="1B1712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4128516"/>
            <a:ext cx="228600" cy="2286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695944" y="3959352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Mains toujours hors de la ligne de tir.</a:t>
            </a:r>
            <a:endParaRPr lang="en-US" sz="1350" dirty="0"/>
          </a:p>
        </p:txBody>
      </p:sp>
      <p:sp>
        <p:nvSpPr>
          <p:cNvPr id="25" name="Shape 20"/>
          <p:cNvSpPr/>
          <p:nvPr/>
        </p:nvSpPr>
        <p:spPr>
          <a:xfrm>
            <a:off x="8092440" y="5120640"/>
            <a:ext cx="3566160" cy="777240"/>
          </a:xfrm>
          <a:prstGeom prst="roundRect">
            <a:avLst>
              <a:gd name="adj" fmla="val 9412"/>
            </a:avLst>
          </a:prstGeom>
          <a:solidFill>
            <a:srgbClr val="231E17"/>
          </a:solidFill>
          <a:ln w="9525">
            <a:solidFill>
              <a:srgbClr val="3C352A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229600" y="51206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fourni : insérez-le dans le cadre.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28" name="Text 23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3" name="Shape 1"/>
          <p:cNvSpPr/>
          <p:nvPr/>
        </p:nvSpPr>
        <p:spPr>
          <a:xfrm rot="5400000">
            <a:off x="641909" y="464881"/>
            <a:ext cx="136794" cy="149230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4" name="Text 2"/>
          <p:cNvSpPr/>
          <p:nvPr/>
        </p:nvSpPr>
        <p:spPr>
          <a:xfrm>
            <a:off x="969264" y="33832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265615" y="42062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</a:t>
            </a:r>
            <a:pPr algn="r" indent="0" marL="0">
              <a:buNone/>
            </a:pPr>
            <a:r>
              <a:rPr lang="en-US" sz="1050" b="1" spc="2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ÉLÉONORE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INCIDENT SURVIENT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768096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cas de blessure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724912" cy="2468880"/>
          </a:xfrm>
          <a:prstGeom prst="roundRect">
            <a:avLst>
              <a:gd name="adj" fmla="val 3704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031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2313432" y="2212848"/>
            <a:ext cx="658368" cy="658368"/>
          </a:xfrm>
          <a:prstGeom prst="oval">
            <a:avLst/>
          </a:prstGeom>
          <a:solidFill>
            <a:srgbClr val="1B1712"/>
          </a:solidFill>
          <a:ln w="19050">
            <a:solidFill>
              <a:srgbClr val="C9852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8024" y="2377440"/>
            <a:ext cx="329184" cy="32918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04672" y="301752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Arrêter &amp; sécuriser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04672" y="3456432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Stopper la tâche, neutraliser l'énergie, protéger la zone.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3255264" y="2834640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8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401568" y="1920240"/>
            <a:ext cx="2724912" cy="2468880"/>
          </a:xfrm>
          <a:prstGeom prst="roundRect">
            <a:avLst>
              <a:gd name="adj" fmla="val 3704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30168" y="21031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7" name="Shape 14"/>
          <p:cNvSpPr/>
          <p:nvPr/>
        </p:nvSpPr>
        <p:spPr>
          <a:xfrm>
            <a:off x="5166360" y="2212848"/>
            <a:ext cx="658368" cy="658368"/>
          </a:xfrm>
          <a:prstGeom prst="oval">
            <a:avLst/>
          </a:prstGeom>
          <a:solidFill>
            <a:srgbClr val="1B1712"/>
          </a:solidFill>
          <a:ln w="19050">
            <a:solidFill>
              <a:srgbClr val="C9852A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952" y="2377440"/>
            <a:ext cx="329184" cy="329184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657600" y="301752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Premiers soins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3657600" y="3456432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Secouriste ou infirmerie sans délai.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6108192" y="2834640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8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2" name="Shape 18"/>
          <p:cNvSpPr/>
          <p:nvPr/>
        </p:nvSpPr>
        <p:spPr>
          <a:xfrm>
            <a:off x="6254496" y="1920240"/>
            <a:ext cx="2724912" cy="2468880"/>
          </a:xfrm>
          <a:prstGeom prst="roundRect">
            <a:avLst>
              <a:gd name="adj" fmla="val 3704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483096" y="21031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4" name="Shape 20"/>
          <p:cNvSpPr/>
          <p:nvPr/>
        </p:nvSpPr>
        <p:spPr>
          <a:xfrm>
            <a:off x="8019288" y="2212848"/>
            <a:ext cx="658368" cy="658368"/>
          </a:xfrm>
          <a:prstGeom prst="oval">
            <a:avLst/>
          </a:prstGeom>
          <a:solidFill>
            <a:srgbClr val="1B1712"/>
          </a:solidFill>
          <a:ln w="19050">
            <a:solidFill>
              <a:srgbClr val="C9852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377440"/>
            <a:ext cx="329184" cy="32918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510528" y="301752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Signaler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6510528" y="3456432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Aviser le superviseur immédiatement.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8961120" y="2834640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8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9" name="Shape 24"/>
          <p:cNvSpPr/>
          <p:nvPr/>
        </p:nvSpPr>
        <p:spPr>
          <a:xfrm>
            <a:off x="9107424" y="1920240"/>
            <a:ext cx="2724912" cy="2468880"/>
          </a:xfrm>
          <a:prstGeom prst="roundRect">
            <a:avLst>
              <a:gd name="adj" fmla="val 3704"/>
            </a:avLst>
          </a:prstGeom>
          <a:solidFill>
            <a:srgbClr val="231E17"/>
          </a:solidFill>
          <a:ln w="12700">
            <a:solidFill>
              <a:srgbClr val="3C352A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336024" y="21031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31" name="Shape 26"/>
          <p:cNvSpPr/>
          <p:nvPr/>
        </p:nvSpPr>
        <p:spPr>
          <a:xfrm>
            <a:off x="10872216" y="2212848"/>
            <a:ext cx="658368" cy="658368"/>
          </a:xfrm>
          <a:prstGeom prst="oval">
            <a:avLst/>
          </a:prstGeom>
          <a:solidFill>
            <a:srgbClr val="1B1712"/>
          </a:solidFill>
          <a:ln w="19050">
            <a:solidFill>
              <a:srgbClr val="C9852A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6808" y="2377440"/>
            <a:ext cx="329184" cy="32918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363456" y="3017520"/>
            <a:ext cx="2267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Déclarer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9363456" y="3456432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Consigner l'événement — même une égratignure.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548640" y="484632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2C261D"/>
          </a:solidFill>
          <a:ln w="12700">
            <a:solidFill>
              <a:srgbClr val="F2A93C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822960" y="5047488"/>
            <a:ext cx="512064" cy="512064"/>
          </a:xfrm>
          <a:prstGeom prst="oval">
            <a:avLst/>
          </a:prstGeom>
          <a:solidFill>
            <a:srgbClr val="141210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174" y="5162702"/>
            <a:ext cx="281635" cy="281635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1508760" y="484632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petit incident déclaré aujourd'hui </a:t>
            </a:r>
            <a:pPr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F7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 un accident grave demain.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La déclaration n'est jamais une faute — c'est une force.</a:t>
            </a:r>
            <a:endParaRPr lang="en-US" sz="1450" dirty="0"/>
          </a:p>
        </p:txBody>
      </p:sp>
      <p:sp>
        <p:nvSpPr>
          <p:cNvPr id="39" name="Text 3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Santé-Sécurité · Prévention des blessures aux mains</a:t>
            </a:r>
            <a:endParaRPr lang="en-US" sz="850" dirty="0"/>
          </a:p>
        </p:txBody>
      </p:sp>
      <p:sp>
        <p:nvSpPr>
          <p:cNvPr id="40" name="Text 33"/>
          <p:cNvSpPr/>
          <p:nvPr/>
        </p:nvSpPr>
        <p:spPr>
          <a:xfrm>
            <a:off x="11185855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2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0"/>
            <a:ext cx="4053535" cy="6858000"/>
          </a:xfrm>
          <a:prstGeom prst="rect">
            <a:avLst/>
          </a:prstGeom>
          <a:solidFill>
            <a:srgbClr val="1B1712"/>
          </a:solidFill>
          <a:ln/>
        </p:spPr>
      </p:sp>
      <p:sp>
        <p:nvSpPr>
          <p:cNvPr id="3" name="Shape 1"/>
          <p:cNvSpPr/>
          <p:nvPr/>
        </p:nvSpPr>
        <p:spPr>
          <a:xfrm>
            <a:off x="8503920" y="1737360"/>
            <a:ext cx="3566160" cy="3566160"/>
          </a:xfrm>
          <a:prstGeom prst="oval">
            <a:avLst/>
          </a:prstGeom>
          <a:ln w="12700">
            <a:solidFill>
              <a:srgbClr val="3C352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06840" y="2240280"/>
            <a:ext cx="2560320" cy="2560320"/>
          </a:xfrm>
          <a:prstGeom prst="oval">
            <a:avLst/>
          </a:prstGeom>
          <a:solidFill>
            <a:srgbClr val="231E17"/>
          </a:solidFill>
          <a:ln w="15875">
            <a:solidFill>
              <a:srgbClr val="C985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0" y="2926080"/>
            <a:ext cx="1188720" cy="1188720"/>
          </a:xfrm>
          <a:prstGeom prst="oval">
            <a:avLst/>
          </a:prstGeom>
          <a:solidFill>
            <a:srgbClr val="231E17"/>
          </a:solidFill>
          <a:ln w="19050">
            <a:solidFill>
              <a:srgbClr val="F2A9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30384" y="3163824"/>
            <a:ext cx="713232" cy="71323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5440680"/>
            <a:ext cx="3291840" cy="457200"/>
          </a:xfrm>
          <a:prstGeom prst="roundRect">
            <a:avLst>
              <a:gd name="adj" fmla="val 16000"/>
            </a:avLst>
          </a:prstGeom>
          <a:solidFill>
            <a:srgbClr val="2C261D"/>
          </a:solidFill>
          <a:ln w="9525">
            <a:solidFill>
              <a:srgbClr val="C985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5440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</a:t>
            </a:r>
            <a:pPr algn="ctr" indent="0" marL="0">
              <a:buNone/>
            </a:pPr>
            <a:r>
              <a:rPr lang="en-US" sz="1100" dirty="0">
                <a:solidFill>
                  <a:srgbClr val="ECE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de clôture Higgsfield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457200"/>
            <a:ext cx="341986" cy="341986"/>
          </a:xfrm>
          <a:prstGeom prst="roundRect">
            <a:avLst>
              <a:gd name="adj" fmla="val 17647"/>
            </a:avLst>
          </a:prstGeom>
          <a:solidFill>
            <a:srgbClr val="F2A93C"/>
          </a:solidFill>
          <a:ln/>
        </p:spPr>
      </p:sp>
      <p:sp>
        <p:nvSpPr>
          <p:cNvPr id="10" name="Shape 7"/>
          <p:cNvSpPr/>
          <p:nvPr/>
        </p:nvSpPr>
        <p:spPr>
          <a:xfrm rot="5400000">
            <a:off x="651236" y="546116"/>
            <a:ext cx="150474" cy="164153"/>
          </a:xfrm>
          <a:prstGeom prst="triangle">
            <a:avLst/>
          </a:prstGeom>
          <a:solidFill>
            <a:srgbClr val="141210"/>
          </a:solidFill>
          <a:ln/>
        </p:spPr>
      </p:sp>
      <p:sp>
        <p:nvSpPr>
          <p:cNvPr id="11" name="Text 8"/>
          <p:cNvSpPr/>
          <p:nvPr/>
        </p:nvSpPr>
        <p:spPr>
          <a:xfrm>
            <a:off x="1000354" y="406908"/>
            <a:ext cx="2414016" cy="433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Dhilmar</a:t>
            </a:r>
            <a:endParaRPr lang="en-US" sz="1870" dirty="0"/>
          </a:p>
        </p:txBody>
      </p:sp>
      <p:sp>
        <p:nvSpPr>
          <p:cNvPr id="12" name="Text 9"/>
          <p:cNvSpPr/>
          <p:nvPr/>
        </p:nvSpPr>
        <p:spPr>
          <a:xfrm>
            <a:off x="566928" y="196596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ENGAGEMENT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23774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Chez Dhilmar, on rentre à la maison avec toutes nos mains.</a:t>
            </a:r>
            <a:endParaRPr lang="en-US" sz="3300" dirty="0"/>
          </a:p>
        </p:txBody>
      </p:sp>
      <p:sp>
        <p:nvSpPr>
          <p:cNvPr id="14" name="Text 11"/>
          <p:cNvSpPr/>
          <p:nvPr/>
        </p:nvSpPr>
        <p:spPr>
          <a:xfrm>
            <a:off x="548640" y="452628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F7C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sécurité des mains, c'est l'affaire de chacun — à chaque quart, à chaque geste.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66928" y="5349240"/>
            <a:ext cx="2743200" cy="0"/>
          </a:xfrm>
          <a:prstGeom prst="line">
            <a:avLst/>
          </a:prstGeom>
          <a:noFill/>
          <a:ln w="12700">
            <a:solidFill>
              <a:srgbClr val="3C352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5532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Merci.  </a:t>
            </a:r>
            <a:pPr indent="0" marL="0">
              <a:buNone/>
            </a:pPr>
            <a:r>
              <a:rPr lang="en-US" sz="1400" dirty="0">
                <a:solidFill>
                  <a:srgbClr val="B4AD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discussion.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66928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57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Dhilmar — Mine Éléonore · Santé-Sécurité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Prévention des blessures aux mains — Mine Éléonore</dc:title>
  <dc:subject>PptxGenJS Presentation</dc:subject>
  <dc:creator>Dhilmar — Santé-Sécurité</dc:creator>
  <cp:lastModifiedBy>Dhilmar — Santé-Sécurité</cp:lastModifiedBy>
  <cp:revision>1</cp:revision>
  <dcterms:created xsi:type="dcterms:W3CDTF">2026-07-21T07:03:39Z</dcterms:created>
  <dcterms:modified xsi:type="dcterms:W3CDTF">2026-07-21T07:03:39Z</dcterms:modified>
</cp:coreProperties>
</file>